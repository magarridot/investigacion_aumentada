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11" d="100"/>
          <a:sy n="111" d="100"/>
        </p:scale>
        <p:origin x="558" y="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1965960"/>
            <a:ext cx="9144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00">
                <a:solidFill>
                  <a:srgbClr val="38BDF8"/>
                </a:solidFill>
                <a:latin typeface="Poppins"/>
              </a:rPr>
              <a:t>SESIÓN DE FORMACIÓN  ·  2 HORAS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423160"/>
            <a:ext cx="10241280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1" i="0">
                <a:solidFill>
                  <a:srgbClr val="FFFFFF"/>
                </a:solidFill>
                <a:latin typeface="Poppins"/>
              </a:rPr>
              <a:t>Investigación Aumentada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246120"/>
            <a:ext cx="1024128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0" i="0" dirty="0" err="1">
                <a:solidFill>
                  <a:srgbClr val="E2E8F0"/>
                </a:solidFill>
                <a:latin typeface="Lato"/>
              </a:rPr>
              <a:t>Inteligencia</a:t>
            </a:r>
            <a:r>
              <a:rPr sz="1900" b="0" i="0" dirty="0">
                <a:solidFill>
                  <a:srgbClr val="E2E8F0"/>
                </a:solidFill>
                <a:latin typeface="Lato"/>
              </a:rPr>
              <a:t> artificial para el </a:t>
            </a:r>
            <a:r>
              <a:rPr sz="1900" b="0" i="0" dirty="0" err="1">
                <a:solidFill>
                  <a:srgbClr val="E2E8F0"/>
                </a:solidFill>
                <a:latin typeface="Lato"/>
              </a:rPr>
              <a:t>desarrollo</a:t>
            </a:r>
            <a:r>
              <a:rPr sz="1900" b="0" i="0" dirty="0">
                <a:solidFill>
                  <a:srgbClr val="E2E8F0"/>
                </a:solidFill>
                <a:latin typeface="Lato"/>
              </a:rPr>
              <a:t> </a:t>
            </a:r>
            <a:r>
              <a:rPr sz="1900" b="0" i="0" dirty="0" err="1">
                <a:solidFill>
                  <a:srgbClr val="E2E8F0"/>
                </a:solidFill>
                <a:latin typeface="Lato"/>
              </a:rPr>
              <a:t>riguroso</a:t>
            </a:r>
            <a:r>
              <a:rPr sz="1900" b="0" i="0" dirty="0">
                <a:solidFill>
                  <a:srgbClr val="E2E8F0"/>
                </a:solidFill>
                <a:latin typeface="Lato"/>
              </a:rPr>
              <a:t> de </a:t>
            </a:r>
            <a:r>
              <a:rPr sz="1900" b="0" i="0" dirty="0" err="1">
                <a:solidFill>
                  <a:srgbClr val="E2E8F0"/>
                </a:solidFill>
                <a:latin typeface="Lato"/>
              </a:rPr>
              <a:t>proyectos</a:t>
            </a:r>
            <a:r>
              <a:rPr sz="1900" b="0" i="0" dirty="0">
                <a:solidFill>
                  <a:srgbClr val="E2E8F0"/>
                </a:solidFill>
                <a:latin typeface="Lato"/>
              </a:rPr>
              <a:t> </a:t>
            </a:r>
            <a:r>
              <a:rPr sz="1900" b="0" i="0" dirty="0" err="1">
                <a:solidFill>
                  <a:srgbClr val="E2E8F0"/>
                </a:solidFill>
                <a:latin typeface="Lato"/>
              </a:rPr>
              <a:t>científicos</a:t>
            </a:r>
            <a:endParaRPr sz="1900" b="0" i="0" dirty="0">
              <a:solidFill>
                <a:srgbClr val="E2E8F0"/>
              </a:solidFill>
              <a:latin typeface="Lato"/>
            </a:endParaRPr>
          </a:p>
        </p:txBody>
      </p:sp>
      <p:cxnSp>
        <p:nvCxnSpPr>
          <p:cNvPr id="6" name="Connector 5"/>
          <p:cNvCxnSpPr/>
          <p:nvPr/>
        </p:nvCxnSpPr>
        <p:spPr>
          <a:xfrm>
            <a:off x="914400" y="3977639"/>
            <a:ext cx="594360" cy="0"/>
          </a:xfrm>
          <a:prstGeom prst="line">
            <a:avLst/>
          </a:prstGeom>
          <a:ln w="38100">
            <a:solidFill>
              <a:srgbClr val="38BDF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914400" y="4160520"/>
            <a:ext cx="9601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94A3B8"/>
                </a:solidFill>
                <a:latin typeface="Lato"/>
              </a:rPr>
              <a:t>Antigravity + VS Code   ·   GitHub   ·   Gemini / Claude   ·   Consensus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5989320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94A3B8"/>
                </a:solidFill>
                <a:latin typeface="Lato"/>
              </a:rPr>
              <a:t>Grupo de Investigación CBATA — Tecnológico de Antioquia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6291072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1">
                <a:solidFill>
                  <a:srgbClr val="94A3B8"/>
                </a:solidFill>
                <a:latin typeface="Lato"/>
              </a:rPr>
              <a:t>Elaborado por Miguel Ángel Garrido Tamayo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502920"/>
            <a:ext cx="107899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 spc="150">
                <a:solidFill>
                  <a:srgbClr val="0EA5E9"/>
                </a:solidFill>
                <a:latin typeface="Poppins"/>
              </a:rPr>
              <a:t>HOJA DE RUTA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32104"/>
            <a:ext cx="1078992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000" b="1" i="0">
                <a:solidFill>
                  <a:srgbClr val="0F172A"/>
                </a:solidFill>
                <a:latin typeface="Poppins"/>
              </a:rPr>
              <a:t>Agenda de la sesión (120 minutos)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85800" y="1581912"/>
            <a:ext cx="502920" cy="0"/>
          </a:xfrm>
          <a:prstGeom prst="line">
            <a:avLst/>
          </a:prstGeom>
          <a:ln w="38100">
            <a:solidFill>
              <a:srgbClr val="38BDF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685800" y="1676121"/>
            <a:ext cx="10817352" cy="713232"/>
          </a:xfrm>
          <a:prstGeom prst="roundRect">
            <a:avLst>
              <a:gd name="adj" fmla="val 14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78408" y="1676121"/>
            <a:ext cx="822960" cy="7132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i="0">
                <a:solidFill>
                  <a:srgbClr val="0EA5E9"/>
                </a:solidFill>
                <a:latin typeface="Poppins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1767561"/>
            <a:ext cx="2743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 i="0">
                <a:solidFill>
                  <a:srgbClr val="0F172A"/>
                </a:solidFill>
                <a:latin typeface="Poppins"/>
              </a:rPr>
              <a:t>Fundamentos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2060169"/>
            <a:ext cx="6949440" cy="301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475569"/>
                </a:solidFill>
                <a:latin typeface="Lato"/>
              </a:rPr>
              <a:t>La IA como copiloto científico y el mapa del stack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268712" y="1859001"/>
            <a:ext cx="960120" cy="347472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050" b="1" i="0">
                <a:solidFill>
                  <a:srgbClr val="FFFFFF"/>
                </a:solidFill>
                <a:latin typeface="Poppins"/>
              </a:rPr>
              <a:t>15 min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480793"/>
            <a:ext cx="10817352" cy="713232"/>
          </a:xfrm>
          <a:prstGeom prst="roundRect">
            <a:avLst>
              <a:gd name="adj" fmla="val 14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78408" y="2480793"/>
            <a:ext cx="822960" cy="7132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i="0">
                <a:solidFill>
                  <a:srgbClr val="0EA5E9"/>
                </a:solidFill>
                <a:latin typeface="Poppins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2572233"/>
            <a:ext cx="2743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 i="0">
                <a:solidFill>
                  <a:srgbClr val="0F172A"/>
                </a:solidFill>
                <a:latin typeface="Poppins"/>
              </a:rPr>
              <a:t>Literatura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864841"/>
            <a:ext cx="6949440" cy="301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475569"/>
                </a:solidFill>
                <a:latin typeface="Lato"/>
              </a:rPr>
              <a:t>Búsqueda y síntesis rigurosa con Consensus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268712" y="2663673"/>
            <a:ext cx="960120" cy="347472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050" b="1" i="0">
                <a:solidFill>
                  <a:srgbClr val="FFFFFF"/>
                </a:solidFill>
                <a:latin typeface="Poppins"/>
              </a:rPr>
              <a:t>15 min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3285465"/>
            <a:ext cx="10817352" cy="713232"/>
          </a:xfrm>
          <a:prstGeom prst="roundRect">
            <a:avLst>
              <a:gd name="adj" fmla="val 14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78408" y="3285465"/>
            <a:ext cx="822960" cy="7132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i="0">
                <a:solidFill>
                  <a:srgbClr val="0EA5E9"/>
                </a:solidFill>
                <a:latin typeface="Poppins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376905"/>
            <a:ext cx="2743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 i="0">
                <a:solidFill>
                  <a:srgbClr val="0F172A"/>
                </a:solidFill>
                <a:latin typeface="Poppins"/>
              </a:rPr>
              <a:t>Entorno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3669513"/>
            <a:ext cx="6949440" cy="301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475569"/>
                </a:solidFill>
                <a:latin typeface="Lato"/>
              </a:rPr>
              <a:t>Instalación y uso de VS Code + Antigravity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268712" y="3468345"/>
            <a:ext cx="960120" cy="347472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050" b="1" i="0">
                <a:solidFill>
                  <a:srgbClr val="FFFFFF"/>
                </a:solidFill>
                <a:latin typeface="Poppins"/>
              </a:rPr>
              <a:t>25 min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5800" y="4090137"/>
            <a:ext cx="10817352" cy="713232"/>
          </a:xfrm>
          <a:prstGeom prst="roundRect">
            <a:avLst>
              <a:gd name="adj" fmla="val 14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78408" y="4090137"/>
            <a:ext cx="822960" cy="7132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i="0">
                <a:solidFill>
                  <a:srgbClr val="0EA5E9"/>
                </a:solidFill>
                <a:latin typeface="Poppins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28800" y="4181577"/>
            <a:ext cx="2743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 i="0">
                <a:solidFill>
                  <a:srgbClr val="0F172A"/>
                </a:solidFill>
                <a:latin typeface="Poppins"/>
              </a:rPr>
              <a:t>Modelos de IA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4474185"/>
            <a:ext cx="6949440" cy="301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475569"/>
                </a:solidFill>
                <a:latin typeface="Lato"/>
              </a:rPr>
              <a:t>Gemini y Claude: acceso, integración y prompts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268712" y="4273017"/>
            <a:ext cx="960120" cy="347472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050" b="1" i="0">
                <a:solidFill>
                  <a:srgbClr val="FFFFFF"/>
                </a:solidFill>
                <a:latin typeface="Poppins"/>
              </a:rPr>
              <a:t>20 min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85800" y="4894809"/>
            <a:ext cx="10817352" cy="713232"/>
          </a:xfrm>
          <a:prstGeom prst="roundRect">
            <a:avLst>
              <a:gd name="adj" fmla="val 14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978408" y="4894809"/>
            <a:ext cx="822960" cy="7132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i="0">
                <a:solidFill>
                  <a:srgbClr val="0EA5E9"/>
                </a:solidFill>
                <a:latin typeface="Poppins"/>
              </a:rPr>
              <a:t>05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28800" y="4986249"/>
            <a:ext cx="2743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 i="0">
                <a:solidFill>
                  <a:srgbClr val="0F172A"/>
                </a:solidFill>
                <a:latin typeface="Poppins"/>
              </a:rPr>
              <a:t>Control de versiones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28800" y="5278857"/>
            <a:ext cx="6949440" cy="301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475569"/>
                </a:solidFill>
                <a:latin typeface="Lato"/>
              </a:rPr>
              <a:t>Instalación y flujo de trabajo con Git y GitHub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268712" y="5077689"/>
            <a:ext cx="960120" cy="347472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050" b="1" i="0">
                <a:solidFill>
                  <a:srgbClr val="FFFFFF"/>
                </a:solidFill>
                <a:latin typeface="Poppins"/>
              </a:rPr>
              <a:t>25 min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85800" y="5699481"/>
            <a:ext cx="10817352" cy="713232"/>
          </a:xfrm>
          <a:prstGeom prst="roundRect">
            <a:avLst>
              <a:gd name="adj" fmla="val 14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978408" y="5699481"/>
            <a:ext cx="822960" cy="7132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i="0">
                <a:solidFill>
                  <a:srgbClr val="0EA5E9"/>
                </a:solidFill>
                <a:latin typeface="Poppins"/>
              </a:rPr>
              <a:t>06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828800" y="5790921"/>
            <a:ext cx="2743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 i="0">
                <a:solidFill>
                  <a:srgbClr val="0F172A"/>
                </a:solidFill>
                <a:latin typeface="Poppins"/>
              </a:rPr>
              <a:t>Integración total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828800" y="6083529"/>
            <a:ext cx="6949440" cy="301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475569"/>
                </a:solidFill>
                <a:latin typeface="Lato"/>
              </a:rPr>
              <a:t>Caso de uso completo, buenas prácticas y cierre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0268712" y="5882361"/>
            <a:ext cx="960120" cy="347472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050" b="1" i="0">
                <a:solidFill>
                  <a:srgbClr val="FFFFFF"/>
                </a:solidFill>
                <a:latin typeface="Poppins"/>
              </a:rPr>
              <a:t>20 min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5800" y="6510528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94A3B8"/>
                </a:solidFill>
                <a:latin typeface="Lato"/>
              </a:rPr>
              <a:t>IA en la Investigación Científica  ·  CBATA — TdeA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789920" y="6510528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 dirty="0">
                <a:solidFill>
                  <a:srgbClr val="94A3B8"/>
                </a:solidFill>
                <a:latin typeface="Lato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2331720"/>
            <a:ext cx="228600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0" b="1" i="0">
                <a:solidFill>
                  <a:srgbClr val="1E293B"/>
                </a:solidFill>
                <a:latin typeface="Poppins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331720"/>
            <a:ext cx="228600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0" b="1" i="0">
                <a:solidFill>
                  <a:srgbClr val="38BDF8"/>
                </a:solidFill>
                <a:latin typeface="Poppins"/>
              </a:rPr>
              <a:t>01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960120" y="3794760"/>
            <a:ext cx="594360" cy="0"/>
          </a:xfrm>
          <a:prstGeom prst="line">
            <a:avLst/>
          </a:prstGeom>
          <a:ln w="38100">
            <a:solidFill>
              <a:srgbClr val="38BDF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14400" y="3977639"/>
            <a:ext cx="98755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 i="0">
                <a:solidFill>
                  <a:srgbClr val="FFFFFF"/>
                </a:solidFill>
                <a:latin typeface="Poppins"/>
              </a:rPr>
              <a:t>Fundamentos: la IA como copiloto científico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709160"/>
            <a:ext cx="89611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E2E8F0"/>
                </a:solidFill>
                <a:latin typeface="Lato"/>
              </a:rPr>
              <a:t>Qué cambia, qué no cambia, y el mapa completo del stack de trabajo.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502920"/>
            <a:ext cx="107899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 spc="150">
                <a:solidFill>
                  <a:srgbClr val="0EA5E9"/>
                </a:solidFill>
                <a:latin typeface="Poppins"/>
              </a:rPr>
              <a:t>PARTE 01  ·  EL NUEVO MÉTODO CIENTÍFICO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32104"/>
            <a:ext cx="1078992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000" b="1" i="0">
                <a:solidFill>
                  <a:srgbClr val="0F172A"/>
                </a:solidFill>
                <a:latin typeface="Poppins"/>
              </a:rPr>
              <a:t>La IA como copiloto, no como reemplazo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85800" y="1581912"/>
            <a:ext cx="502920" cy="0"/>
          </a:xfrm>
          <a:prstGeom prst="line">
            <a:avLst/>
          </a:prstGeom>
          <a:ln w="38100">
            <a:solidFill>
              <a:srgbClr val="38BDF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85800" y="2050496"/>
            <a:ext cx="10607040" cy="23961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 i="1" dirty="0">
                <a:solidFill>
                  <a:srgbClr val="475569"/>
                </a:solidFill>
                <a:latin typeface="Lato"/>
              </a:rPr>
              <a:t>No </a:t>
            </a:r>
            <a:r>
              <a:rPr sz="1450" b="0" i="1" dirty="0" err="1">
                <a:solidFill>
                  <a:srgbClr val="475569"/>
                </a:solidFill>
                <a:latin typeface="Lato"/>
              </a:rPr>
              <a:t>buscamos</a:t>
            </a:r>
            <a:r>
              <a:rPr sz="1450" b="0" i="1" dirty="0">
                <a:solidFill>
                  <a:srgbClr val="475569"/>
                </a:solidFill>
                <a:latin typeface="Lato"/>
              </a:rPr>
              <a:t> </a:t>
            </a:r>
            <a:r>
              <a:rPr sz="1450" b="1" i="1" dirty="0" err="1">
                <a:solidFill>
                  <a:srgbClr val="C00000"/>
                </a:solidFill>
                <a:latin typeface="Lato"/>
              </a:rPr>
              <a:t>delegar</a:t>
            </a:r>
            <a:r>
              <a:rPr sz="1450" b="1" i="1" dirty="0">
                <a:solidFill>
                  <a:srgbClr val="C00000"/>
                </a:solidFill>
                <a:latin typeface="Lato"/>
              </a:rPr>
              <a:t> el </a:t>
            </a:r>
            <a:r>
              <a:rPr sz="1450" b="1" i="1" dirty="0" err="1">
                <a:solidFill>
                  <a:srgbClr val="C00000"/>
                </a:solidFill>
                <a:latin typeface="Lato"/>
              </a:rPr>
              <a:t>criterio</a:t>
            </a:r>
            <a:r>
              <a:rPr sz="1450" b="1" i="1" dirty="0">
                <a:solidFill>
                  <a:srgbClr val="C00000"/>
                </a:solidFill>
                <a:latin typeface="Lato"/>
              </a:rPr>
              <a:t> </a:t>
            </a:r>
            <a:r>
              <a:rPr sz="1450" b="1" i="1" dirty="0" err="1">
                <a:solidFill>
                  <a:srgbClr val="C00000"/>
                </a:solidFill>
                <a:latin typeface="Lato"/>
              </a:rPr>
              <a:t>científico</a:t>
            </a:r>
            <a:r>
              <a:rPr sz="1450" b="0" i="1" dirty="0">
                <a:solidFill>
                  <a:srgbClr val="475569"/>
                </a:solidFill>
                <a:latin typeface="Lato"/>
              </a:rPr>
              <a:t>: </a:t>
            </a:r>
            <a:r>
              <a:rPr sz="1450" b="0" i="1" dirty="0" err="1">
                <a:solidFill>
                  <a:srgbClr val="FF0000"/>
                </a:solidFill>
                <a:latin typeface="Lato"/>
              </a:rPr>
              <a:t>buscamos</a:t>
            </a:r>
            <a:r>
              <a:rPr sz="1450" b="0" i="1" dirty="0">
                <a:solidFill>
                  <a:srgbClr val="FF0000"/>
                </a:solidFill>
                <a:latin typeface="Lato"/>
              </a:rPr>
              <a:t> </a:t>
            </a:r>
            <a:r>
              <a:rPr sz="1450" b="0" i="1" dirty="0" err="1">
                <a:solidFill>
                  <a:srgbClr val="FF0000"/>
                </a:solidFill>
                <a:latin typeface="Lato"/>
              </a:rPr>
              <a:t>expandir</a:t>
            </a:r>
            <a:r>
              <a:rPr sz="1450" b="0" i="1" dirty="0">
                <a:solidFill>
                  <a:srgbClr val="FF0000"/>
                </a:solidFill>
                <a:latin typeface="Lato"/>
              </a:rPr>
              <a:t> </a:t>
            </a:r>
            <a:r>
              <a:rPr sz="1450" b="0" i="1" dirty="0">
                <a:solidFill>
                  <a:srgbClr val="475569"/>
                </a:solidFill>
                <a:latin typeface="Lato"/>
              </a:rPr>
              <a:t>la </a:t>
            </a:r>
            <a:r>
              <a:rPr sz="1450" b="0" i="1" dirty="0" err="1">
                <a:solidFill>
                  <a:srgbClr val="475569"/>
                </a:solidFill>
                <a:latin typeface="Lato"/>
              </a:rPr>
              <a:t>capacidad</a:t>
            </a:r>
            <a:r>
              <a:rPr sz="1450" b="0" i="1" dirty="0">
                <a:solidFill>
                  <a:srgbClr val="475569"/>
                </a:solidFill>
                <a:latin typeface="Lato"/>
              </a:rPr>
              <a:t> del </a:t>
            </a:r>
            <a:r>
              <a:rPr sz="1450" b="0" i="1" dirty="0" err="1">
                <a:solidFill>
                  <a:srgbClr val="475569"/>
                </a:solidFill>
                <a:latin typeface="Lato"/>
              </a:rPr>
              <a:t>equipo</a:t>
            </a:r>
            <a:r>
              <a:rPr sz="1450" b="0" i="1" dirty="0">
                <a:solidFill>
                  <a:srgbClr val="475569"/>
                </a:solidFill>
                <a:latin typeface="Lato"/>
              </a:rPr>
              <a:t> para: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617424"/>
            <a:ext cx="10607040" cy="3840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1400"/>
              </a:spcAft>
            </a:pPr>
            <a:r>
              <a:rPr sz="1550" b="1" i="0" dirty="0">
                <a:solidFill>
                  <a:srgbClr val="0EA5E9"/>
                </a:solidFill>
                <a:latin typeface="Lato"/>
              </a:rPr>
              <a:t>—  </a:t>
            </a:r>
            <a:r>
              <a:rPr sz="1550" b="1" i="0" dirty="0" err="1">
                <a:solidFill>
                  <a:srgbClr val="0EA5E9"/>
                </a:solidFill>
                <a:latin typeface="Lato"/>
              </a:rPr>
              <a:t>Procesar</a:t>
            </a:r>
            <a:r>
              <a:rPr sz="1550" b="1" i="0" dirty="0">
                <a:solidFill>
                  <a:srgbClr val="0EA5E9"/>
                </a:solidFill>
                <a:latin typeface="Lato"/>
              </a:rPr>
              <a:t> </a:t>
            </a:r>
            <a:r>
              <a:rPr sz="1550" b="1" i="0" dirty="0" err="1">
                <a:solidFill>
                  <a:srgbClr val="0EA5E9"/>
                </a:solidFill>
                <a:latin typeface="Lato"/>
              </a:rPr>
              <a:t>volumen</a:t>
            </a:r>
            <a:r>
              <a:rPr sz="1550" b="1" i="0" dirty="0">
                <a:solidFill>
                  <a:srgbClr val="0EA5E9"/>
                </a:solidFill>
                <a:latin typeface="Lato"/>
              </a:rPr>
              <a:t>  </a:t>
            </a:r>
            <a:r>
              <a:rPr sz="1550" b="0" i="0" dirty="0" err="1">
                <a:solidFill>
                  <a:srgbClr val="475569"/>
                </a:solidFill>
                <a:latin typeface="Lato"/>
              </a:rPr>
              <a:t>grandes</a:t>
            </a:r>
            <a:r>
              <a:rPr sz="1550" b="0" i="0" dirty="0">
                <a:solidFill>
                  <a:srgbClr val="475569"/>
                </a:solidFill>
                <a:latin typeface="Lato"/>
              </a:rPr>
              <a:t> series de </a:t>
            </a:r>
            <a:r>
              <a:rPr sz="1550" b="0" i="0" dirty="0" err="1">
                <a:solidFill>
                  <a:srgbClr val="475569"/>
                </a:solidFill>
                <a:latin typeface="Lato"/>
              </a:rPr>
              <a:t>datos</a:t>
            </a:r>
            <a:r>
              <a:rPr sz="1550" b="0" i="0" dirty="0">
                <a:solidFill>
                  <a:srgbClr val="475569"/>
                </a:solidFill>
                <a:latin typeface="Lato"/>
              </a:rPr>
              <a:t>, </a:t>
            </a:r>
            <a:r>
              <a:rPr sz="1550" b="0" i="0" dirty="0" err="1">
                <a:solidFill>
                  <a:srgbClr val="475569"/>
                </a:solidFill>
                <a:latin typeface="Lato"/>
              </a:rPr>
              <a:t>literatura</a:t>
            </a:r>
            <a:r>
              <a:rPr sz="1550" b="0" i="0" dirty="0">
                <a:solidFill>
                  <a:srgbClr val="475569"/>
                </a:solidFill>
                <a:latin typeface="Lato"/>
              </a:rPr>
              <a:t> y </a:t>
            </a:r>
            <a:r>
              <a:rPr sz="1550" b="0" i="0" dirty="0" err="1">
                <a:solidFill>
                  <a:srgbClr val="475569"/>
                </a:solidFill>
                <a:latin typeface="Lato"/>
              </a:rPr>
              <a:t>código</a:t>
            </a:r>
            <a:r>
              <a:rPr sz="1550" b="0" i="0" dirty="0">
                <a:solidFill>
                  <a:srgbClr val="475569"/>
                </a:solidFill>
                <a:latin typeface="Lato"/>
              </a:rPr>
              <a:t> </a:t>
            </a:r>
            <a:r>
              <a:rPr sz="1550" b="0" i="0" dirty="0" err="1">
                <a:solidFill>
                  <a:srgbClr val="475569"/>
                </a:solidFill>
                <a:latin typeface="Lato"/>
              </a:rPr>
              <a:t>en</a:t>
            </a:r>
            <a:r>
              <a:rPr sz="1550" b="0" i="0" dirty="0">
                <a:solidFill>
                  <a:srgbClr val="475569"/>
                </a:solidFill>
                <a:latin typeface="Lato"/>
              </a:rPr>
              <a:t> </a:t>
            </a:r>
            <a:r>
              <a:rPr sz="1550" b="0" i="0" dirty="0" err="1">
                <a:solidFill>
                  <a:srgbClr val="475569"/>
                </a:solidFill>
                <a:latin typeface="Lato"/>
              </a:rPr>
              <a:t>minutos</a:t>
            </a:r>
            <a:r>
              <a:rPr sz="1550" b="0" i="0" dirty="0">
                <a:solidFill>
                  <a:srgbClr val="475569"/>
                </a:solidFill>
                <a:latin typeface="Lato"/>
              </a:rPr>
              <a:t> </a:t>
            </a:r>
            <a:r>
              <a:rPr sz="1550" b="0" i="0" dirty="0" err="1">
                <a:solidFill>
                  <a:srgbClr val="475569"/>
                </a:solidFill>
                <a:latin typeface="Lato"/>
              </a:rPr>
              <a:t>en</a:t>
            </a:r>
            <a:r>
              <a:rPr sz="1550" b="0" i="0" dirty="0">
                <a:solidFill>
                  <a:srgbClr val="475569"/>
                </a:solidFill>
                <a:latin typeface="Lato"/>
              </a:rPr>
              <a:t> </a:t>
            </a:r>
            <a:r>
              <a:rPr sz="1550" b="0" i="0" dirty="0" err="1">
                <a:solidFill>
                  <a:srgbClr val="475569"/>
                </a:solidFill>
                <a:latin typeface="Lato"/>
              </a:rPr>
              <a:t>vez</a:t>
            </a:r>
            <a:r>
              <a:rPr sz="1550" b="0" i="0" dirty="0">
                <a:solidFill>
                  <a:srgbClr val="475569"/>
                </a:solidFill>
                <a:latin typeface="Lato"/>
              </a:rPr>
              <a:t> de días.</a:t>
            </a:r>
          </a:p>
          <a:p>
            <a:pPr>
              <a:lnSpc>
                <a:spcPct val="108000"/>
              </a:lnSpc>
              <a:spcAft>
                <a:spcPts val="1400"/>
              </a:spcAft>
            </a:pPr>
            <a:r>
              <a:rPr sz="1550" b="1" i="0" dirty="0">
                <a:solidFill>
                  <a:srgbClr val="0EA5E9"/>
                </a:solidFill>
                <a:latin typeface="Lato"/>
              </a:rPr>
              <a:t>—  </a:t>
            </a:r>
            <a:r>
              <a:rPr sz="1550" b="1" i="0" dirty="0" err="1">
                <a:solidFill>
                  <a:srgbClr val="0EA5E9"/>
                </a:solidFill>
                <a:latin typeface="Lato"/>
              </a:rPr>
              <a:t>Traducir</a:t>
            </a:r>
            <a:r>
              <a:rPr sz="1550" b="1" i="0" dirty="0">
                <a:solidFill>
                  <a:srgbClr val="0EA5E9"/>
                </a:solidFill>
                <a:latin typeface="Lato"/>
              </a:rPr>
              <a:t> ideas a </a:t>
            </a:r>
            <a:r>
              <a:rPr sz="1550" b="1" i="0" dirty="0" err="1">
                <a:solidFill>
                  <a:srgbClr val="0EA5E9"/>
                </a:solidFill>
                <a:latin typeface="Lato"/>
              </a:rPr>
              <a:t>código</a:t>
            </a:r>
            <a:r>
              <a:rPr sz="1550" b="1" i="0" dirty="0">
                <a:solidFill>
                  <a:srgbClr val="0EA5E9"/>
                </a:solidFill>
                <a:latin typeface="Lato"/>
              </a:rPr>
              <a:t>  </a:t>
            </a:r>
            <a:r>
              <a:rPr sz="1550" b="0" i="0" dirty="0" err="1">
                <a:solidFill>
                  <a:srgbClr val="475569"/>
                </a:solidFill>
                <a:latin typeface="Lato"/>
              </a:rPr>
              <a:t>convertir</a:t>
            </a:r>
            <a:r>
              <a:rPr sz="1550" b="0" i="0" dirty="0">
                <a:solidFill>
                  <a:srgbClr val="475569"/>
                </a:solidFill>
                <a:latin typeface="Lato"/>
              </a:rPr>
              <a:t> un </a:t>
            </a:r>
            <a:r>
              <a:rPr sz="1550" b="0" i="0" dirty="0" err="1">
                <a:solidFill>
                  <a:srgbClr val="475569"/>
                </a:solidFill>
                <a:latin typeface="Lato"/>
              </a:rPr>
              <a:t>modelo</a:t>
            </a:r>
            <a:r>
              <a:rPr sz="1550" b="0" i="0" dirty="0">
                <a:solidFill>
                  <a:srgbClr val="475569"/>
                </a:solidFill>
                <a:latin typeface="Lato"/>
              </a:rPr>
              <a:t> </a:t>
            </a:r>
            <a:r>
              <a:rPr sz="1550" b="0" i="0" dirty="0" err="1">
                <a:solidFill>
                  <a:srgbClr val="475569"/>
                </a:solidFill>
                <a:latin typeface="Lato"/>
              </a:rPr>
              <a:t>teórico</a:t>
            </a:r>
            <a:r>
              <a:rPr sz="1550" b="0" i="0" dirty="0">
                <a:solidFill>
                  <a:srgbClr val="475569"/>
                </a:solidFill>
                <a:latin typeface="Lato"/>
              </a:rPr>
              <a:t> o </a:t>
            </a:r>
            <a:r>
              <a:rPr sz="1550" b="0" i="0" dirty="0" err="1">
                <a:solidFill>
                  <a:srgbClr val="475569"/>
                </a:solidFill>
                <a:latin typeface="Lato"/>
              </a:rPr>
              <a:t>una</a:t>
            </a:r>
            <a:r>
              <a:rPr sz="1550" b="0" i="0" dirty="0">
                <a:solidFill>
                  <a:srgbClr val="475569"/>
                </a:solidFill>
                <a:latin typeface="Lato"/>
              </a:rPr>
              <a:t> </a:t>
            </a:r>
            <a:r>
              <a:rPr sz="1550" b="0" i="0" dirty="0" err="1">
                <a:solidFill>
                  <a:srgbClr val="475569"/>
                </a:solidFill>
                <a:latin typeface="Lato"/>
              </a:rPr>
              <a:t>ecuación</a:t>
            </a:r>
            <a:r>
              <a:rPr sz="1550" b="0" i="0" dirty="0">
                <a:solidFill>
                  <a:srgbClr val="475569"/>
                </a:solidFill>
                <a:latin typeface="Lato"/>
              </a:rPr>
              <a:t> </a:t>
            </a:r>
            <a:r>
              <a:rPr sz="1550" b="0" i="0" dirty="0" err="1">
                <a:solidFill>
                  <a:srgbClr val="475569"/>
                </a:solidFill>
                <a:latin typeface="Lato"/>
              </a:rPr>
              <a:t>en</a:t>
            </a:r>
            <a:r>
              <a:rPr sz="1550" b="0" i="0" dirty="0">
                <a:solidFill>
                  <a:srgbClr val="475569"/>
                </a:solidFill>
                <a:latin typeface="Lato"/>
              </a:rPr>
              <a:t> un script </a:t>
            </a:r>
            <a:r>
              <a:rPr sz="1550" b="0" i="0" dirty="0" err="1">
                <a:solidFill>
                  <a:srgbClr val="475569"/>
                </a:solidFill>
                <a:latin typeface="Lato"/>
              </a:rPr>
              <a:t>ejecutable</a:t>
            </a:r>
            <a:r>
              <a:rPr sz="1550" b="0" i="0" dirty="0">
                <a:solidFill>
                  <a:srgbClr val="475569"/>
                </a:solidFill>
                <a:latin typeface="Lato"/>
              </a:rPr>
              <a:t> y </a:t>
            </a:r>
            <a:r>
              <a:rPr sz="1550" b="0" i="0" dirty="0" err="1">
                <a:solidFill>
                  <a:srgbClr val="475569"/>
                </a:solidFill>
                <a:latin typeface="Lato"/>
              </a:rPr>
              <a:t>probado</a:t>
            </a:r>
            <a:r>
              <a:rPr sz="1550" b="0" i="0" dirty="0">
                <a:solidFill>
                  <a:srgbClr val="475569"/>
                </a:solidFill>
                <a:latin typeface="Lato"/>
              </a:rPr>
              <a:t>.</a:t>
            </a:r>
          </a:p>
          <a:p>
            <a:pPr>
              <a:lnSpc>
                <a:spcPct val="108000"/>
              </a:lnSpc>
              <a:spcAft>
                <a:spcPts val="1400"/>
              </a:spcAft>
            </a:pPr>
            <a:r>
              <a:rPr sz="1550" b="1" i="0" dirty="0">
                <a:solidFill>
                  <a:srgbClr val="0EA5E9"/>
                </a:solidFill>
                <a:latin typeface="Lato"/>
              </a:rPr>
              <a:t>—  </a:t>
            </a:r>
            <a:r>
              <a:rPr sz="1550" b="1" i="0" dirty="0" err="1">
                <a:solidFill>
                  <a:srgbClr val="0EA5E9"/>
                </a:solidFill>
                <a:latin typeface="Lato"/>
              </a:rPr>
              <a:t>Detectar</a:t>
            </a:r>
            <a:r>
              <a:rPr sz="1550" b="1" i="0" dirty="0">
                <a:solidFill>
                  <a:srgbClr val="0EA5E9"/>
                </a:solidFill>
                <a:latin typeface="Lato"/>
              </a:rPr>
              <a:t> </a:t>
            </a:r>
            <a:r>
              <a:rPr sz="1550" b="1" i="0" dirty="0" err="1">
                <a:solidFill>
                  <a:srgbClr val="0EA5E9"/>
                </a:solidFill>
                <a:latin typeface="Lato"/>
              </a:rPr>
              <a:t>patrones</a:t>
            </a:r>
            <a:r>
              <a:rPr sz="1550" b="1" i="0" dirty="0">
                <a:solidFill>
                  <a:srgbClr val="0EA5E9"/>
                </a:solidFill>
                <a:latin typeface="Lato"/>
              </a:rPr>
              <a:t>  </a:t>
            </a:r>
            <a:r>
              <a:rPr sz="1550" b="0" i="0" dirty="0" err="1">
                <a:solidFill>
                  <a:srgbClr val="475569"/>
                </a:solidFill>
                <a:latin typeface="Lato"/>
              </a:rPr>
              <a:t>señales</a:t>
            </a:r>
            <a:r>
              <a:rPr sz="1550" b="0" i="0" dirty="0">
                <a:solidFill>
                  <a:srgbClr val="475569"/>
                </a:solidFill>
                <a:latin typeface="Lato"/>
              </a:rPr>
              <a:t> </a:t>
            </a:r>
            <a:r>
              <a:rPr sz="1550" b="0" i="0" dirty="0" err="1">
                <a:solidFill>
                  <a:srgbClr val="475569"/>
                </a:solidFill>
                <a:latin typeface="Lato"/>
              </a:rPr>
              <a:t>en</a:t>
            </a:r>
            <a:r>
              <a:rPr sz="1550" b="0" i="0" dirty="0">
                <a:solidFill>
                  <a:srgbClr val="475569"/>
                </a:solidFill>
                <a:latin typeface="Lato"/>
              </a:rPr>
              <a:t> </a:t>
            </a:r>
            <a:r>
              <a:rPr sz="1550" b="0" i="0" dirty="0" err="1">
                <a:solidFill>
                  <a:srgbClr val="475569"/>
                </a:solidFill>
                <a:latin typeface="Lato"/>
              </a:rPr>
              <a:t>los</a:t>
            </a:r>
            <a:r>
              <a:rPr sz="1550" b="0" i="0" dirty="0">
                <a:solidFill>
                  <a:srgbClr val="475569"/>
                </a:solidFill>
                <a:latin typeface="Lato"/>
              </a:rPr>
              <a:t> </a:t>
            </a:r>
            <a:r>
              <a:rPr sz="1550" b="0" i="0" dirty="0" err="1">
                <a:solidFill>
                  <a:srgbClr val="475569"/>
                </a:solidFill>
                <a:latin typeface="Lato"/>
              </a:rPr>
              <a:t>datos</a:t>
            </a:r>
            <a:r>
              <a:rPr sz="1550" b="0" i="0" dirty="0">
                <a:solidFill>
                  <a:srgbClr val="475569"/>
                </a:solidFill>
                <a:latin typeface="Lato"/>
              </a:rPr>
              <a:t> o </a:t>
            </a:r>
            <a:r>
              <a:rPr sz="1550" b="0" i="0" dirty="0" err="1">
                <a:solidFill>
                  <a:srgbClr val="475569"/>
                </a:solidFill>
                <a:latin typeface="Lato"/>
              </a:rPr>
              <a:t>vacíos</a:t>
            </a:r>
            <a:r>
              <a:rPr sz="1550" b="0" i="0" dirty="0">
                <a:solidFill>
                  <a:srgbClr val="475569"/>
                </a:solidFill>
                <a:latin typeface="Lato"/>
              </a:rPr>
              <a:t> </a:t>
            </a:r>
            <a:r>
              <a:rPr sz="1550" b="0" i="0" dirty="0" err="1">
                <a:solidFill>
                  <a:srgbClr val="475569"/>
                </a:solidFill>
                <a:latin typeface="Lato"/>
              </a:rPr>
              <a:t>en</a:t>
            </a:r>
            <a:r>
              <a:rPr sz="1550" b="0" i="0" dirty="0">
                <a:solidFill>
                  <a:srgbClr val="475569"/>
                </a:solidFill>
                <a:latin typeface="Lato"/>
              </a:rPr>
              <a:t> la </a:t>
            </a:r>
            <a:r>
              <a:rPr sz="1550" b="0" i="0" dirty="0" err="1">
                <a:solidFill>
                  <a:srgbClr val="475569"/>
                </a:solidFill>
                <a:latin typeface="Lato"/>
              </a:rPr>
              <a:t>literatura</a:t>
            </a:r>
            <a:r>
              <a:rPr sz="1550" b="0" i="0" dirty="0">
                <a:solidFill>
                  <a:srgbClr val="475569"/>
                </a:solidFill>
                <a:latin typeface="Lato"/>
              </a:rPr>
              <a:t> </a:t>
            </a:r>
            <a:r>
              <a:rPr sz="1550" b="0" i="0" dirty="0" err="1">
                <a:solidFill>
                  <a:srgbClr val="475569"/>
                </a:solidFill>
                <a:latin typeface="Lato"/>
              </a:rPr>
              <a:t>que</a:t>
            </a:r>
            <a:r>
              <a:rPr sz="1550" b="0" i="0" dirty="0">
                <a:solidFill>
                  <a:srgbClr val="475569"/>
                </a:solidFill>
                <a:latin typeface="Lato"/>
              </a:rPr>
              <a:t> el </a:t>
            </a:r>
            <a:r>
              <a:rPr sz="1550" b="0" i="0" dirty="0" err="1">
                <a:solidFill>
                  <a:srgbClr val="475569"/>
                </a:solidFill>
                <a:latin typeface="Lato"/>
              </a:rPr>
              <a:t>ojo</a:t>
            </a:r>
            <a:r>
              <a:rPr sz="1550" b="0" i="0" dirty="0">
                <a:solidFill>
                  <a:srgbClr val="475569"/>
                </a:solidFill>
                <a:latin typeface="Lato"/>
              </a:rPr>
              <a:t> </a:t>
            </a:r>
            <a:r>
              <a:rPr sz="1550" b="0" i="0" dirty="0" err="1">
                <a:solidFill>
                  <a:srgbClr val="475569"/>
                </a:solidFill>
                <a:latin typeface="Lato"/>
              </a:rPr>
              <a:t>humano</a:t>
            </a:r>
            <a:r>
              <a:rPr sz="1550" b="0" i="0" dirty="0">
                <a:solidFill>
                  <a:srgbClr val="475569"/>
                </a:solidFill>
                <a:latin typeface="Lato"/>
              </a:rPr>
              <a:t> </a:t>
            </a:r>
            <a:r>
              <a:rPr sz="1550" b="0" i="0" dirty="0" err="1">
                <a:solidFill>
                  <a:srgbClr val="475569"/>
                </a:solidFill>
                <a:latin typeface="Lato"/>
              </a:rPr>
              <a:t>podría</a:t>
            </a:r>
            <a:r>
              <a:rPr sz="1550" b="0" i="0" dirty="0">
                <a:solidFill>
                  <a:srgbClr val="475569"/>
                </a:solidFill>
                <a:latin typeface="Lato"/>
              </a:rPr>
              <a:t> pasar </a:t>
            </a:r>
            <a:r>
              <a:rPr sz="1550" b="0" i="0" dirty="0" err="1">
                <a:solidFill>
                  <a:srgbClr val="475569"/>
                </a:solidFill>
                <a:latin typeface="Lato"/>
              </a:rPr>
              <a:t>por</a:t>
            </a:r>
            <a:r>
              <a:rPr sz="1550" b="0" i="0" dirty="0">
                <a:solidFill>
                  <a:srgbClr val="475569"/>
                </a:solidFill>
                <a:latin typeface="Lato"/>
              </a:rPr>
              <a:t> alto.</a:t>
            </a:r>
          </a:p>
          <a:p>
            <a:pPr>
              <a:lnSpc>
                <a:spcPct val="108000"/>
              </a:lnSpc>
              <a:spcAft>
                <a:spcPts val="1400"/>
              </a:spcAft>
            </a:pPr>
            <a:r>
              <a:rPr sz="1550" b="1" i="0" dirty="0">
                <a:solidFill>
                  <a:srgbClr val="0EA5E9"/>
                </a:solidFill>
                <a:latin typeface="Lato"/>
              </a:rPr>
              <a:t>—  </a:t>
            </a:r>
            <a:r>
              <a:rPr sz="1550" b="1" i="0" dirty="0" err="1">
                <a:solidFill>
                  <a:srgbClr val="0EA5E9"/>
                </a:solidFill>
                <a:latin typeface="Lato"/>
              </a:rPr>
              <a:t>Documentar</a:t>
            </a:r>
            <a:r>
              <a:rPr sz="1550" b="1" i="0" dirty="0">
                <a:solidFill>
                  <a:srgbClr val="0EA5E9"/>
                </a:solidFill>
                <a:latin typeface="Lato"/>
              </a:rPr>
              <a:t> y </a:t>
            </a:r>
            <a:r>
              <a:rPr sz="1550" b="1" i="0" dirty="0" err="1">
                <a:solidFill>
                  <a:srgbClr val="0EA5E9"/>
                </a:solidFill>
                <a:latin typeface="Lato"/>
              </a:rPr>
              <a:t>comunicar</a:t>
            </a:r>
            <a:r>
              <a:rPr sz="1550" b="1" i="0" dirty="0">
                <a:solidFill>
                  <a:srgbClr val="0EA5E9"/>
                </a:solidFill>
                <a:latin typeface="Lato"/>
              </a:rPr>
              <a:t>  </a:t>
            </a:r>
            <a:r>
              <a:rPr sz="1550" b="0" i="0" dirty="0" err="1">
                <a:solidFill>
                  <a:srgbClr val="475569"/>
                </a:solidFill>
                <a:latin typeface="Lato"/>
              </a:rPr>
              <a:t>redactar</a:t>
            </a:r>
            <a:r>
              <a:rPr sz="1550" b="0" i="0" dirty="0">
                <a:solidFill>
                  <a:srgbClr val="475569"/>
                </a:solidFill>
                <a:latin typeface="Lato"/>
              </a:rPr>
              <a:t> </a:t>
            </a:r>
            <a:r>
              <a:rPr sz="1550" b="0" i="0" dirty="0" err="1">
                <a:solidFill>
                  <a:srgbClr val="475569"/>
                </a:solidFill>
                <a:latin typeface="Lato"/>
              </a:rPr>
              <a:t>métodos</a:t>
            </a:r>
            <a:r>
              <a:rPr sz="1550" b="0" i="0" dirty="0">
                <a:solidFill>
                  <a:srgbClr val="475569"/>
                </a:solidFill>
                <a:latin typeface="Lato"/>
              </a:rPr>
              <a:t>, </a:t>
            </a:r>
            <a:r>
              <a:rPr sz="1550" b="0" i="0" dirty="0" err="1">
                <a:solidFill>
                  <a:srgbClr val="475569"/>
                </a:solidFill>
                <a:latin typeface="Lato"/>
              </a:rPr>
              <a:t>comentarios</a:t>
            </a:r>
            <a:r>
              <a:rPr sz="1550" b="0" i="0" dirty="0">
                <a:solidFill>
                  <a:srgbClr val="475569"/>
                </a:solidFill>
                <a:latin typeface="Lato"/>
              </a:rPr>
              <a:t> de </a:t>
            </a:r>
            <a:r>
              <a:rPr sz="1550" b="0" i="0" dirty="0" err="1">
                <a:solidFill>
                  <a:srgbClr val="475569"/>
                </a:solidFill>
                <a:latin typeface="Lato"/>
              </a:rPr>
              <a:t>código</a:t>
            </a:r>
            <a:r>
              <a:rPr sz="1550" b="0" i="0" dirty="0">
                <a:solidFill>
                  <a:srgbClr val="475569"/>
                </a:solidFill>
                <a:latin typeface="Lato"/>
              </a:rPr>
              <a:t> y </a:t>
            </a:r>
            <a:r>
              <a:rPr sz="1550" b="0" i="0" dirty="0" err="1">
                <a:solidFill>
                  <a:srgbClr val="475569"/>
                </a:solidFill>
                <a:latin typeface="Lato"/>
              </a:rPr>
              <a:t>borradores</a:t>
            </a:r>
            <a:r>
              <a:rPr sz="1550" b="0" i="0" dirty="0">
                <a:solidFill>
                  <a:srgbClr val="475569"/>
                </a:solidFill>
                <a:latin typeface="Lato"/>
              </a:rPr>
              <a:t> con rigor y </a:t>
            </a:r>
            <a:r>
              <a:rPr sz="1550" b="0" i="0" dirty="0" err="1">
                <a:solidFill>
                  <a:srgbClr val="475569"/>
                </a:solidFill>
                <a:latin typeface="Lato"/>
              </a:rPr>
              <a:t>trazabilidad</a:t>
            </a:r>
            <a:r>
              <a:rPr sz="1550" b="0" i="0" dirty="0">
                <a:solidFill>
                  <a:srgbClr val="475569"/>
                </a:solidFill>
                <a:latin typeface="Lato"/>
              </a:rPr>
              <a:t>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510528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94A3B8"/>
                </a:solidFill>
                <a:latin typeface="Lato"/>
              </a:rPr>
              <a:t>IA en la Investigación Científica  ·  CBATA — TdeA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0" y="6510528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94A3B8"/>
                </a:solidFill>
                <a:latin typeface="Lato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502920"/>
            <a:ext cx="107899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 spc="150">
                <a:solidFill>
                  <a:srgbClr val="0EA5E9"/>
                </a:solidFill>
                <a:latin typeface="Poppins"/>
              </a:rPr>
              <a:t>PARTE 01  ·  LO QUE NO NEGOCIA EL RIGOR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32104"/>
            <a:ext cx="1078992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000" b="1" i="0">
                <a:solidFill>
                  <a:srgbClr val="0F172A"/>
                </a:solidFill>
                <a:latin typeface="Poppins"/>
              </a:rPr>
              <a:t>Lo que la IA nunca reemplaza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85800" y="1581912"/>
            <a:ext cx="502920" cy="0"/>
          </a:xfrm>
          <a:prstGeom prst="line">
            <a:avLst/>
          </a:prstGeom>
          <a:ln w="38100">
            <a:solidFill>
              <a:srgbClr val="38BDF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85800" y="1783080"/>
            <a:ext cx="10607040" cy="3840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1400"/>
              </a:spcAft>
            </a:pPr>
            <a:r>
              <a:rPr sz="1550" b="1" i="0">
                <a:solidFill>
                  <a:srgbClr val="0EA5E9"/>
                </a:solidFill>
                <a:latin typeface="Lato"/>
              </a:rPr>
              <a:t>—  Verificación humana  </a:t>
            </a:r>
            <a:r>
              <a:rPr sz="1550" b="0" i="0">
                <a:solidFill>
                  <a:srgbClr val="475569"/>
                </a:solidFill>
                <a:latin typeface="Lato"/>
              </a:rPr>
              <a:t>todo resultado generado por IA se revisa, se contrasta y se referencia.</a:t>
            </a:r>
          </a:p>
          <a:p>
            <a:pPr>
              <a:lnSpc>
                <a:spcPct val="108000"/>
              </a:lnSpc>
              <a:spcAft>
                <a:spcPts val="1400"/>
              </a:spcAft>
            </a:pPr>
            <a:r>
              <a:rPr sz="1550" b="1" i="0">
                <a:solidFill>
                  <a:srgbClr val="0EA5E9"/>
                </a:solidFill>
                <a:latin typeface="Lato"/>
              </a:rPr>
              <a:t>—  Reproducibilidad  </a:t>
            </a:r>
            <a:r>
              <a:rPr sz="1550" b="0" i="0">
                <a:solidFill>
                  <a:srgbClr val="475569"/>
                </a:solidFill>
                <a:latin typeface="Lato"/>
              </a:rPr>
              <a:t>el código, los datos y las versiones deben quedar trazados (por eso usamos GitHub).</a:t>
            </a:r>
          </a:p>
          <a:p>
            <a:pPr>
              <a:lnSpc>
                <a:spcPct val="108000"/>
              </a:lnSpc>
              <a:spcAft>
                <a:spcPts val="1400"/>
              </a:spcAft>
            </a:pPr>
            <a:r>
              <a:rPr sz="1550" b="1" i="0">
                <a:solidFill>
                  <a:srgbClr val="0EA5E9"/>
                </a:solidFill>
                <a:latin typeface="Lato"/>
              </a:rPr>
              <a:t>—  Evidencia científica  </a:t>
            </a:r>
            <a:r>
              <a:rPr sz="1550" b="0" i="0">
                <a:solidFill>
                  <a:srgbClr val="475569"/>
                </a:solidFill>
                <a:latin typeface="Lato"/>
              </a:rPr>
              <a:t>las afirmaciones se sustentan en literatura revisada por pares, no en la memoria del modelo.</a:t>
            </a:r>
          </a:p>
          <a:p>
            <a:pPr>
              <a:lnSpc>
                <a:spcPct val="108000"/>
              </a:lnSpc>
              <a:spcAft>
                <a:spcPts val="1400"/>
              </a:spcAft>
            </a:pPr>
            <a:r>
              <a:rPr sz="1550" b="1" i="0">
                <a:solidFill>
                  <a:srgbClr val="0EA5E9"/>
                </a:solidFill>
                <a:latin typeface="Lato"/>
              </a:rPr>
              <a:t>—  Criterio disciplinar  </a:t>
            </a:r>
            <a:r>
              <a:rPr sz="1550" b="0" i="0">
                <a:solidFill>
                  <a:srgbClr val="475569"/>
                </a:solidFill>
                <a:latin typeface="Lato"/>
              </a:rPr>
              <a:t>la interpretación física, estadística o metodológica la hace el equipo investigador.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510528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94A3B8"/>
                </a:solidFill>
                <a:latin typeface="Lato"/>
              </a:rPr>
              <a:t>IA en la Investigación Científica  ·  CBATA — TdeA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10528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94A3B8"/>
                </a:solidFill>
                <a:latin typeface="Lato"/>
              </a:rPr>
              <a:t>5</a:t>
            </a:r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378DF1BE-F375-2007-3128-F8A5E97657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406" y="4745690"/>
            <a:ext cx="10827434" cy="53039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502920"/>
            <a:ext cx="107899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 spc="150">
                <a:solidFill>
                  <a:srgbClr val="0EA5E9"/>
                </a:solidFill>
                <a:latin typeface="Poppins"/>
              </a:rPr>
              <a:t>PARTE 01  ·  EL STACK DE LA SESIÓN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32104"/>
            <a:ext cx="1078992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000" b="1" i="0">
                <a:solidFill>
                  <a:srgbClr val="0F172A"/>
                </a:solidFill>
                <a:latin typeface="Poppins"/>
              </a:rPr>
              <a:t>Cuatro herramientas, un solo flujo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85800" y="1581912"/>
            <a:ext cx="502920" cy="0"/>
          </a:xfrm>
          <a:prstGeom prst="line">
            <a:avLst/>
          </a:prstGeom>
          <a:ln w="38100">
            <a:solidFill>
              <a:srgbClr val="38BDF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85800" y="1783080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0" i="1">
                <a:solidFill>
                  <a:srgbClr val="475569"/>
                </a:solidFill>
                <a:latin typeface="Lato"/>
              </a:rPr>
              <a:t>Cada herramienta cubre una etapa distinta del proyecto científico: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350008"/>
            <a:ext cx="2464308" cy="3977639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85800" y="2350008"/>
            <a:ext cx="2464308" cy="82296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41832" y="2642616"/>
            <a:ext cx="1952244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 spc="100">
                <a:solidFill>
                  <a:srgbClr val="0EA5E9"/>
                </a:solidFill>
                <a:latin typeface="Poppins"/>
              </a:rPr>
              <a:t>LITERATURA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" y="2916936"/>
            <a:ext cx="1952244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0F172A"/>
                </a:solidFill>
                <a:latin typeface="Poppins"/>
              </a:rPr>
              <a:t>Consensus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1832" y="3520440"/>
            <a:ext cx="1952244" cy="2468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0" i="0">
                <a:solidFill>
                  <a:srgbClr val="475569"/>
                </a:solidFill>
                <a:latin typeface="Lato"/>
              </a:rPr>
              <a:t>Motor de búsqueda basado en evidencia científica: responde preguntas usando solo artículos revisados por pares.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70148" y="2350008"/>
            <a:ext cx="2464308" cy="3977639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3470148" y="2350008"/>
            <a:ext cx="2464308" cy="82296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726180" y="2642616"/>
            <a:ext cx="1952244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 spc="100">
                <a:solidFill>
                  <a:srgbClr val="0EA5E9"/>
                </a:solidFill>
                <a:latin typeface="Poppins"/>
              </a:rPr>
              <a:t>ENTORNO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26180" y="2916936"/>
            <a:ext cx="1952244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0F172A"/>
                </a:solidFill>
                <a:latin typeface="Poppins"/>
              </a:rPr>
              <a:t>Antigravity + VS Code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26180" y="3520440"/>
            <a:ext cx="1952244" cy="2468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0" i="0">
                <a:solidFill>
                  <a:srgbClr val="475569"/>
                </a:solidFill>
                <a:latin typeface="Lato"/>
              </a:rPr>
              <a:t>Editor de código potenciado por agentes de IA para escribir, depurar y documentar el proyecto.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54496" y="2350008"/>
            <a:ext cx="2464308" cy="3977639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254496" y="2350008"/>
            <a:ext cx="2464308" cy="82296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510528" y="2642616"/>
            <a:ext cx="1952244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 spc="100">
                <a:solidFill>
                  <a:srgbClr val="0EA5E9"/>
                </a:solidFill>
                <a:latin typeface="Poppins"/>
              </a:rPr>
              <a:t>MODELOS DE IA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10528" y="2916936"/>
            <a:ext cx="1952244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0F172A"/>
                </a:solidFill>
                <a:latin typeface="Poppins"/>
              </a:rPr>
              <a:t>Gemini / Claude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0528" y="3520440"/>
            <a:ext cx="1952244" cy="2468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0" i="0">
                <a:solidFill>
                  <a:srgbClr val="475569"/>
                </a:solidFill>
                <a:latin typeface="Lato"/>
              </a:rPr>
              <a:t>Los "cerebros" que razonan, generan código y redactan texto dentro del entorno de trabajo.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2350008"/>
            <a:ext cx="2464308" cy="3977639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9038844" y="2350008"/>
            <a:ext cx="2464308" cy="82296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294876" y="2642616"/>
            <a:ext cx="1952244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 spc="100">
                <a:solidFill>
                  <a:srgbClr val="0EA5E9"/>
                </a:solidFill>
                <a:latin typeface="Poppins"/>
              </a:rPr>
              <a:t>TRAZABILIDAD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94876" y="2916936"/>
            <a:ext cx="1952244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0F172A"/>
                </a:solidFill>
                <a:latin typeface="Poppins"/>
              </a:rPr>
              <a:t>GitHub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94876" y="3520440"/>
            <a:ext cx="1952244" cy="2468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0" i="0">
                <a:solidFill>
                  <a:srgbClr val="475569"/>
                </a:solidFill>
                <a:latin typeface="Lato"/>
              </a:rPr>
              <a:t>Control de versiones: historial, colaboración y respaldo de todo el proyecto.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" y="6510528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94A3B8"/>
                </a:solidFill>
                <a:latin typeface="Lato"/>
              </a:rPr>
              <a:t>IA en la Investigación Científica  ·  CBATA — TdeA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789920" y="6510528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94A3B8"/>
                </a:solidFill>
                <a:latin typeface="Lato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502920"/>
            <a:ext cx="107899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 spc="150">
                <a:solidFill>
                  <a:srgbClr val="0EA5E9"/>
                </a:solidFill>
                <a:latin typeface="Poppins"/>
              </a:rPr>
              <a:t>PARTE 01  ·  DE LA PREGUNTA AL ARTÍCULO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32104"/>
            <a:ext cx="1078992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000" b="1" i="0">
                <a:solidFill>
                  <a:srgbClr val="0F172A"/>
                </a:solidFill>
                <a:latin typeface="Poppins"/>
              </a:rPr>
              <a:t>Cómo se integra todo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85800" y="1581912"/>
            <a:ext cx="502920" cy="0"/>
          </a:xfrm>
          <a:prstGeom prst="line">
            <a:avLst/>
          </a:prstGeom>
          <a:ln w="38100">
            <a:solidFill>
              <a:srgbClr val="38BDF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85800" y="1783080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1">
                <a:solidFill>
                  <a:srgbClr val="475569"/>
                </a:solidFill>
                <a:latin typeface="Lato"/>
              </a:rPr>
              <a:t>Un mismo proyecto recorre estas cinco estaciones de principio a fin: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700928"/>
            <a:ext cx="1856232" cy="1828800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1394460" y="2481472"/>
            <a:ext cx="438912" cy="438912"/>
          </a:xfrm>
          <a:prstGeom prst="ellipse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500" b="1" i="0">
                <a:solidFill>
                  <a:srgbClr val="0F172A"/>
                </a:solidFill>
                <a:latin typeface="Poppins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" y="3048400"/>
            <a:ext cx="1527048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0F172A"/>
                </a:solidFill>
                <a:latin typeface="Poppins"/>
              </a:rPr>
              <a:t>Pregunta de
investigación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" y="3743343"/>
            <a:ext cx="1527048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0">
                <a:solidFill>
                  <a:srgbClr val="475569"/>
                </a:solidFill>
                <a:latin typeface="Lato"/>
              </a:rPr>
              <a:t>Se define el problema y las hipótesis de trabajo.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42032" y="3615328"/>
            <a:ext cx="384048" cy="0"/>
          </a:xfrm>
          <a:prstGeom prst="line">
            <a:avLst/>
          </a:prstGeom>
          <a:ln w="25400">
            <a:solidFill>
              <a:srgbClr val="0EA5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2926080" y="2700928"/>
            <a:ext cx="1856232" cy="1828800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3634740" y="2481472"/>
            <a:ext cx="438912" cy="438912"/>
          </a:xfrm>
          <a:prstGeom prst="ellipse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500" b="1" i="0">
                <a:solidFill>
                  <a:srgbClr val="0F172A"/>
                </a:solidFill>
                <a:latin typeface="Poppins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90672" y="3048400"/>
            <a:ext cx="1527048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0F172A"/>
                </a:solidFill>
                <a:latin typeface="Poppins"/>
              </a:rPr>
              <a:t>Literatura
(Consensus)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90672" y="3743343"/>
            <a:ext cx="1527048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0">
                <a:solidFill>
                  <a:srgbClr val="475569"/>
                </a:solidFill>
                <a:latin typeface="Lato"/>
              </a:rPr>
              <a:t>Estado del arte basado en evidencia revisada por pares.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782312" y="3615328"/>
            <a:ext cx="384048" cy="0"/>
          </a:xfrm>
          <a:prstGeom prst="line">
            <a:avLst/>
          </a:prstGeom>
          <a:ln w="25400">
            <a:solidFill>
              <a:srgbClr val="0EA5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5166360" y="2700928"/>
            <a:ext cx="1856232" cy="1828800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5875020" y="2481472"/>
            <a:ext cx="438912" cy="438912"/>
          </a:xfrm>
          <a:prstGeom prst="ellipse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500" b="1" i="0">
                <a:solidFill>
                  <a:srgbClr val="0F172A"/>
                </a:solidFill>
                <a:latin typeface="Poppin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30952" y="3048400"/>
            <a:ext cx="1527048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0F172A"/>
                </a:solidFill>
                <a:latin typeface="Poppins"/>
              </a:rPr>
              <a:t>Código con IA
(Antigravity)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30952" y="3743343"/>
            <a:ext cx="1527048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0">
                <a:solidFill>
                  <a:srgbClr val="475569"/>
                </a:solidFill>
                <a:latin typeface="Lato"/>
              </a:rPr>
              <a:t>Gemini/Claude escriben y explican el código dentro del editor.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7022592" y="3615328"/>
            <a:ext cx="384048" cy="0"/>
          </a:xfrm>
          <a:prstGeom prst="line">
            <a:avLst/>
          </a:prstGeom>
          <a:ln w="25400">
            <a:solidFill>
              <a:srgbClr val="0EA5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7406640" y="2700928"/>
            <a:ext cx="1856232" cy="1828800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8115300" y="2481472"/>
            <a:ext cx="438912" cy="438912"/>
          </a:xfrm>
          <a:prstGeom prst="ellipse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500" b="1" i="0">
                <a:solidFill>
                  <a:srgbClr val="0F172A"/>
                </a:solidFill>
                <a:latin typeface="Poppins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71232" y="3048400"/>
            <a:ext cx="1527048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0F172A"/>
                </a:solidFill>
                <a:latin typeface="Poppins"/>
              </a:rPr>
              <a:t>Trazabilidad
(GitHub)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71232" y="3743343"/>
            <a:ext cx="1527048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0">
                <a:solidFill>
                  <a:srgbClr val="475569"/>
                </a:solidFill>
                <a:latin typeface="Lato"/>
              </a:rPr>
              <a:t>Cada avance queda versionado, respaldado y documentado.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9262872" y="3615328"/>
            <a:ext cx="384048" cy="0"/>
          </a:xfrm>
          <a:prstGeom prst="line">
            <a:avLst/>
          </a:prstGeom>
          <a:ln w="25400">
            <a:solidFill>
              <a:srgbClr val="0EA5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9646920" y="2700928"/>
            <a:ext cx="1856232" cy="1828800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Oval 26"/>
          <p:cNvSpPr/>
          <p:nvPr/>
        </p:nvSpPr>
        <p:spPr>
          <a:xfrm>
            <a:off x="10355580" y="2481472"/>
            <a:ext cx="438912" cy="438912"/>
          </a:xfrm>
          <a:prstGeom prst="ellipse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500" b="1" i="0">
                <a:solidFill>
                  <a:srgbClr val="0F172A"/>
                </a:solidFill>
                <a:latin typeface="Poppins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11512" y="3048400"/>
            <a:ext cx="1527048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0F172A"/>
                </a:solidFill>
                <a:latin typeface="Poppins"/>
              </a:rPr>
              <a:t>Resultados y
manuscrito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811512" y="3743343"/>
            <a:ext cx="1527048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0">
                <a:solidFill>
                  <a:srgbClr val="475569"/>
                </a:solidFill>
                <a:latin typeface="Lato"/>
              </a:rPr>
              <a:t>Figuras, hallazgos y redacción, listos para su publicación.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5800" y="6510528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94A3B8"/>
                </a:solidFill>
                <a:latin typeface="Lato"/>
              </a:rPr>
              <a:t>IA en la Investigación Científica  ·  CBATA — TdeA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9920" y="6510528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94A3B8"/>
                </a:solidFill>
                <a:latin typeface="Lato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2331720"/>
            <a:ext cx="228600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0" b="1" i="0">
                <a:solidFill>
                  <a:srgbClr val="1E293B"/>
                </a:solidFill>
                <a:latin typeface="Poppins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331720"/>
            <a:ext cx="228600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0" b="1" i="0">
                <a:solidFill>
                  <a:srgbClr val="38BDF8"/>
                </a:solidFill>
                <a:latin typeface="Poppins"/>
              </a:rPr>
              <a:t>02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960120" y="3794760"/>
            <a:ext cx="594360" cy="0"/>
          </a:xfrm>
          <a:prstGeom prst="line">
            <a:avLst/>
          </a:prstGeom>
          <a:ln w="38100">
            <a:solidFill>
              <a:srgbClr val="38BDF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14400" y="3977639"/>
            <a:ext cx="98755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 i="0">
                <a:solidFill>
                  <a:srgbClr val="FFFFFF"/>
                </a:solidFill>
                <a:latin typeface="Poppins"/>
              </a:rPr>
              <a:t>Búsqueda y síntesis de literatura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709160"/>
            <a:ext cx="8961120" cy="2308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lang="es-CO" sz="1500" b="0" i="0" dirty="0">
                <a:solidFill>
                  <a:srgbClr val="E2E8F0"/>
                </a:solidFill>
                <a:latin typeface="Lato"/>
              </a:rPr>
              <a:t>¿</a:t>
            </a:r>
            <a:r>
              <a:rPr sz="1500" b="0" i="0" dirty="0" err="1">
                <a:solidFill>
                  <a:srgbClr val="E2E8F0"/>
                </a:solidFill>
                <a:latin typeface="Lato"/>
              </a:rPr>
              <a:t>Cómo</a:t>
            </a:r>
            <a:r>
              <a:rPr sz="1500" b="0" i="0" dirty="0">
                <a:solidFill>
                  <a:srgbClr val="E2E8F0"/>
                </a:solidFill>
                <a:latin typeface="Lato"/>
              </a:rPr>
              <a:t> </a:t>
            </a:r>
            <a:r>
              <a:rPr sz="1500" b="0" i="0" dirty="0" err="1">
                <a:solidFill>
                  <a:srgbClr val="E2E8F0"/>
                </a:solidFill>
                <a:latin typeface="Lato"/>
              </a:rPr>
              <a:t>construir</a:t>
            </a:r>
            <a:r>
              <a:rPr sz="1500" b="0" i="0" dirty="0">
                <a:solidFill>
                  <a:srgbClr val="E2E8F0"/>
                </a:solidFill>
                <a:latin typeface="Lato"/>
              </a:rPr>
              <a:t> un </a:t>
            </a:r>
            <a:r>
              <a:rPr sz="1500" b="0" i="0" dirty="0" err="1">
                <a:solidFill>
                  <a:srgbClr val="E2E8F0"/>
                </a:solidFill>
                <a:latin typeface="Lato"/>
              </a:rPr>
              <a:t>estado</a:t>
            </a:r>
            <a:r>
              <a:rPr sz="1500" b="0" i="0" dirty="0">
                <a:solidFill>
                  <a:srgbClr val="E2E8F0"/>
                </a:solidFill>
                <a:latin typeface="Lato"/>
              </a:rPr>
              <a:t> del </a:t>
            </a:r>
            <a:r>
              <a:rPr sz="1500" b="0" i="0" dirty="0" err="1">
                <a:solidFill>
                  <a:srgbClr val="E2E8F0"/>
                </a:solidFill>
                <a:latin typeface="Lato"/>
              </a:rPr>
              <a:t>arte</a:t>
            </a:r>
            <a:r>
              <a:rPr sz="1500" b="0" i="0" dirty="0">
                <a:solidFill>
                  <a:srgbClr val="E2E8F0"/>
                </a:solidFill>
                <a:latin typeface="Lato"/>
              </a:rPr>
              <a:t> </a:t>
            </a:r>
            <a:r>
              <a:rPr sz="1500" b="0" i="0" dirty="0" err="1">
                <a:solidFill>
                  <a:srgbClr val="E2E8F0"/>
                </a:solidFill>
                <a:latin typeface="Lato"/>
              </a:rPr>
              <a:t>sólido</a:t>
            </a:r>
            <a:r>
              <a:rPr sz="1500" b="0" i="0" dirty="0">
                <a:solidFill>
                  <a:srgbClr val="E2E8F0"/>
                </a:solidFill>
                <a:latin typeface="Lato"/>
              </a:rPr>
              <a:t> </a:t>
            </a:r>
            <a:r>
              <a:rPr sz="1500" b="0" i="0" dirty="0" err="1">
                <a:solidFill>
                  <a:srgbClr val="E2E8F0"/>
                </a:solidFill>
                <a:latin typeface="Lato"/>
              </a:rPr>
              <a:t>en</a:t>
            </a:r>
            <a:r>
              <a:rPr sz="1500" b="0" i="0" dirty="0">
                <a:solidFill>
                  <a:srgbClr val="E2E8F0"/>
                </a:solidFill>
                <a:latin typeface="Lato"/>
              </a:rPr>
              <a:t> </a:t>
            </a:r>
            <a:r>
              <a:rPr sz="1500" b="0" i="0" dirty="0" err="1">
                <a:solidFill>
                  <a:srgbClr val="E2E8F0"/>
                </a:solidFill>
                <a:latin typeface="Lato"/>
              </a:rPr>
              <a:t>minutos</a:t>
            </a:r>
            <a:r>
              <a:rPr sz="1500" b="0" i="0" dirty="0">
                <a:solidFill>
                  <a:srgbClr val="E2E8F0"/>
                </a:solidFill>
                <a:latin typeface="Lato"/>
              </a:rPr>
              <a:t>, sin </a:t>
            </a:r>
            <a:r>
              <a:rPr sz="1500" b="0" i="0" dirty="0" err="1">
                <a:solidFill>
                  <a:srgbClr val="E2E8F0"/>
                </a:solidFill>
                <a:latin typeface="Lato"/>
              </a:rPr>
              <a:t>sacrificar</a:t>
            </a:r>
            <a:r>
              <a:rPr sz="1500" b="0" i="0" dirty="0">
                <a:solidFill>
                  <a:srgbClr val="E2E8F0"/>
                </a:solidFill>
                <a:latin typeface="Lato"/>
              </a:rPr>
              <a:t> el rigor</a:t>
            </a:r>
            <a:r>
              <a:rPr lang="es-CO" sz="1500" b="0" i="0" dirty="0">
                <a:solidFill>
                  <a:srgbClr val="E2E8F0"/>
                </a:solidFill>
                <a:latin typeface="Lato"/>
              </a:rPr>
              <a:t>?</a:t>
            </a:r>
            <a:r>
              <a:rPr sz="1500" b="0" i="0" dirty="0">
                <a:solidFill>
                  <a:srgbClr val="E2E8F0"/>
                </a:solidFill>
                <a:latin typeface="Lato"/>
              </a:rPr>
              <a:t>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502920"/>
            <a:ext cx="107899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 spc="150">
                <a:solidFill>
                  <a:srgbClr val="0EA5E9"/>
                </a:solidFill>
                <a:latin typeface="Poppins"/>
              </a:rPr>
              <a:t>PARTE 02  ·  ECOSISTEMA CIENTÍFICO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32104"/>
            <a:ext cx="1078992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000" b="1" i="0">
                <a:solidFill>
                  <a:srgbClr val="0F172A"/>
                </a:solidFill>
                <a:latin typeface="Poppins"/>
              </a:rPr>
              <a:t>Consensus: evidencia, no opiniones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85800" y="1581912"/>
            <a:ext cx="502920" cy="0"/>
          </a:xfrm>
          <a:prstGeom prst="line">
            <a:avLst/>
          </a:prstGeom>
          <a:ln w="38100">
            <a:solidFill>
              <a:srgbClr val="38BDF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85800" y="1783080"/>
            <a:ext cx="10607040" cy="3840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1400"/>
              </a:spcAft>
            </a:pPr>
            <a:r>
              <a:rPr sz="1550" b="1" i="0">
                <a:solidFill>
                  <a:srgbClr val="0EA5E9"/>
                </a:solidFill>
                <a:latin typeface="Lato"/>
              </a:rPr>
              <a:t>—  Qué es  </a:t>
            </a:r>
            <a:r>
              <a:rPr sz="1550" b="0" i="0">
                <a:solidFill>
                  <a:srgbClr val="475569"/>
                </a:solidFill>
                <a:latin typeface="Lato"/>
              </a:rPr>
              <a:t>un buscador de IA que responde preguntas científicas citando exclusivamente artículos revisados por pares.</a:t>
            </a:r>
          </a:p>
          <a:p>
            <a:pPr>
              <a:lnSpc>
                <a:spcPct val="108000"/>
              </a:lnSpc>
              <a:spcAft>
                <a:spcPts val="1400"/>
              </a:spcAft>
            </a:pPr>
            <a:r>
              <a:rPr sz="1550" b="1" i="0">
                <a:solidFill>
                  <a:srgbClr val="0EA5E9"/>
                </a:solidFill>
                <a:latin typeface="Lato"/>
              </a:rPr>
              <a:t>—  Consensus Meter  </a:t>
            </a:r>
            <a:r>
              <a:rPr sz="1550" b="0" i="0">
                <a:solidFill>
                  <a:srgbClr val="475569"/>
                </a:solidFill>
                <a:latin typeface="Lato"/>
              </a:rPr>
              <a:t>sintetiza si la evidencia disponible respalda, contradice o es mixta frente a una afirmación.</a:t>
            </a:r>
          </a:p>
          <a:p>
            <a:pPr>
              <a:lnSpc>
                <a:spcPct val="108000"/>
              </a:lnSpc>
              <a:spcAft>
                <a:spcPts val="1400"/>
              </a:spcAft>
            </a:pPr>
            <a:r>
              <a:rPr sz="1550" b="1" i="0">
                <a:solidFill>
                  <a:srgbClr val="0EA5E9"/>
                </a:solidFill>
                <a:latin typeface="Lato"/>
              </a:rPr>
              <a:t>—  Copiloto de síntesis  </a:t>
            </a:r>
            <a:r>
              <a:rPr sz="1550" b="0" i="0">
                <a:solidFill>
                  <a:srgbClr val="475569"/>
                </a:solidFill>
                <a:latin typeface="Lato"/>
              </a:rPr>
              <a:t>genera resúmenes comparativos entre varios estudios, con enlace directo a la fuente.</a:t>
            </a:r>
          </a:p>
          <a:p>
            <a:pPr>
              <a:lnSpc>
                <a:spcPct val="108000"/>
              </a:lnSpc>
              <a:spcAft>
                <a:spcPts val="1400"/>
              </a:spcAft>
            </a:pPr>
            <a:r>
              <a:rPr sz="1550" b="1" i="0">
                <a:solidFill>
                  <a:srgbClr val="0EA5E9"/>
                </a:solidFill>
                <a:latin typeface="Lato"/>
              </a:rPr>
              <a:t>—  Por qué importa  </a:t>
            </a:r>
            <a:r>
              <a:rPr sz="1550" b="0" i="0">
                <a:solidFill>
                  <a:srgbClr val="475569"/>
                </a:solidFill>
                <a:latin typeface="Lato"/>
              </a:rPr>
              <a:t>reduce el riesgo de alucinaciones: cada frase generada es trazable a un paper real.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510528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94A3B8"/>
                </a:solidFill>
                <a:latin typeface="Lato"/>
              </a:rPr>
              <a:t>IA en la Investigación Científica  ·  CBATA — TdeA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10528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94A3B8"/>
                </a:solidFill>
                <a:latin typeface="Lato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502920"/>
            <a:ext cx="107899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 spc="150">
                <a:solidFill>
                  <a:srgbClr val="0EA5E9"/>
                </a:solidFill>
                <a:latin typeface="Poppins"/>
              </a:rPr>
              <a:t>PARTE 02  ·  INSTALACIÓN Y ACCESO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32104"/>
            <a:ext cx="1078992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000" b="1" i="0">
                <a:solidFill>
                  <a:srgbClr val="0F172A"/>
                </a:solidFill>
                <a:latin typeface="Poppins"/>
              </a:rPr>
              <a:t>Cómo empezar a usar Consensus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85800" y="1581912"/>
            <a:ext cx="502920" cy="0"/>
          </a:xfrm>
          <a:prstGeom prst="line">
            <a:avLst/>
          </a:prstGeom>
          <a:ln w="38100">
            <a:solidFill>
              <a:srgbClr val="38BDF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85800" y="1783080"/>
            <a:ext cx="106070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1">
                <a:solidFill>
                  <a:srgbClr val="475569"/>
                </a:solidFill>
                <a:latin typeface="Lato"/>
              </a:rPr>
              <a:t>Toma menos de 5 minutos dejarlo listo:</a:t>
            </a:r>
          </a:p>
        </p:txBody>
      </p:sp>
      <p:sp>
        <p:nvSpPr>
          <p:cNvPr id="6" name="Oval 5"/>
          <p:cNvSpPr/>
          <p:nvPr/>
        </p:nvSpPr>
        <p:spPr>
          <a:xfrm>
            <a:off x="685800" y="2331720"/>
            <a:ext cx="384048" cy="384048"/>
          </a:xfrm>
          <a:prstGeom prst="ellipse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500" b="1" i="0">
                <a:solidFill>
                  <a:srgbClr val="0F172A"/>
                </a:solidFill>
                <a:latin typeface="Poppins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52728" y="2313432"/>
            <a:ext cx="1025042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F172A"/>
                </a:solidFill>
                <a:latin typeface="Poppins"/>
              </a:rPr>
              <a:t>Crear cuenta gratuita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52728" y="2624328"/>
            <a:ext cx="10250424" cy="71094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80" b="0" i="0">
                <a:solidFill>
                  <a:srgbClr val="475569"/>
                </a:solidFill>
                <a:latin typeface="Lato"/>
              </a:rPr>
              <a:t>Ingresa a consensus.app y regístrate con tu correo institucional o cuenta de Google.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877824" y="2734056"/>
            <a:ext cx="0" cy="619506"/>
          </a:xfrm>
          <a:prstGeom prst="line">
            <a:avLst/>
          </a:prstGeom>
          <a:ln w="15875">
            <a:solidFill>
              <a:srgbClr val="E2E8F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685800" y="3371850"/>
            <a:ext cx="384048" cy="384048"/>
          </a:xfrm>
          <a:prstGeom prst="ellipse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500" b="1" i="0">
                <a:solidFill>
                  <a:srgbClr val="0F172A"/>
                </a:solidFill>
                <a:latin typeface="Poppins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52728" y="3353562"/>
            <a:ext cx="1025042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F172A"/>
                </a:solidFill>
                <a:latin typeface="Poppins"/>
              </a:rPr>
              <a:t>Explorar el plan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52728" y="3664458"/>
            <a:ext cx="10250424" cy="71094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80" b="0" i="0">
                <a:solidFill>
                  <a:srgbClr val="475569"/>
                </a:solidFill>
                <a:latin typeface="Lato"/>
              </a:rPr>
              <a:t>El plan gratuito permite búsquedas ilimitadas; el plan Premium añade el Copiloto de síntesis y extracción de tablas.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877824" y="3774186"/>
            <a:ext cx="0" cy="619506"/>
          </a:xfrm>
          <a:prstGeom prst="line">
            <a:avLst/>
          </a:prstGeom>
          <a:ln w="15875">
            <a:solidFill>
              <a:srgbClr val="E2E8F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Oval 13"/>
          <p:cNvSpPr/>
          <p:nvPr/>
        </p:nvSpPr>
        <p:spPr>
          <a:xfrm>
            <a:off x="685800" y="4411980"/>
            <a:ext cx="384048" cy="384048"/>
          </a:xfrm>
          <a:prstGeom prst="ellipse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500" b="1" i="0">
                <a:solidFill>
                  <a:srgbClr val="0F172A"/>
                </a:solidFill>
                <a:latin typeface="Poppins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52728" y="4393692"/>
            <a:ext cx="1025042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F172A"/>
                </a:solidFill>
                <a:latin typeface="Poppins"/>
              </a:rPr>
              <a:t>Instalar la extensión (opcional)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52728" y="4704588"/>
            <a:ext cx="10250424" cy="71094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80" b="0" i="0">
                <a:solidFill>
                  <a:srgbClr val="475569"/>
                </a:solidFill>
                <a:latin typeface="Lato"/>
              </a:rPr>
              <a:t>Disponible para Chrome: permite verificar afirmaciones científicas mientras navegas cualquier página.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77824" y="4814316"/>
            <a:ext cx="0" cy="619506"/>
          </a:xfrm>
          <a:prstGeom prst="line">
            <a:avLst/>
          </a:prstGeom>
          <a:ln w="15875">
            <a:solidFill>
              <a:srgbClr val="E2E8F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Oval 17"/>
          <p:cNvSpPr/>
          <p:nvPr/>
        </p:nvSpPr>
        <p:spPr>
          <a:xfrm>
            <a:off x="685800" y="5452110"/>
            <a:ext cx="384048" cy="384048"/>
          </a:xfrm>
          <a:prstGeom prst="ellipse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500" b="1" i="0">
                <a:solidFill>
                  <a:srgbClr val="0F172A"/>
                </a:solidFill>
                <a:latin typeface="Poppins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52728" y="5433822"/>
            <a:ext cx="1025042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F172A"/>
                </a:solidFill>
                <a:latin typeface="Poppins"/>
              </a:rPr>
              <a:t>Ajustar filtros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52728" y="5744718"/>
            <a:ext cx="10250424" cy="71094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80" b="0" i="0">
                <a:solidFill>
                  <a:srgbClr val="475569"/>
                </a:solidFill>
                <a:latin typeface="Lato"/>
              </a:rPr>
              <a:t>Configura filtros por año, tipo de estudio y campo disciplinar antes de tu primera búsqueda.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6510528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94A3B8"/>
                </a:solidFill>
                <a:latin typeface="Lato"/>
              </a:rPr>
              <a:t>IA en la Investigación Científica  ·  CBATA — TdeA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789920" y="6510528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94A3B8"/>
                </a:solidFill>
                <a:latin typeface="Lato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502920"/>
            <a:ext cx="107899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 spc="150">
                <a:solidFill>
                  <a:srgbClr val="0EA5E9"/>
                </a:solidFill>
                <a:latin typeface="Poppins"/>
              </a:rPr>
              <a:t>PARTE 02  ·  USO EN LA PRÁCTICA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32104"/>
            <a:ext cx="1078992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000" b="1" i="0">
                <a:solidFill>
                  <a:srgbClr val="0F172A"/>
                </a:solidFill>
                <a:latin typeface="Poppins"/>
              </a:rPr>
              <a:t>Cómo formular buenas preguntas en Consensus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85800" y="1581912"/>
            <a:ext cx="502920" cy="0"/>
          </a:xfrm>
          <a:prstGeom prst="line">
            <a:avLst/>
          </a:prstGeom>
          <a:ln w="38100">
            <a:solidFill>
              <a:srgbClr val="38BDF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85800" y="1783080"/>
            <a:ext cx="106070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 i="1">
                <a:solidFill>
                  <a:srgbClr val="475569"/>
                </a:solidFill>
                <a:latin typeface="Lato"/>
              </a:rPr>
              <a:t>La calidad de la respuesta depende directamente de la calidad de la pregunta: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350008"/>
            <a:ext cx="10607040" cy="3840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1400"/>
              </a:spcAft>
            </a:pPr>
            <a:r>
              <a:rPr sz="1550" b="1" i="0">
                <a:solidFill>
                  <a:srgbClr val="0EA5E9"/>
                </a:solidFill>
                <a:latin typeface="Lato"/>
              </a:rPr>
              <a:t>—  Sé específico  </a:t>
            </a:r>
            <a:r>
              <a:rPr sz="1550" b="0" i="0">
                <a:solidFill>
                  <a:srgbClr val="475569"/>
                </a:solidFill>
                <a:latin typeface="Lato"/>
              </a:rPr>
              <a:t>en vez de "contaminación del aire", pregunta "¿la altura de la capa límite influye en la dispersión de PM2.5 en zonas urbanas?".</a:t>
            </a:r>
          </a:p>
          <a:p>
            <a:pPr>
              <a:lnSpc>
                <a:spcPct val="108000"/>
              </a:lnSpc>
              <a:spcAft>
                <a:spcPts val="1400"/>
              </a:spcAft>
            </a:pPr>
            <a:r>
              <a:rPr sz="1550" b="1" i="0">
                <a:solidFill>
                  <a:srgbClr val="0EA5E9"/>
                </a:solidFill>
                <a:latin typeface="Lato"/>
              </a:rPr>
              <a:t>—  Usa preguntas cerradas  </a:t>
            </a:r>
            <a:r>
              <a:rPr sz="1550" b="0" i="0">
                <a:solidFill>
                  <a:srgbClr val="475569"/>
                </a:solidFill>
                <a:latin typeface="Lato"/>
              </a:rPr>
              <a:t>Consensus responde mejor preguntas que admiten evidencia a favor/en contra.</a:t>
            </a:r>
          </a:p>
          <a:p>
            <a:pPr>
              <a:lnSpc>
                <a:spcPct val="108000"/>
              </a:lnSpc>
              <a:spcAft>
                <a:spcPts val="1400"/>
              </a:spcAft>
            </a:pPr>
            <a:r>
              <a:rPr sz="1550" b="1" i="0">
                <a:solidFill>
                  <a:srgbClr val="0EA5E9"/>
                </a:solidFill>
                <a:latin typeface="Lato"/>
              </a:rPr>
              <a:t>—  Cruza con Gemini o Claude  </a:t>
            </a:r>
            <a:r>
              <a:rPr sz="1550" b="0" i="0">
                <a:solidFill>
                  <a:srgbClr val="475569"/>
                </a:solidFill>
                <a:latin typeface="Lato"/>
              </a:rPr>
              <a:t>pide al modelo de IA que organice los hallazgos de Consensus en una tabla comparativa o un borrador de estado del arte.</a:t>
            </a:r>
          </a:p>
          <a:p>
            <a:pPr>
              <a:lnSpc>
                <a:spcPct val="108000"/>
              </a:lnSpc>
              <a:spcAft>
                <a:spcPts val="1400"/>
              </a:spcAft>
            </a:pPr>
            <a:r>
              <a:rPr sz="1550" b="1" i="0">
                <a:solidFill>
                  <a:srgbClr val="0EA5E9"/>
                </a:solidFill>
                <a:latin typeface="Lato"/>
              </a:rPr>
              <a:t>—  Verifica siempre la fuente  </a:t>
            </a:r>
            <a:r>
              <a:rPr sz="1550" b="0" i="0">
                <a:solidFill>
                  <a:srgbClr val="475569"/>
                </a:solidFill>
                <a:latin typeface="Lato"/>
              </a:rPr>
              <a:t>abre el artículo original antes de citarlo en tu manuscrito.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510528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94A3B8"/>
                </a:solidFill>
                <a:latin typeface="Lato"/>
              </a:rPr>
              <a:t>IA en la Investigación Científica  ·  CBATA — TdeA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510528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94A3B8"/>
                </a:solidFill>
                <a:latin typeface="Lato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685800" y="594360"/>
            <a:ext cx="2834640" cy="384048"/>
          </a:xfrm>
          <a:prstGeom prst="roundRect">
            <a:avLst>
              <a:gd name="adj" fmla="val 50000"/>
            </a:avLst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200" b="1" i="0">
                <a:solidFill>
                  <a:srgbClr val="0F172A"/>
                </a:solidFill>
                <a:latin typeface="Poppins"/>
              </a:rPr>
              <a:t>MOMENTO PRÁCTICO 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234440"/>
            <a:ext cx="105156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Poppins"/>
              </a:rPr>
              <a:t>Revisión de literatura en vivo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2240280"/>
            <a:ext cx="10817352" cy="141732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60120" y="2240280"/>
            <a:ext cx="10241280" cy="1417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1" dirty="0">
                <a:solidFill>
                  <a:srgbClr val="38BDF8"/>
                </a:solidFill>
                <a:latin typeface="Lato"/>
              </a:rPr>
              <a:t>“</a:t>
            </a:r>
            <a:r>
              <a:rPr sz="1600" b="0" i="1" dirty="0" err="1">
                <a:solidFill>
                  <a:srgbClr val="38BDF8"/>
                </a:solidFill>
                <a:latin typeface="Lato"/>
              </a:rPr>
              <a:t>Influencia</a:t>
            </a:r>
            <a:r>
              <a:rPr sz="1600" b="0" i="1" dirty="0">
                <a:solidFill>
                  <a:srgbClr val="38BDF8"/>
                </a:solidFill>
                <a:latin typeface="Lato"/>
              </a:rPr>
              <a:t> de la </a:t>
            </a:r>
            <a:r>
              <a:rPr sz="1600" b="0" i="1" dirty="0" err="1">
                <a:solidFill>
                  <a:srgbClr val="38BDF8"/>
                </a:solidFill>
                <a:latin typeface="Lato"/>
              </a:rPr>
              <a:t>altura</a:t>
            </a:r>
            <a:r>
              <a:rPr sz="1600" b="0" i="1" dirty="0">
                <a:solidFill>
                  <a:srgbClr val="38BDF8"/>
                </a:solidFill>
                <a:latin typeface="Lato"/>
              </a:rPr>
              <a:t> de la </a:t>
            </a:r>
            <a:r>
              <a:rPr sz="1600" b="0" i="1" dirty="0" err="1">
                <a:solidFill>
                  <a:srgbClr val="38BDF8"/>
                </a:solidFill>
                <a:latin typeface="Lato"/>
              </a:rPr>
              <a:t>capa</a:t>
            </a:r>
            <a:r>
              <a:rPr sz="1600" b="0" i="1" dirty="0">
                <a:solidFill>
                  <a:srgbClr val="38BDF8"/>
                </a:solidFill>
                <a:latin typeface="Lato"/>
              </a:rPr>
              <a:t> </a:t>
            </a:r>
            <a:r>
              <a:rPr sz="1600" b="0" i="1" dirty="0" err="1">
                <a:solidFill>
                  <a:srgbClr val="38BDF8"/>
                </a:solidFill>
                <a:latin typeface="Lato"/>
              </a:rPr>
              <a:t>límite</a:t>
            </a:r>
            <a:r>
              <a:rPr sz="1600" b="0" i="1" dirty="0">
                <a:solidFill>
                  <a:srgbClr val="38BDF8"/>
                </a:solidFill>
                <a:latin typeface="Lato"/>
              </a:rPr>
              <a:t> planetaria </a:t>
            </a:r>
            <a:r>
              <a:rPr sz="1600" b="0" i="1" dirty="0" err="1">
                <a:solidFill>
                  <a:srgbClr val="38BDF8"/>
                </a:solidFill>
                <a:latin typeface="Lato"/>
              </a:rPr>
              <a:t>en</a:t>
            </a:r>
            <a:r>
              <a:rPr sz="1600" b="0" i="1" dirty="0">
                <a:solidFill>
                  <a:srgbClr val="38BDF8"/>
                </a:solidFill>
                <a:latin typeface="Lato"/>
              </a:rPr>
              <a:t> la </a:t>
            </a:r>
            <a:r>
              <a:rPr sz="1600" b="0" i="1" dirty="0" err="1">
                <a:solidFill>
                  <a:srgbClr val="38BDF8"/>
                </a:solidFill>
                <a:latin typeface="Lato"/>
              </a:rPr>
              <a:t>dispersión</a:t>
            </a:r>
            <a:r>
              <a:rPr sz="1600" b="0" i="1" dirty="0">
                <a:solidFill>
                  <a:srgbClr val="38BDF8"/>
                </a:solidFill>
                <a:latin typeface="Lato"/>
              </a:rPr>
              <a:t> de PM2.5 </a:t>
            </a:r>
            <a:r>
              <a:rPr sz="1600" b="0" i="1" dirty="0" err="1">
                <a:solidFill>
                  <a:srgbClr val="38BDF8"/>
                </a:solidFill>
                <a:latin typeface="Lato"/>
              </a:rPr>
              <a:t>en</a:t>
            </a:r>
            <a:r>
              <a:rPr sz="1600" b="0" i="1" dirty="0">
                <a:solidFill>
                  <a:srgbClr val="38BDF8"/>
                </a:solidFill>
                <a:latin typeface="Lato"/>
              </a:rPr>
              <a:t> </a:t>
            </a:r>
            <a:r>
              <a:rPr sz="1600" b="0" i="1" dirty="0" err="1">
                <a:solidFill>
                  <a:srgbClr val="38BDF8"/>
                </a:solidFill>
                <a:latin typeface="Lato"/>
              </a:rPr>
              <a:t>entornos</a:t>
            </a:r>
            <a:r>
              <a:rPr sz="1600" b="0" i="1" dirty="0">
                <a:solidFill>
                  <a:srgbClr val="38BDF8"/>
                </a:solidFill>
                <a:latin typeface="Lato"/>
              </a:rPr>
              <a:t> </a:t>
            </a:r>
            <a:r>
              <a:rPr sz="1600" b="0" i="1" dirty="0" err="1">
                <a:solidFill>
                  <a:srgbClr val="38BDF8"/>
                </a:solidFill>
                <a:latin typeface="Lato"/>
              </a:rPr>
              <a:t>urbanos</a:t>
            </a:r>
            <a:r>
              <a:rPr sz="1600" b="0" i="1" dirty="0">
                <a:solidFill>
                  <a:srgbClr val="38BDF8"/>
                </a:solidFill>
                <a:latin typeface="Lato"/>
              </a:rPr>
              <a:t> </a:t>
            </a:r>
            <a:r>
              <a:rPr sz="1600" b="0" i="1" dirty="0" err="1">
                <a:solidFill>
                  <a:srgbClr val="38BDF8"/>
                </a:solidFill>
                <a:latin typeface="Lato"/>
              </a:rPr>
              <a:t>complejos</a:t>
            </a:r>
            <a:r>
              <a:rPr sz="1600" b="0" i="1" dirty="0">
                <a:solidFill>
                  <a:srgbClr val="38BDF8"/>
                </a:solidFill>
                <a:latin typeface="Lato"/>
              </a:rPr>
              <a:t>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977639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 spc="100">
                <a:solidFill>
                  <a:srgbClr val="94A3B8"/>
                </a:solidFill>
                <a:latin typeface="Poppins"/>
              </a:rPr>
              <a:t>EN ESTE EJERCICIO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4343400"/>
            <a:ext cx="10607040" cy="9103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350" b="1" i="0" dirty="0">
                <a:solidFill>
                  <a:srgbClr val="38BDF8"/>
                </a:solidFill>
                <a:latin typeface="Lato"/>
              </a:rPr>
              <a:t>›  </a:t>
            </a:r>
            <a:r>
              <a:rPr sz="1350" b="0" i="0" dirty="0">
                <a:solidFill>
                  <a:srgbClr val="E2E8F0"/>
                </a:solidFill>
                <a:latin typeface="Lato"/>
              </a:rPr>
              <a:t>Cada </a:t>
            </a:r>
            <a:r>
              <a:rPr sz="1350" b="0" i="0" dirty="0" err="1">
                <a:solidFill>
                  <a:srgbClr val="E2E8F0"/>
                </a:solidFill>
                <a:latin typeface="Lato"/>
              </a:rPr>
              <a:t>participante</a:t>
            </a:r>
            <a:r>
              <a:rPr sz="1350" b="0" i="0" dirty="0">
                <a:solidFill>
                  <a:srgbClr val="E2E8F0"/>
                </a:solidFill>
                <a:latin typeface="Lato"/>
              </a:rPr>
              <a:t> formula </a:t>
            </a:r>
            <a:r>
              <a:rPr sz="1350" b="0" i="0" dirty="0" err="1">
                <a:solidFill>
                  <a:srgbClr val="E2E8F0"/>
                </a:solidFill>
                <a:latin typeface="Lato"/>
              </a:rPr>
              <a:t>su</a:t>
            </a:r>
            <a:r>
              <a:rPr sz="1350" b="0" i="0" dirty="0">
                <a:solidFill>
                  <a:srgbClr val="E2E8F0"/>
                </a:solidFill>
                <a:latin typeface="Lato"/>
              </a:rPr>
              <a:t> </a:t>
            </a:r>
            <a:r>
              <a:rPr sz="1350" b="0" i="0" dirty="0" err="1">
                <a:solidFill>
                  <a:srgbClr val="E2E8F0"/>
                </a:solidFill>
                <a:latin typeface="Lato"/>
              </a:rPr>
              <a:t>propia</a:t>
            </a:r>
            <a:r>
              <a:rPr sz="1350" b="0" i="0" dirty="0">
                <a:solidFill>
                  <a:srgbClr val="E2E8F0"/>
                </a:solidFill>
                <a:latin typeface="Lato"/>
              </a:rPr>
              <a:t> </a:t>
            </a:r>
            <a:r>
              <a:rPr sz="1350" b="0" i="0" dirty="0" err="1">
                <a:solidFill>
                  <a:srgbClr val="E2E8F0"/>
                </a:solidFill>
                <a:latin typeface="Lato"/>
              </a:rPr>
              <a:t>pregunta</a:t>
            </a:r>
            <a:r>
              <a:rPr sz="1350" b="0" i="0" dirty="0">
                <a:solidFill>
                  <a:srgbClr val="E2E8F0"/>
                </a:solidFill>
                <a:latin typeface="Lato"/>
              </a:rPr>
              <a:t> de </a:t>
            </a:r>
            <a:r>
              <a:rPr sz="1350" b="0" i="0" dirty="0" err="1">
                <a:solidFill>
                  <a:srgbClr val="E2E8F0"/>
                </a:solidFill>
                <a:latin typeface="Lato"/>
              </a:rPr>
              <a:t>investigación</a:t>
            </a:r>
            <a:r>
              <a:rPr sz="1350" b="0" i="0" dirty="0">
                <a:solidFill>
                  <a:srgbClr val="E2E8F0"/>
                </a:solidFill>
                <a:latin typeface="Lato"/>
              </a:rPr>
              <a:t> </a:t>
            </a:r>
            <a:r>
              <a:rPr sz="1350" b="0" i="0" dirty="0" err="1">
                <a:solidFill>
                  <a:srgbClr val="E2E8F0"/>
                </a:solidFill>
                <a:latin typeface="Lato"/>
              </a:rPr>
              <a:t>en</a:t>
            </a:r>
            <a:r>
              <a:rPr sz="1350" b="0" i="0" dirty="0">
                <a:solidFill>
                  <a:srgbClr val="E2E8F0"/>
                </a:solidFill>
                <a:latin typeface="Lato"/>
              </a:rPr>
              <a:t> Consensus.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350" b="1" i="0" dirty="0">
                <a:solidFill>
                  <a:srgbClr val="38BDF8"/>
                </a:solidFill>
                <a:latin typeface="Lato"/>
              </a:rPr>
              <a:t>›  </a:t>
            </a:r>
            <a:r>
              <a:rPr sz="1350" b="0" i="0" dirty="0" err="1">
                <a:solidFill>
                  <a:srgbClr val="E2E8F0"/>
                </a:solidFill>
                <a:latin typeface="Lato"/>
              </a:rPr>
              <a:t>Identificamos</a:t>
            </a:r>
            <a:r>
              <a:rPr sz="1350" b="0" i="0" dirty="0">
                <a:solidFill>
                  <a:srgbClr val="E2E8F0"/>
                </a:solidFill>
                <a:latin typeface="Lato"/>
              </a:rPr>
              <a:t> y </a:t>
            </a:r>
            <a:r>
              <a:rPr sz="1350" b="0" i="0" dirty="0" err="1">
                <a:solidFill>
                  <a:srgbClr val="E2E8F0"/>
                </a:solidFill>
                <a:latin typeface="Lato"/>
              </a:rPr>
              <a:t>contrastamos</a:t>
            </a:r>
            <a:r>
              <a:rPr sz="1350" b="0" i="0" dirty="0">
                <a:solidFill>
                  <a:srgbClr val="E2E8F0"/>
                </a:solidFill>
                <a:latin typeface="Lato"/>
              </a:rPr>
              <a:t> 2–3 </a:t>
            </a:r>
            <a:r>
              <a:rPr sz="1350" b="0" i="0" dirty="0" err="1">
                <a:solidFill>
                  <a:srgbClr val="E2E8F0"/>
                </a:solidFill>
                <a:latin typeface="Lato"/>
              </a:rPr>
              <a:t>fuentes</a:t>
            </a:r>
            <a:r>
              <a:rPr sz="1350" b="0" i="0" dirty="0">
                <a:solidFill>
                  <a:srgbClr val="E2E8F0"/>
                </a:solidFill>
                <a:latin typeface="Lato"/>
              </a:rPr>
              <a:t> </a:t>
            </a:r>
            <a:r>
              <a:rPr sz="1350" b="0" i="0" dirty="0" err="1">
                <a:solidFill>
                  <a:srgbClr val="E2E8F0"/>
                </a:solidFill>
                <a:latin typeface="Lato"/>
              </a:rPr>
              <a:t>citadas</a:t>
            </a:r>
            <a:r>
              <a:rPr sz="1350" b="0" i="0" dirty="0">
                <a:solidFill>
                  <a:srgbClr val="E2E8F0"/>
                </a:solidFill>
                <a:latin typeface="Lato"/>
              </a:rPr>
              <a:t>.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350" b="1" i="0" dirty="0">
                <a:solidFill>
                  <a:srgbClr val="38BDF8"/>
                </a:solidFill>
                <a:latin typeface="Lato"/>
              </a:rPr>
              <a:t>›  </a:t>
            </a:r>
            <a:r>
              <a:rPr sz="1350" b="0" i="0" dirty="0" err="1">
                <a:solidFill>
                  <a:srgbClr val="E2E8F0"/>
                </a:solidFill>
                <a:latin typeface="Lato"/>
              </a:rPr>
              <a:t>Pedimos</a:t>
            </a:r>
            <a:r>
              <a:rPr sz="1350" b="0" i="0" dirty="0">
                <a:solidFill>
                  <a:srgbClr val="E2E8F0"/>
                </a:solidFill>
                <a:latin typeface="Lato"/>
              </a:rPr>
              <a:t> a Gemini o Claude </a:t>
            </a:r>
            <a:r>
              <a:rPr sz="1350" b="0" i="0" dirty="0" err="1">
                <a:solidFill>
                  <a:srgbClr val="E2E8F0"/>
                </a:solidFill>
                <a:latin typeface="Lato"/>
              </a:rPr>
              <a:t>que</a:t>
            </a:r>
            <a:r>
              <a:rPr sz="1350" b="0" i="0" dirty="0">
                <a:solidFill>
                  <a:srgbClr val="E2E8F0"/>
                </a:solidFill>
                <a:latin typeface="Lato"/>
              </a:rPr>
              <a:t> </a:t>
            </a:r>
            <a:r>
              <a:rPr sz="1350" b="0" i="0" dirty="0" err="1">
                <a:solidFill>
                  <a:srgbClr val="E2E8F0"/>
                </a:solidFill>
                <a:latin typeface="Lato"/>
              </a:rPr>
              <a:t>resuma</a:t>
            </a:r>
            <a:r>
              <a:rPr sz="1350" b="0" i="0" dirty="0">
                <a:solidFill>
                  <a:srgbClr val="E2E8F0"/>
                </a:solidFill>
                <a:latin typeface="Lato"/>
              </a:rPr>
              <a:t> </a:t>
            </a:r>
            <a:r>
              <a:rPr sz="1350" b="0" i="0" dirty="0" err="1">
                <a:solidFill>
                  <a:srgbClr val="E2E8F0"/>
                </a:solidFill>
                <a:latin typeface="Lato"/>
              </a:rPr>
              <a:t>los</a:t>
            </a:r>
            <a:r>
              <a:rPr sz="1350" b="0" i="0" dirty="0">
                <a:solidFill>
                  <a:srgbClr val="E2E8F0"/>
                </a:solidFill>
                <a:latin typeface="Lato"/>
              </a:rPr>
              <a:t> </a:t>
            </a:r>
            <a:r>
              <a:rPr sz="1350" b="0" i="0" dirty="0" err="1">
                <a:solidFill>
                  <a:srgbClr val="E2E8F0"/>
                </a:solidFill>
                <a:latin typeface="Lato"/>
              </a:rPr>
              <a:t>hallazgos</a:t>
            </a:r>
            <a:r>
              <a:rPr sz="1350" b="0" i="0" dirty="0">
                <a:solidFill>
                  <a:srgbClr val="E2E8F0"/>
                </a:solidFill>
                <a:latin typeface="Lato"/>
              </a:rPr>
              <a:t> </a:t>
            </a:r>
            <a:r>
              <a:rPr sz="1350" b="0" i="0" dirty="0" err="1">
                <a:solidFill>
                  <a:srgbClr val="E2E8F0"/>
                </a:solidFill>
                <a:latin typeface="Lato"/>
              </a:rPr>
              <a:t>en</a:t>
            </a:r>
            <a:r>
              <a:rPr sz="1350" b="0" i="0" dirty="0">
                <a:solidFill>
                  <a:srgbClr val="E2E8F0"/>
                </a:solidFill>
                <a:latin typeface="Lato"/>
              </a:rPr>
              <a:t> </a:t>
            </a:r>
            <a:r>
              <a:rPr sz="1350" b="0" i="0" dirty="0" err="1">
                <a:solidFill>
                  <a:srgbClr val="E2E8F0"/>
                </a:solidFill>
                <a:latin typeface="Lato"/>
              </a:rPr>
              <a:t>cinco</a:t>
            </a:r>
            <a:r>
              <a:rPr sz="1350" b="0" i="0" dirty="0">
                <a:solidFill>
                  <a:srgbClr val="E2E8F0"/>
                </a:solidFill>
                <a:latin typeface="Lato"/>
              </a:rPr>
              <a:t> </a:t>
            </a:r>
            <a:r>
              <a:rPr sz="1350" b="0" i="0" dirty="0" err="1">
                <a:solidFill>
                  <a:srgbClr val="E2E8F0"/>
                </a:solidFill>
                <a:latin typeface="Lato"/>
              </a:rPr>
              <a:t>líneas</a:t>
            </a:r>
            <a:r>
              <a:rPr sz="1350" b="0" i="0" dirty="0">
                <a:solidFill>
                  <a:srgbClr val="E2E8F0"/>
                </a:solidFill>
                <a:latin typeface="Lato"/>
              </a:rPr>
              <a:t>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510528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94A3B8"/>
                </a:solidFill>
                <a:latin typeface="Lato"/>
              </a:rPr>
              <a:t>IA en la Investigación Científica  ·  CBATA — TdeA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0" y="6510528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94A3B8"/>
                </a:solidFill>
                <a:latin typeface="Lato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2331720"/>
            <a:ext cx="228600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0" b="1" i="0">
                <a:solidFill>
                  <a:srgbClr val="1E293B"/>
                </a:solidFill>
                <a:latin typeface="Poppins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331720"/>
            <a:ext cx="228600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0" b="1" i="0">
                <a:solidFill>
                  <a:srgbClr val="38BDF8"/>
                </a:solidFill>
                <a:latin typeface="Poppins"/>
              </a:rPr>
              <a:t>03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960120" y="3794760"/>
            <a:ext cx="594360" cy="0"/>
          </a:xfrm>
          <a:prstGeom prst="line">
            <a:avLst/>
          </a:prstGeom>
          <a:ln w="38100">
            <a:solidFill>
              <a:srgbClr val="38BDF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14400" y="3977639"/>
            <a:ext cx="98755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 i="0" dirty="0">
                <a:solidFill>
                  <a:srgbClr val="FFFFFF"/>
                </a:solidFill>
                <a:latin typeface="Poppins"/>
              </a:rPr>
              <a:t>El </a:t>
            </a:r>
            <a:r>
              <a:rPr sz="3200" b="1" i="0" dirty="0" err="1">
                <a:solidFill>
                  <a:srgbClr val="FFFFFF"/>
                </a:solidFill>
                <a:latin typeface="Poppins"/>
              </a:rPr>
              <a:t>entorno</a:t>
            </a:r>
            <a:r>
              <a:rPr sz="3200" b="1" i="0" dirty="0">
                <a:solidFill>
                  <a:srgbClr val="FFFFFF"/>
                </a:solidFill>
                <a:latin typeface="Poppins"/>
              </a:rPr>
              <a:t> de </a:t>
            </a:r>
            <a:r>
              <a:rPr sz="3200" b="1" i="0" dirty="0" err="1">
                <a:solidFill>
                  <a:srgbClr val="FFFFFF"/>
                </a:solidFill>
                <a:latin typeface="Poppins"/>
              </a:rPr>
              <a:t>desarrollo</a:t>
            </a:r>
            <a:r>
              <a:rPr sz="3200" b="1" i="0" dirty="0">
                <a:solidFill>
                  <a:srgbClr val="FFFFFF"/>
                </a:solidFill>
                <a:latin typeface="Poppins"/>
              </a:rPr>
              <a:t> agentic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709160"/>
            <a:ext cx="89611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E2E8F0"/>
                </a:solidFill>
                <a:latin typeface="Lato"/>
              </a:rPr>
              <a:t>VS Code como base y Antigravity como agente que escribe, prueba y documenta código.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502920"/>
            <a:ext cx="107899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 spc="150">
                <a:solidFill>
                  <a:srgbClr val="0EA5E9"/>
                </a:solidFill>
                <a:latin typeface="Poppins"/>
              </a:rPr>
              <a:t>PARTE 03  ·  LA BASE DEL ENTORNO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32104"/>
            <a:ext cx="1078992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000" b="1" i="0">
                <a:solidFill>
                  <a:srgbClr val="0F172A"/>
                </a:solidFill>
                <a:latin typeface="Poppins"/>
              </a:rPr>
              <a:t>Visual Studio Code: el editor universal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85800" y="1581912"/>
            <a:ext cx="502920" cy="0"/>
          </a:xfrm>
          <a:prstGeom prst="line">
            <a:avLst/>
          </a:prstGeom>
          <a:ln w="38100">
            <a:solidFill>
              <a:srgbClr val="38BDF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85800" y="1783080"/>
            <a:ext cx="10607040" cy="15470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1400"/>
              </a:spcAft>
            </a:pPr>
            <a:r>
              <a:rPr sz="1550" b="1" i="0" dirty="0">
                <a:solidFill>
                  <a:srgbClr val="0EA5E9"/>
                </a:solidFill>
                <a:latin typeface="Lato"/>
              </a:rPr>
              <a:t>—  </a:t>
            </a:r>
            <a:r>
              <a:rPr sz="1550" b="1" i="0" dirty="0" err="1">
                <a:solidFill>
                  <a:srgbClr val="0EA5E9"/>
                </a:solidFill>
                <a:latin typeface="Lato"/>
              </a:rPr>
              <a:t>Qué</a:t>
            </a:r>
            <a:r>
              <a:rPr sz="1550" b="1" i="0" dirty="0">
                <a:solidFill>
                  <a:srgbClr val="0EA5E9"/>
                </a:solidFill>
                <a:latin typeface="Lato"/>
              </a:rPr>
              <a:t> es  </a:t>
            </a:r>
            <a:r>
              <a:rPr sz="1550" b="0" i="0" dirty="0">
                <a:solidFill>
                  <a:srgbClr val="475569"/>
                </a:solidFill>
                <a:latin typeface="Lato"/>
              </a:rPr>
              <a:t>un editor de </a:t>
            </a:r>
            <a:r>
              <a:rPr sz="1550" b="0" i="0" dirty="0" err="1">
                <a:solidFill>
                  <a:srgbClr val="475569"/>
                </a:solidFill>
                <a:latin typeface="Lato"/>
              </a:rPr>
              <a:t>código</a:t>
            </a:r>
            <a:r>
              <a:rPr sz="1550" b="0" i="0" dirty="0">
                <a:solidFill>
                  <a:srgbClr val="475569"/>
                </a:solidFill>
                <a:latin typeface="Lato"/>
              </a:rPr>
              <a:t> </a:t>
            </a:r>
            <a:r>
              <a:rPr sz="1550" b="0" i="0" dirty="0" err="1">
                <a:solidFill>
                  <a:srgbClr val="475569"/>
                </a:solidFill>
                <a:latin typeface="Lato"/>
              </a:rPr>
              <a:t>gratuito</a:t>
            </a:r>
            <a:r>
              <a:rPr sz="1550" b="0" i="0" dirty="0">
                <a:solidFill>
                  <a:srgbClr val="475569"/>
                </a:solidFill>
                <a:latin typeface="Lato"/>
              </a:rPr>
              <a:t> y </a:t>
            </a:r>
            <a:r>
              <a:rPr sz="1550" b="0" i="0" dirty="0" err="1">
                <a:solidFill>
                  <a:srgbClr val="475569"/>
                </a:solidFill>
                <a:latin typeface="Lato"/>
              </a:rPr>
              <a:t>multiplataforma</a:t>
            </a:r>
            <a:r>
              <a:rPr sz="1550" b="0" i="0" dirty="0">
                <a:solidFill>
                  <a:srgbClr val="475569"/>
                </a:solidFill>
                <a:latin typeface="Lato"/>
              </a:rPr>
              <a:t> (Windows, macOS, Linux), </a:t>
            </a:r>
            <a:r>
              <a:rPr sz="1550" b="0" i="0" dirty="0" err="1">
                <a:solidFill>
                  <a:srgbClr val="475569"/>
                </a:solidFill>
                <a:latin typeface="Lato"/>
              </a:rPr>
              <a:t>estándar</a:t>
            </a:r>
            <a:r>
              <a:rPr sz="1550" b="0" i="0" dirty="0">
                <a:solidFill>
                  <a:srgbClr val="475569"/>
                </a:solidFill>
                <a:latin typeface="Lato"/>
              </a:rPr>
              <a:t> </a:t>
            </a:r>
            <a:r>
              <a:rPr sz="1550" b="0" i="0" dirty="0" err="1">
                <a:solidFill>
                  <a:srgbClr val="475569"/>
                </a:solidFill>
                <a:latin typeface="Lato"/>
              </a:rPr>
              <a:t>en</a:t>
            </a:r>
            <a:r>
              <a:rPr sz="1550" b="0" i="0" dirty="0">
                <a:solidFill>
                  <a:srgbClr val="475569"/>
                </a:solidFill>
                <a:latin typeface="Lato"/>
              </a:rPr>
              <a:t> </a:t>
            </a:r>
            <a:r>
              <a:rPr sz="1550" b="0" i="0" dirty="0" err="1">
                <a:solidFill>
                  <a:srgbClr val="475569"/>
                </a:solidFill>
                <a:latin typeface="Lato"/>
              </a:rPr>
              <a:t>desarrollo</a:t>
            </a:r>
            <a:r>
              <a:rPr sz="1550" b="0" i="0" dirty="0">
                <a:solidFill>
                  <a:srgbClr val="475569"/>
                </a:solidFill>
                <a:latin typeface="Lato"/>
              </a:rPr>
              <a:t> </a:t>
            </a:r>
            <a:r>
              <a:rPr sz="1550" b="0" i="0" dirty="0" err="1">
                <a:solidFill>
                  <a:srgbClr val="475569"/>
                </a:solidFill>
                <a:latin typeface="Lato"/>
              </a:rPr>
              <a:t>científico</a:t>
            </a:r>
            <a:r>
              <a:rPr sz="1550" b="0" i="0" dirty="0">
                <a:solidFill>
                  <a:srgbClr val="475569"/>
                </a:solidFill>
                <a:latin typeface="Lato"/>
              </a:rPr>
              <a:t>.</a:t>
            </a:r>
          </a:p>
          <a:p>
            <a:pPr>
              <a:lnSpc>
                <a:spcPct val="108000"/>
              </a:lnSpc>
              <a:spcAft>
                <a:spcPts val="1400"/>
              </a:spcAft>
            </a:pPr>
            <a:r>
              <a:rPr sz="1550" b="1" i="0" dirty="0">
                <a:solidFill>
                  <a:srgbClr val="0EA5E9"/>
                </a:solidFill>
                <a:latin typeface="Lato"/>
              </a:rPr>
              <a:t>—  Por </a:t>
            </a:r>
            <a:r>
              <a:rPr sz="1550" b="1" i="0" dirty="0" err="1">
                <a:solidFill>
                  <a:srgbClr val="0EA5E9"/>
                </a:solidFill>
                <a:latin typeface="Lato"/>
              </a:rPr>
              <a:t>qué</a:t>
            </a:r>
            <a:r>
              <a:rPr sz="1550" b="1" i="0" dirty="0">
                <a:solidFill>
                  <a:srgbClr val="0EA5E9"/>
                </a:solidFill>
                <a:latin typeface="Lato"/>
              </a:rPr>
              <a:t> </a:t>
            </a:r>
            <a:r>
              <a:rPr sz="1550" b="1" i="0" dirty="0" err="1">
                <a:solidFill>
                  <a:srgbClr val="0EA5E9"/>
                </a:solidFill>
                <a:latin typeface="Lato"/>
              </a:rPr>
              <a:t>partir</a:t>
            </a:r>
            <a:r>
              <a:rPr sz="1550" b="1" i="0" dirty="0">
                <a:solidFill>
                  <a:srgbClr val="0EA5E9"/>
                </a:solidFill>
                <a:latin typeface="Lato"/>
              </a:rPr>
              <a:t> de </a:t>
            </a:r>
            <a:r>
              <a:rPr sz="1550" b="1" i="0" dirty="0" err="1">
                <a:solidFill>
                  <a:srgbClr val="0EA5E9"/>
                </a:solidFill>
                <a:latin typeface="Lato"/>
              </a:rPr>
              <a:t>aquí</a:t>
            </a:r>
            <a:r>
              <a:rPr sz="1550" b="1" i="0" dirty="0">
                <a:solidFill>
                  <a:srgbClr val="0EA5E9"/>
                </a:solidFill>
                <a:latin typeface="Lato"/>
              </a:rPr>
              <a:t>  </a:t>
            </a:r>
            <a:r>
              <a:rPr sz="1550" b="0" i="0" dirty="0">
                <a:solidFill>
                  <a:srgbClr val="475569"/>
                </a:solidFill>
                <a:latin typeface="Lato"/>
              </a:rPr>
              <a:t>Antigravity </a:t>
            </a:r>
            <a:r>
              <a:rPr sz="1550" b="0" i="0" dirty="0" err="1">
                <a:solidFill>
                  <a:srgbClr val="475569"/>
                </a:solidFill>
                <a:latin typeface="Lato"/>
              </a:rPr>
              <a:t>está</a:t>
            </a:r>
            <a:r>
              <a:rPr sz="1550" b="0" i="0" dirty="0">
                <a:solidFill>
                  <a:srgbClr val="475569"/>
                </a:solidFill>
                <a:latin typeface="Lato"/>
              </a:rPr>
              <a:t> </a:t>
            </a:r>
            <a:r>
              <a:rPr sz="1550" b="0" i="0" dirty="0" err="1">
                <a:solidFill>
                  <a:srgbClr val="475569"/>
                </a:solidFill>
                <a:latin typeface="Lato"/>
              </a:rPr>
              <a:t>construido</a:t>
            </a:r>
            <a:r>
              <a:rPr sz="1550" b="0" i="0" dirty="0">
                <a:solidFill>
                  <a:srgbClr val="475569"/>
                </a:solidFill>
                <a:latin typeface="Lato"/>
              </a:rPr>
              <a:t> </a:t>
            </a:r>
            <a:r>
              <a:rPr sz="1550" b="0" i="0" dirty="0" err="1">
                <a:solidFill>
                  <a:srgbClr val="475569"/>
                </a:solidFill>
                <a:latin typeface="Lato"/>
              </a:rPr>
              <a:t>sobre</a:t>
            </a:r>
            <a:r>
              <a:rPr sz="1550" b="0" i="0" dirty="0">
                <a:solidFill>
                  <a:srgbClr val="475569"/>
                </a:solidFill>
                <a:latin typeface="Lato"/>
              </a:rPr>
              <a:t> la </a:t>
            </a:r>
            <a:r>
              <a:rPr sz="1550" b="0" i="0" dirty="0" err="1">
                <a:solidFill>
                  <a:srgbClr val="475569"/>
                </a:solidFill>
                <a:latin typeface="Lato"/>
              </a:rPr>
              <a:t>misma</a:t>
            </a:r>
            <a:r>
              <a:rPr sz="1550" b="0" i="0" dirty="0">
                <a:solidFill>
                  <a:srgbClr val="475569"/>
                </a:solidFill>
                <a:latin typeface="Lato"/>
              </a:rPr>
              <a:t> base, </a:t>
            </a:r>
            <a:r>
              <a:rPr sz="1550" b="0" i="0" dirty="0" err="1">
                <a:solidFill>
                  <a:srgbClr val="475569"/>
                </a:solidFill>
                <a:latin typeface="Lato"/>
              </a:rPr>
              <a:t>así</a:t>
            </a:r>
            <a:r>
              <a:rPr sz="1550" b="0" i="0" dirty="0">
                <a:solidFill>
                  <a:srgbClr val="475569"/>
                </a:solidFill>
                <a:latin typeface="Lato"/>
              </a:rPr>
              <a:t> </a:t>
            </a:r>
            <a:r>
              <a:rPr sz="1550" b="0" i="0" dirty="0" err="1">
                <a:solidFill>
                  <a:srgbClr val="475569"/>
                </a:solidFill>
                <a:latin typeface="Lato"/>
              </a:rPr>
              <a:t>que</a:t>
            </a:r>
            <a:r>
              <a:rPr sz="1550" b="0" i="0" dirty="0">
                <a:solidFill>
                  <a:srgbClr val="475569"/>
                </a:solidFill>
                <a:latin typeface="Lato"/>
              </a:rPr>
              <a:t> la </a:t>
            </a:r>
            <a:r>
              <a:rPr sz="1550" b="0" i="0" dirty="0" err="1">
                <a:solidFill>
                  <a:srgbClr val="475569"/>
                </a:solidFill>
                <a:latin typeface="Lato"/>
              </a:rPr>
              <a:t>interfaz</a:t>
            </a:r>
            <a:r>
              <a:rPr sz="1550" b="0" i="0" dirty="0">
                <a:solidFill>
                  <a:srgbClr val="475569"/>
                </a:solidFill>
                <a:latin typeface="Lato"/>
              </a:rPr>
              <a:t> y </a:t>
            </a:r>
            <a:r>
              <a:rPr sz="1550" b="0" i="0" dirty="0" err="1">
                <a:solidFill>
                  <a:srgbClr val="475569"/>
                </a:solidFill>
                <a:latin typeface="Lato"/>
              </a:rPr>
              <a:t>los</a:t>
            </a:r>
            <a:r>
              <a:rPr sz="1550" b="0" i="0" dirty="0">
                <a:solidFill>
                  <a:srgbClr val="475569"/>
                </a:solidFill>
                <a:latin typeface="Lato"/>
              </a:rPr>
              <a:t> atajos se </a:t>
            </a:r>
            <a:r>
              <a:rPr sz="1550" b="0" i="0" dirty="0" err="1">
                <a:solidFill>
                  <a:srgbClr val="475569"/>
                </a:solidFill>
                <a:latin typeface="Lato"/>
              </a:rPr>
              <a:t>comparten</a:t>
            </a:r>
            <a:r>
              <a:rPr sz="1550" b="0" i="0" dirty="0">
                <a:solidFill>
                  <a:srgbClr val="475569"/>
                </a:solidFill>
                <a:latin typeface="Lato"/>
              </a:rPr>
              <a:t>.</a:t>
            </a:r>
          </a:p>
          <a:p>
            <a:pPr>
              <a:lnSpc>
                <a:spcPct val="108000"/>
              </a:lnSpc>
              <a:spcAft>
                <a:spcPts val="1400"/>
              </a:spcAft>
            </a:pPr>
            <a:r>
              <a:rPr sz="1550" b="1" i="0" dirty="0">
                <a:solidFill>
                  <a:srgbClr val="0EA5E9"/>
                </a:solidFill>
                <a:latin typeface="Lato"/>
              </a:rPr>
              <a:t>—  </a:t>
            </a:r>
            <a:r>
              <a:rPr sz="1550" b="1" i="0" dirty="0" err="1">
                <a:solidFill>
                  <a:srgbClr val="0EA5E9"/>
                </a:solidFill>
                <a:latin typeface="Lato"/>
              </a:rPr>
              <a:t>Extensiones</a:t>
            </a:r>
            <a:r>
              <a:rPr sz="1550" b="1" i="0" dirty="0">
                <a:solidFill>
                  <a:srgbClr val="0EA5E9"/>
                </a:solidFill>
                <a:latin typeface="Lato"/>
              </a:rPr>
              <a:t> clave  </a:t>
            </a:r>
            <a:r>
              <a:rPr sz="1550" b="0" i="0" dirty="0">
                <a:solidFill>
                  <a:srgbClr val="475569"/>
                </a:solidFill>
                <a:latin typeface="Lato"/>
              </a:rPr>
              <a:t>Python, Jupyter, </a:t>
            </a:r>
            <a:r>
              <a:rPr sz="1550" b="0" i="0" dirty="0" err="1">
                <a:solidFill>
                  <a:srgbClr val="475569"/>
                </a:solidFill>
                <a:latin typeface="Lato"/>
              </a:rPr>
              <a:t>GitLens</a:t>
            </a:r>
            <a:r>
              <a:rPr sz="1550" b="0" i="0" dirty="0">
                <a:solidFill>
                  <a:srgbClr val="475569"/>
                </a:solidFill>
                <a:latin typeface="Lato"/>
              </a:rPr>
              <a:t> y control de </a:t>
            </a:r>
            <a:r>
              <a:rPr sz="1550" b="0" i="0" dirty="0" err="1">
                <a:solidFill>
                  <a:srgbClr val="475569"/>
                </a:solidFill>
                <a:latin typeface="Lato"/>
              </a:rPr>
              <a:t>código</a:t>
            </a:r>
            <a:r>
              <a:rPr sz="1550" b="0" i="0" dirty="0">
                <a:solidFill>
                  <a:srgbClr val="475569"/>
                </a:solidFill>
                <a:latin typeface="Lato"/>
              </a:rPr>
              <a:t> </a:t>
            </a:r>
            <a:r>
              <a:rPr sz="1550" b="0" i="0" dirty="0" err="1">
                <a:solidFill>
                  <a:srgbClr val="475569"/>
                </a:solidFill>
                <a:latin typeface="Lato"/>
              </a:rPr>
              <a:t>fuente</a:t>
            </a:r>
            <a:r>
              <a:rPr sz="1550" b="0" i="0" dirty="0">
                <a:solidFill>
                  <a:srgbClr val="475569"/>
                </a:solidFill>
                <a:latin typeface="Lato"/>
              </a:rPr>
              <a:t> </a:t>
            </a:r>
            <a:r>
              <a:rPr sz="1550" b="0" i="0" dirty="0" err="1">
                <a:solidFill>
                  <a:srgbClr val="475569"/>
                </a:solidFill>
                <a:latin typeface="Lato"/>
              </a:rPr>
              <a:t>vienen</a:t>
            </a:r>
            <a:r>
              <a:rPr sz="1550" b="0" i="0" dirty="0">
                <a:solidFill>
                  <a:srgbClr val="475569"/>
                </a:solidFill>
                <a:latin typeface="Lato"/>
              </a:rPr>
              <a:t> </a:t>
            </a:r>
            <a:r>
              <a:rPr sz="1550" b="0" i="0" dirty="0" err="1">
                <a:solidFill>
                  <a:srgbClr val="475569"/>
                </a:solidFill>
                <a:latin typeface="Lato"/>
              </a:rPr>
              <a:t>integrados</a:t>
            </a:r>
            <a:r>
              <a:rPr sz="1550" b="0" i="0" dirty="0">
                <a:solidFill>
                  <a:srgbClr val="475569"/>
                </a:solidFill>
                <a:latin typeface="Lato"/>
              </a:rPr>
              <a:t>.</a:t>
            </a:r>
          </a:p>
          <a:p>
            <a:pPr>
              <a:lnSpc>
                <a:spcPct val="108000"/>
              </a:lnSpc>
              <a:spcAft>
                <a:spcPts val="1400"/>
              </a:spcAft>
            </a:pPr>
            <a:r>
              <a:rPr sz="1550" b="1" i="0" dirty="0">
                <a:solidFill>
                  <a:srgbClr val="0EA5E9"/>
                </a:solidFill>
                <a:latin typeface="Lato"/>
              </a:rPr>
              <a:t>—  Terminal </a:t>
            </a:r>
            <a:r>
              <a:rPr sz="1550" b="1" i="0" dirty="0" err="1">
                <a:solidFill>
                  <a:srgbClr val="0EA5E9"/>
                </a:solidFill>
                <a:latin typeface="Lato"/>
              </a:rPr>
              <a:t>integrada</a:t>
            </a:r>
            <a:r>
              <a:rPr sz="1550" b="1" i="0" dirty="0">
                <a:solidFill>
                  <a:srgbClr val="0EA5E9"/>
                </a:solidFill>
                <a:latin typeface="Lato"/>
              </a:rPr>
              <a:t>  </a:t>
            </a:r>
            <a:r>
              <a:rPr sz="1550" b="0" i="0" dirty="0" err="1">
                <a:solidFill>
                  <a:srgbClr val="475569"/>
                </a:solidFill>
                <a:latin typeface="Lato"/>
              </a:rPr>
              <a:t>permite</a:t>
            </a:r>
            <a:r>
              <a:rPr sz="1550" b="0" i="0" dirty="0">
                <a:solidFill>
                  <a:srgbClr val="475569"/>
                </a:solidFill>
                <a:latin typeface="Lato"/>
              </a:rPr>
              <a:t> </a:t>
            </a:r>
            <a:r>
              <a:rPr sz="1550" b="0" i="0" dirty="0" err="1">
                <a:solidFill>
                  <a:srgbClr val="475569"/>
                </a:solidFill>
                <a:latin typeface="Lato"/>
              </a:rPr>
              <a:t>ejecutar</a:t>
            </a:r>
            <a:r>
              <a:rPr sz="1550" b="0" i="0" dirty="0">
                <a:solidFill>
                  <a:srgbClr val="475569"/>
                </a:solidFill>
                <a:latin typeface="Lato"/>
              </a:rPr>
              <a:t> Python, Git y </a:t>
            </a:r>
            <a:r>
              <a:rPr sz="1550" b="0" i="0" dirty="0" err="1">
                <a:solidFill>
                  <a:srgbClr val="475569"/>
                </a:solidFill>
                <a:latin typeface="Lato"/>
              </a:rPr>
              <a:t>cualquier</a:t>
            </a:r>
            <a:r>
              <a:rPr sz="1550" b="0" i="0" dirty="0">
                <a:solidFill>
                  <a:srgbClr val="475569"/>
                </a:solidFill>
                <a:latin typeface="Lato"/>
              </a:rPr>
              <a:t> </a:t>
            </a:r>
            <a:r>
              <a:rPr sz="1550" b="0" i="0" dirty="0" err="1">
                <a:solidFill>
                  <a:srgbClr val="475569"/>
                </a:solidFill>
                <a:latin typeface="Lato"/>
              </a:rPr>
              <a:t>comando</a:t>
            </a:r>
            <a:r>
              <a:rPr sz="1550" b="0" i="0" dirty="0">
                <a:solidFill>
                  <a:srgbClr val="475569"/>
                </a:solidFill>
                <a:latin typeface="Lato"/>
              </a:rPr>
              <a:t> sin </a:t>
            </a:r>
            <a:r>
              <a:rPr sz="1550" b="0" i="0" dirty="0" err="1">
                <a:solidFill>
                  <a:srgbClr val="475569"/>
                </a:solidFill>
                <a:latin typeface="Lato"/>
              </a:rPr>
              <a:t>salir</a:t>
            </a:r>
            <a:r>
              <a:rPr sz="1550" b="0" i="0" dirty="0">
                <a:solidFill>
                  <a:srgbClr val="475569"/>
                </a:solidFill>
                <a:latin typeface="Lato"/>
              </a:rPr>
              <a:t> del editor.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510528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94A3B8"/>
                </a:solidFill>
                <a:latin typeface="Lato"/>
              </a:rPr>
              <a:t>IA en la Investigación Científica  ·  CBATA — TdeA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10528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94A3B8"/>
                </a:solidFill>
                <a:latin typeface="Lato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502920"/>
            <a:ext cx="107899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 spc="150">
                <a:solidFill>
                  <a:srgbClr val="0EA5E9"/>
                </a:solidFill>
                <a:latin typeface="Poppins"/>
              </a:rPr>
              <a:t>PARTE 03  ·  INSTALACIÓN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32104"/>
            <a:ext cx="1078992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000" b="1" i="0">
                <a:solidFill>
                  <a:srgbClr val="0F172A"/>
                </a:solidFill>
                <a:latin typeface="Poppins"/>
              </a:rPr>
              <a:t>Cómo instalar Visual Studio Code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85800" y="1581912"/>
            <a:ext cx="502920" cy="0"/>
          </a:xfrm>
          <a:prstGeom prst="line">
            <a:avLst/>
          </a:prstGeom>
          <a:ln w="38100">
            <a:solidFill>
              <a:srgbClr val="38BDF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Oval 4"/>
          <p:cNvSpPr/>
          <p:nvPr/>
        </p:nvSpPr>
        <p:spPr>
          <a:xfrm>
            <a:off x="685800" y="1801368"/>
            <a:ext cx="384048" cy="384048"/>
          </a:xfrm>
          <a:prstGeom prst="ellipse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500" b="1" i="0">
                <a:solidFill>
                  <a:srgbClr val="0F172A"/>
                </a:solidFill>
                <a:latin typeface="Poppins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52728" y="1783080"/>
            <a:ext cx="6473952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F172A"/>
                </a:solidFill>
                <a:latin typeface="Poppins"/>
              </a:rPr>
              <a:t>Descargar el instalador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52728" y="2093976"/>
            <a:ext cx="6473952" cy="71094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80" b="0" i="0">
                <a:solidFill>
                  <a:srgbClr val="475569"/>
                </a:solidFill>
                <a:latin typeface="Lato"/>
              </a:rPr>
              <a:t>Ve a code.visualstudio.com y descarga la versión correspondiente a tu sistema operativo.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77824" y="2203704"/>
            <a:ext cx="0" cy="619506"/>
          </a:xfrm>
          <a:prstGeom prst="line">
            <a:avLst/>
          </a:prstGeom>
          <a:ln w="15875">
            <a:solidFill>
              <a:srgbClr val="E2E8F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Oval 8"/>
          <p:cNvSpPr/>
          <p:nvPr/>
        </p:nvSpPr>
        <p:spPr>
          <a:xfrm>
            <a:off x="685800" y="2841498"/>
            <a:ext cx="384048" cy="384048"/>
          </a:xfrm>
          <a:prstGeom prst="ellipse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500" b="1" i="0">
                <a:solidFill>
                  <a:srgbClr val="0F172A"/>
                </a:solidFill>
                <a:latin typeface="Poppins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52728" y="2823210"/>
            <a:ext cx="6473952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F172A"/>
                </a:solidFill>
                <a:latin typeface="Poppins"/>
              </a:rPr>
              <a:t>Ejecutar la instalación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52728" y="3134106"/>
            <a:ext cx="6473952" cy="71094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80" b="0" i="0">
                <a:solidFill>
                  <a:srgbClr val="475569"/>
                </a:solidFill>
                <a:latin typeface="Lato"/>
              </a:rPr>
              <a:t>Windows: ejecuta el .exe y marca “Agregar al PATH”. macOS: arrastra la app a Aplicaciones. Linux: usa el paquete .deb/.rpm o Snap.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877824" y="3243834"/>
            <a:ext cx="0" cy="619506"/>
          </a:xfrm>
          <a:prstGeom prst="line">
            <a:avLst/>
          </a:prstGeom>
          <a:ln w="15875">
            <a:solidFill>
              <a:srgbClr val="E2E8F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685800" y="3881628"/>
            <a:ext cx="384048" cy="384048"/>
          </a:xfrm>
          <a:prstGeom prst="ellipse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500" b="1" i="0">
                <a:solidFill>
                  <a:srgbClr val="0F172A"/>
                </a:solidFill>
                <a:latin typeface="Poppins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52728" y="3863340"/>
            <a:ext cx="6473952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F172A"/>
                </a:solidFill>
                <a:latin typeface="Poppins"/>
              </a:rPr>
              <a:t>Instalar extensión de Python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52728" y="4174236"/>
            <a:ext cx="6473952" cy="71094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80" b="0" i="0">
                <a:solidFill>
                  <a:srgbClr val="475569"/>
                </a:solidFill>
                <a:latin typeface="Lato"/>
              </a:rPr>
              <a:t>Desde el panel de Extensiones (Ctrl+Shift+X), busca “Python” e instala la oficial de Microsoft.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877824" y="4283964"/>
            <a:ext cx="0" cy="619506"/>
          </a:xfrm>
          <a:prstGeom prst="line">
            <a:avLst/>
          </a:prstGeom>
          <a:ln w="15875">
            <a:solidFill>
              <a:srgbClr val="E2E8F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685800" y="4921758"/>
            <a:ext cx="384048" cy="384048"/>
          </a:xfrm>
          <a:prstGeom prst="ellipse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500" b="1" i="0">
                <a:solidFill>
                  <a:srgbClr val="0F172A"/>
                </a:solidFill>
                <a:latin typeface="Poppins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52728" y="4903470"/>
            <a:ext cx="6473952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F172A"/>
                </a:solidFill>
                <a:latin typeface="Poppins"/>
              </a:rPr>
              <a:t>Verificar instalación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52728" y="5214366"/>
            <a:ext cx="6473952" cy="71094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80" b="0" i="0">
                <a:solidFill>
                  <a:srgbClr val="475569"/>
                </a:solidFill>
                <a:latin typeface="Lato"/>
              </a:rPr>
              <a:t>Abre una terminal integrada (Ctrl+ ´) y ejecuta “code --version” y “python --version”.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92440" y="1783080"/>
            <a:ext cx="2953512" cy="4160520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348472" y="2039112"/>
            <a:ext cx="24688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 spc="100">
                <a:solidFill>
                  <a:srgbClr val="38BDF8"/>
                </a:solidFill>
                <a:latin typeface="Poppins"/>
              </a:rPr>
              <a:t>CONSEJO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48472" y="2441448"/>
            <a:ext cx="2468880" cy="3337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100" b="1" i="0">
                <a:solidFill>
                  <a:srgbClr val="38BDF8"/>
                </a:solidFill>
                <a:latin typeface="Lato"/>
              </a:rPr>
              <a:t>›  </a:t>
            </a:r>
            <a:r>
              <a:rPr sz="1100" b="0" i="0">
                <a:solidFill>
                  <a:srgbClr val="E2E8F0"/>
                </a:solidFill>
                <a:latin typeface="Lato"/>
              </a:rPr>
              <a:t>Guarda tu carpeta de proyecto en una ruta sin espacios ni tildes.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100" b="1" i="0">
                <a:solidFill>
                  <a:srgbClr val="38BDF8"/>
                </a:solidFill>
                <a:latin typeface="Lato"/>
              </a:rPr>
              <a:t>›  </a:t>
            </a:r>
            <a:r>
              <a:rPr sz="1100" b="0" i="0">
                <a:solidFill>
                  <a:srgbClr val="E2E8F0"/>
                </a:solidFill>
                <a:latin typeface="Lato"/>
              </a:rPr>
              <a:t>Activa el guardado automático (File › Auto Save).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100" b="1" i="0">
                <a:solidFill>
                  <a:srgbClr val="38BDF8"/>
                </a:solidFill>
                <a:latin typeface="Lato"/>
              </a:rPr>
              <a:t>›  </a:t>
            </a:r>
            <a:r>
              <a:rPr sz="1100" b="0" i="0">
                <a:solidFill>
                  <a:srgbClr val="E2E8F0"/>
                </a:solidFill>
                <a:latin typeface="Lato"/>
              </a:rPr>
              <a:t>Sincroniza ajustes con tu cuenta de GitHub para no perder configuración.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6510528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94A3B8"/>
                </a:solidFill>
                <a:latin typeface="Lato"/>
              </a:rPr>
              <a:t>IA en la Investigación Científica  ·  CBATA — TdeA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89920" y="6510528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94A3B8"/>
                </a:solidFill>
                <a:latin typeface="Lato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502920"/>
            <a:ext cx="107899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 spc="150">
                <a:solidFill>
                  <a:srgbClr val="0EA5E9"/>
                </a:solidFill>
                <a:latin typeface="Poppins"/>
              </a:rPr>
              <a:t>PARTE 03  ·  EL AGENTE DE DESARROLLO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32104"/>
            <a:ext cx="1078992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000" b="1" i="0">
                <a:solidFill>
                  <a:srgbClr val="0F172A"/>
                </a:solidFill>
                <a:latin typeface="Poppins"/>
              </a:rPr>
              <a:t>Antigravity: de editor a colaborador autónomo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85800" y="1581912"/>
            <a:ext cx="502920" cy="0"/>
          </a:xfrm>
          <a:prstGeom prst="line">
            <a:avLst/>
          </a:prstGeom>
          <a:ln w="38100">
            <a:solidFill>
              <a:srgbClr val="38BDF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85800" y="1783080"/>
            <a:ext cx="10607040" cy="3840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1400"/>
              </a:spcAft>
            </a:pPr>
            <a:r>
              <a:rPr sz="1550" b="1" i="0">
                <a:solidFill>
                  <a:srgbClr val="0EA5E9"/>
                </a:solidFill>
                <a:latin typeface="Lato"/>
              </a:rPr>
              <a:t>—  Qué es  </a:t>
            </a:r>
            <a:r>
              <a:rPr sz="1550" b="0" i="0">
                <a:solidFill>
                  <a:srgbClr val="475569"/>
                </a:solidFill>
                <a:latin typeface="Lato"/>
              </a:rPr>
              <a:t>la plataforma de desarrollo agentic de Google: un entorno tipo VS Code con agentes de IA integrados que planifican y ejecutan tareas.</a:t>
            </a:r>
          </a:p>
          <a:p>
            <a:pPr>
              <a:lnSpc>
                <a:spcPct val="108000"/>
              </a:lnSpc>
              <a:spcAft>
                <a:spcPts val="1400"/>
              </a:spcAft>
            </a:pPr>
            <a:r>
              <a:rPr sz="1550" b="1" i="0">
                <a:solidFill>
                  <a:srgbClr val="0EA5E9"/>
                </a:solidFill>
                <a:latin typeface="Lato"/>
              </a:rPr>
              <a:t>—  Agent Manager  </a:t>
            </a:r>
            <a:r>
              <a:rPr sz="1550" b="0" i="0">
                <a:solidFill>
                  <a:srgbClr val="475569"/>
                </a:solidFill>
                <a:latin typeface="Lato"/>
              </a:rPr>
              <a:t>gestiona uno o varios agentes trabajando en paralelo sobre distintas partes del proyecto.</a:t>
            </a:r>
          </a:p>
          <a:p>
            <a:pPr>
              <a:lnSpc>
                <a:spcPct val="108000"/>
              </a:lnSpc>
              <a:spcAft>
                <a:spcPts val="1400"/>
              </a:spcAft>
            </a:pPr>
            <a:r>
              <a:rPr sz="1550" b="1" i="0">
                <a:solidFill>
                  <a:srgbClr val="0EA5E9"/>
                </a:solidFill>
                <a:latin typeface="Lato"/>
              </a:rPr>
              <a:t>—  Artifacts  </a:t>
            </a:r>
            <a:r>
              <a:rPr sz="1550" b="0" i="0">
                <a:solidFill>
                  <a:srgbClr val="475569"/>
                </a:solidFill>
                <a:latin typeface="Lato"/>
              </a:rPr>
              <a:t>el agente documenta su razonamiento, capturas y resultados en un panel visual verificable, no solo en el código.</a:t>
            </a:r>
          </a:p>
          <a:p>
            <a:pPr>
              <a:lnSpc>
                <a:spcPct val="108000"/>
              </a:lnSpc>
              <a:spcAft>
                <a:spcPts val="1400"/>
              </a:spcAft>
            </a:pPr>
            <a:r>
              <a:rPr sz="1550" b="1" i="0">
                <a:solidFill>
                  <a:srgbClr val="0EA5E9"/>
                </a:solidFill>
                <a:latin typeface="Lato"/>
              </a:rPr>
              <a:t>—  Modelo nativo: Gemini  </a:t>
            </a:r>
            <a:r>
              <a:rPr sz="1550" b="0" i="0">
                <a:solidFill>
                  <a:srgbClr val="475569"/>
                </a:solidFill>
                <a:latin typeface="Lato"/>
              </a:rPr>
              <a:t>trae integración de fábrica con Gemini, y admite conectar otros modelos como Claude.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510528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94A3B8"/>
                </a:solidFill>
                <a:latin typeface="Lato"/>
              </a:rPr>
              <a:t>IA en la Investigación Científica  ·  CBATA — TdeA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10528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94A3B8"/>
                </a:solidFill>
                <a:latin typeface="Lato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502920"/>
            <a:ext cx="107899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 spc="150">
                <a:solidFill>
                  <a:srgbClr val="0EA5E9"/>
                </a:solidFill>
                <a:latin typeface="Poppins"/>
              </a:rPr>
              <a:t>PARTE 03  ·  INSTALACIÓN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32104"/>
            <a:ext cx="10789920" cy="4708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000" b="1" i="0" dirty="0" err="1">
                <a:solidFill>
                  <a:srgbClr val="0F172A"/>
                </a:solidFill>
                <a:latin typeface="Poppins"/>
              </a:rPr>
              <a:t>Cómo</a:t>
            </a:r>
            <a:r>
              <a:rPr sz="3000" b="1" i="0" dirty="0">
                <a:solidFill>
                  <a:srgbClr val="0F172A"/>
                </a:solidFill>
                <a:latin typeface="Poppins"/>
              </a:rPr>
              <a:t> </a:t>
            </a:r>
            <a:r>
              <a:rPr sz="3000" b="1" i="0" dirty="0" err="1">
                <a:solidFill>
                  <a:srgbClr val="0F172A"/>
                </a:solidFill>
                <a:latin typeface="Poppins"/>
              </a:rPr>
              <a:t>instalar</a:t>
            </a:r>
            <a:r>
              <a:rPr sz="3000" b="1" i="0" dirty="0">
                <a:solidFill>
                  <a:srgbClr val="0F172A"/>
                </a:solidFill>
                <a:latin typeface="Poppins"/>
              </a:rPr>
              <a:t> Antigravity</a:t>
            </a:r>
            <a:r>
              <a:rPr lang="es-CO" sz="3000" b="1" i="0" dirty="0">
                <a:solidFill>
                  <a:srgbClr val="0F172A"/>
                </a:solidFill>
                <a:latin typeface="Poppins"/>
              </a:rPr>
              <a:t> IDE</a:t>
            </a:r>
            <a:endParaRPr sz="3000" b="1" i="0" dirty="0">
              <a:solidFill>
                <a:srgbClr val="0F172A"/>
              </a:solidFill>
              <a:latin typeface="Poppins"/>
            </a:endParaRPr>
          </a:p>
        </p:txBody>
      </p:sp>
      <p:cxnSp>
        <p:nvCxnSpPr>
          <p:cNvPr id="4" name="Connector 3"/>
          <p:cNvCxnSpPr/>
          <p:nvPr/>
        </p:nvCxnSpPr>
        <p:spPr>
          <a:xfrm>
            <a:off x="685800" y="1581912"/>
            <a:ext cx="502920" cy="0"/>
          </a:xfrm>
          <a:prstGeom prst="line">
            <a:avLst/>
          </a:prstGeom>
          <a:ln w="38100">
            <a:solidFill>
              <a:srgbClr val="38BDF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Oval 4"/>
          <p:cNvSpPr/>
          <p:nvPr/>
        </p:nvSpPr>
        <p:spPr>
          <a:xfrm>
            <a:off x="685800" y="1801368"/>
            <a:ext cx="384048" cy="384048"/>
          </a:xfrm>
          <a:prstGeom prst="ellipse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500" b="1" i="0">
                <a:solidFill>
                  <a:srgbClr val="0F172A"/>
                </a:solidFill>
                <a:latin typeface="Poppins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52728" y="1783080"/>
            <a:ext cx="6473952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F172A"/>
                </a:solidFill>
                <a:latin typeface="Poppins"/>
              </a:rPr>
              <a:t>Descargar el instalador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52728" y="2093976"/>
            <a:ext cx="6473952" cy="1888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80" b="0" i="0" dirty="0" err="1">
                <a:solidFill>
                  <a:srgbClr val="475569"/>
                </a:solidFill>
                <a:latin typeface="Lato"/>
              </a:rPr>
              <a:t>Ingresa</a:t>
            </a:r>
            <a:r>
              <a:rPr sz="1180" b="0" i="0" dirty="0">
                <a:solidFill>
                  <a:srgbClr val="475569"/>
                </a:solidFill>
                <a:latin typeface="Lato"/>
              </a:rPr>
              <a:t> a </a:t>
            </a:r>
            <a:r>
              <a:rPr sz="1180" b="0" i="0" dirty="0" err="1">
                <a:solidFill>
                  <a:srgbClr val="475569"/>
                </a:solidFill>
                <a:latin typeface="Lato"/>
              </a:rPr>
              <a:t>antigravity.google</a:t>
            </a:r>
            <a:r>
              <a:rPr sz="1180" b="0" i="0" dirty="0">
                <a:solidFill>
                  <a:srgbClr val="475569"/>
                </a:solidFill>
                <a:latin typeface="Lato"/>
              </a:rPr>
              <a:t> y </a:t>
            </a:r>
            <a:r>
              <a:rPr sz="1180" b="0" i="0" dirty="0" err="1">
                <a:solidFill>
                  <a:srgbClr val="475569"/>
                </a:solidFill>
                <a:latin typeface="Lato"/>
              </a:rPr>
              <a:t>descarga</a:t>
            </a:r>
            <a:r>
              <a:rPr sz="1180" b="0" i="0" dirty="0">
                <a:solidFill>
                  <a:srgbClr val="475569"/>
                </a:solidFill>
                <a:latin typeface="Lato"/>
              </a:rPr>
              <a:t> la </a:t>
            </a:r>
            <a:r>
              <a:rPr sz="1180" b="0" i="0" dirty="0" err="1">
                <a:solidFill>
                  <a:srgbClr val="475569"/>
                </a:solidFill>
                <a:latin typeface="Lato"/>
              </a:rPr>
              <a:t>versión</a:t>
            </a:r>
            <a:r>
              <a:rPr lang="es-CO" sz="1180" b="0" i="0" dirty="0">
                <a:solidFill>
                  <a:srgbClr val="475569"/>
                </a:solidFill>
                <a:latin typeface="Lato"/>
              </a:rPr>
              <a:t> IDE</a:t>
            </a:r>
            <a:r>
              <a:rPr sz="1180" b="0" i="0" dirty="0">
                <a:solidFill>
                  <a:srgbClr val="475569"/>
                </a:solidFill>
                <a:latin typeface="Lato"/>
              </a:rPr>
              <a:t> para </a:t>
            </a:r>
            <a:r>
              <a:rPr sz="1180" b="0" i="0" dirty="0" err="1">
                <a:solidFill>
                  <a:srgbClr val="475569"/>
                </a:solidFill>
                <a:latin typeface="Lato"/>
              </a:rPr>
              <a:t>tu</a:t>
            </a:r>
            <a:r>
              <a:rPr sz="1180" b="0" i="0" dirty="0">
                <a:solidFill>
                  <a:srgbClr val="475569"/>
                </a:solidFill>
                <a:latin typeface="Lato"/>
              </a:rPr>
              <a:t> </a:t>
            </a:r>
            <a:r>
              <a:rPr sz="1180" b="0" i="0" dirty="0" err="1">
                <a:solidFill>
                  <a:srgbClr val="475569"/>
                </a:solidFill>
                <a:latin typeface="Lato"/>
              </a:rPr>
              <a:t>sistema</a:t>
            </a:r>
            <a:r>
              <a:rPr sz="1180" b="0" i="0" dirty="0">
                <a:solidFill>
                  <a:srgbClr val="475569"/>
                </a:solidFill>
                <a:latin typeface="Lato"/>
              </a:rPr>
              <a:t> </a:t>
            </a:r>
            <a:r>
              <a:rPr sz="1180" b="0" i="0" dirty="0" err="1">
                <a:solidFill>
                  <a:srgbClr val="475569"/>
                </a:solidFill>
                <a:latin typeface="Lato"/>
              </a:rPr>
              <a:t>operativo</a:t>
            </a:r>
            <a:r>
              <a:rPr sz="1180" b="0" i="0" dirty="0">
                <a:solidFill>
                  <a:srgbClr val="475569"/>
                </a:solidFill>
                <a:latin typeface="Lato"/>
              </a:rPr>
              <a:t>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77824" y="2203704"/>
            <a:ext cx="0" cy="619506"/>
          </a:xfrm>
          <a:prstGeom prst="line">
            <a:avLst/>
          </a:prstGeom>
          <a:ln w="15875">
            <a:solidFill>
              <a:srgbClr val="E2E8F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Oval 8"/>
          <p:cNvSpPr/>
          <p:nvPr/>
        </p:nvSpPr>
        <p:spPr>
          <a:xfrm>
            <a:off x="685800" y="2841498"/>
            <a:ext cx="384048" cy="384048"/>
          </a:xfrm>
          <a:prstGeom prst="ellipse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500" b="1" i="0">
                <a:solidFill>
                  <a:srgbClr val="0F172A"/>
                </a:solidFill>
                <a:latin typeface="Poppins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52728" y="2823210"/>
            <a:ext cx="6473952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F172A"/>
                </a:solidFill>
                <a:latin typeface="Poppins"/>
              </a:rPr>
              <a:t>Instalar como cualquier IDE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52728" y="3134106"/>
            <a:ext cx="6473952" cy="71094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80" b="0" i="0">
                <a:solidFill>
                  <a:srgbClr val="475569"/>
                </a:solidFill>
                <a:latin typeface="Lato"/>
              </a:rPr>
              <a:t>El proceso es idéntico al de VS Code, ya que comparte la misma base tecnológica.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877824" y="3243834"/>
            <a:ext cx="0" cy="619506"/>
          </a:xfrm>
          <a:prstGeom prst="line">
            <a:avLst/>
          </a:prstGeom>
          <a:ln w="15875">
            <a:solidFill>
              <a:srgbClr val="E2E8F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685800" y="3881628"/>
            <a:ext cx="384048" cy="384048"/>
          </a:xfrm>
          <a:prstGeom prst="ellipse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500" b="1" i="0">
                <a:solidFill>
                  <a:srgbClr val="0F172A"/>
                </a:solidFill>
                <a:latin typeface="Poppins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52728" y="3863340"/>
            <a:ext cx="6473952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F172A"/>
                </a:solidFill>
                <a:latin typeface="Poppins"/>
              </a:rPr>
              <a:t>Iniciar sesión con Google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52728" y="4174236"/>
            <a:ext cx="6473952" cy="71094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80" b="0" i="0">
                <a:solidFill>
                  <a:srgbClr val="475569"/>
                </a:solidFill>
                <a:latin typeface="Lato"/>
              </a:rPr>
              <a:t>Es obligatorio para autenticar el acceso a los modelos Gemini integrados.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877824" y="4283964"/>
            <a:ext cx="0" cy="619506"/>
          </a:xfrm>
          <a:prstGeom prst="line">
            <a:avLst/>
          </a:prstGeom>
          <a:ln w="15875">
            <a:solidFill>
              <a:srgbClr val="E2E8F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685800" y="4921758"/>
            <a:ext cx="384048" cy="384048"/>
          </a:xfrm>
          <a:prstGeom prst="ellipse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500" b="1" i="0">
                <a:solidFill>
                  <a:srgbClr val="0F172A"/>
                </a:solidFill>
                <a:latin typeface="Poppins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52728" y="4903470"/>
            <a:ext cx="6473952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F172A"/>
                </a:solidFill>
                <a:latin typeface="Poppins"/>
              </a:rPr>
              <a:t>Abrir tu carpeta de proyecto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52728" y="5214366"/>
            <a:ext cx="6473952" cy="71094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80" b="0" i="0">
                <a:solidFill>
                  <a:srgbClr val="475569"/>
                </a:solidFill>
                <a:latin typeface="Lato"/>
              </a:rPr>
              <a:t>File › Open Folder, o clona directamente un repositorio de GitHub desde el asistente inicial.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92440" y="1783080"/>
            <a:ext cx="2953512" cy="4160520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348472" y="2039112"/>
            <a:ext cx="24688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 spc="100">
                <a:solidFill>
                  <a:srgbClr val="38BDF8"/>
                </a:solidFill>
                <a:latin typeface="Poppins"/>
              </a:rPr>
              <a:t>REQUISITOS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48472" y="2441448"/>
            <a:ext cx="2468880" cy="3337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100" b="1" i="0">
                <a:solidFill>
                  <a:srgbClr val="38BDF8"/>
                </a:solidFill>
                <a:latin typeface="Lato"/>
              </a:rPr>
              <a:t>›  </a:t>
            </a:r>
            <a:r>
              <a:rPr sz="1100" b="0" i="0">
                <a:solidFill>
                  <a:srgbClr val="E2E8F0"/>
                </a:solidFill>
                <a:latin typeface="Lato"/>
              </a:rPr>
              <a:t>Cuenta de Google activa.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100" b="1" i="0">
                <a:solidFill>
                  <a:srgbClr val="38BDF8"/>
                </a:solidFill>
                <a:latin typeface="Lato"/>
              </a:rPr>
              <a:t>›  </a:t>
            </a:r>
            <a:r>
              <a:rPr sz="1100" b="0" i="0">
                <a:solidFill>
                  <a:srgbClr val="E2E8F0"/>
                </a:solidFill>
                <a:latin typeface="Lato"/>
              </a:rPr>
              <a:t>Conexión estable a internet (los agentes trabajan en la nube).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100" b="1" i="0">
                <a:solidFill>
                  <a:srgbClr val="38BDF8"/>
                </a:solidFill>
                <a:latin typeface="Lato"/>
              </a:rPr>
              <a:t>›  </a:t>
            </a:r>
            <a:r>
              <a:rPr sz="1100" b="0" i="0">
                <a:solidFill>
                  <a:srgbClr val="E2E8F0"/>
                </a:solidFill>
                <a:latin typeface="Lato"/>
              </a:rPr>
              <a:t>8 GB de RAM recomendados para proyectos con datos pesados.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6510528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94A3B8"/>
                </a:solidFill>
                <a:latin typeface="Lato"/>
              </a:rPr>
              <a:t>IA en la Investigación Científica  ·  CBATA — TdeA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89920" y="6510528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94A3B8"/>
                </a:solidFill>
                <a:latin typeface="Lato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502920"/>
            <a:ext cx="107899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 spc="150">
                <a:solidFill>
                  <a:srgbClr val="0EA5E9"/>
                </a:solidFill>
                <a:latin typeface="Poppins"/>
              </a:rPr>
              <a:t>PARTE 03  ·  PRIMER RECORRIDO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32104"/>
            <a:ext cx="1078992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000" b="1" i="0">
                <a:solidFill>
                  <a:srgbClr val="0F172A"/>
                </a:solidFill>
                <a:latin typeface="Poppins"/>
              </a:rPr>
              <a:t>La interfaz de Antigravity en 4 zonas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85800" y="1581912"/>
            <a:ext cx="502920" cy="0"/>
          </a:xfrm>
          <a:prstGeom prst="line">
            <a:avLst/>
          </a:prstGeom>
          <a:ln w="38100">
            <a:solidFill>
              <a:srgbClr val="38BDF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85800" y="1783080"/>
            <a:ext cx="10607040" cy="18047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1400"/>
              </a:spcAft>
            </a:pPr>
            <a:r>
              <a:rPr sz="1550" b="1" i="0" dirty="0">
                <a:solidFill>
                  <a:srgbClr val="0EA5E9"/>
                </a:solidFill>
                <a:latin typeface="Lato"/>
              </a:rPr>
              <a:t>—  Editor de </a:t>
            </a:r>
            <a:r>
              <a:rPr sz="1550" b="1" i="0" dirty="0" err="1">
                <a:solidFill>
                  <a:srgbClr val="0EA5E9"/>
                </a:solidFill>
                <a:latin typeface="Lato"/>
              </a:rPr>
              <a:t>código</a:t>
            </a:r>
            <a:r>
              <a:rPr sz="1550" b="1" i="0" dirty="0">
                <a:solidFill>
                  <a:srgbClr val="0EA5E9"/>
                </a:solidFill>
                <a:latin typeface="Lato"/>
              </a:rPr>
              <a:t>  </a:t>
            </a:r>
            <a:r>
              <a:rPr sz="1550" b="0" i="0" dirty="0" err="1">
                <a:solidFill>
                  <a:srgbClr val="475569"/>
                </a:solidFill>
                <a:latin typeface="Lato"/>
              </a:rPr>
              <a:t>idéntico</a:t>
            </a:r>
            <a:r>
              <a:rPr sz="1550" b="0" i="0" dirty="0">
                <a:solidFill>
                  <a:srgbClr val="475569"/>
                </a:solidFill>
                <a:latin typeface="Lato"/>
              </a:rPr>
              <a:t> a VS Code: árbol de </a:t>
            </a:r>
            <a:r>
              <a:rPr sz="1550" b="0" i="0" dirty="0" err="1">
                <a:solidFill>
                  <a:srgbClr val="475569"/>
                </a:solidFill>
                <a:latin typeface="Lato"/>
              </a:rPr>
              <a:t>archivos</a:t>
            </a:r>
            <a:r>
              <a:rPr sz="1550" b="0" i="0" dirty="0">
                <a:solidFill>
                  <a:srgbClr val="475569"/>
                </a:solidFill>
                <a:latin typeface="Lato"/>
              </a:rPr>
              <a:t>, </a:t>
            </a:r>
            <a:r>
              <a:rPr sz="1550" b="0" i="0" dirty="0" err="1">
                <a:solidFill>
                  <a:srgbClr val="475569"/>
                </a:solidFill>
                <a:latin typeface="Lato"/>
              </a:rPr>
              <a:t>pestañas</a:t>
            </a:r>
            <a:r>
              <a:rPr sz="1550" b="0" i="0" dirty="0">
                <a:solidFill>
                  <a:srgbClr val="475569"/>
                </a:solidFill>
                <a:latin typeface="Lato"/>
              </a:rPr>
              <a:t> y </a:t>
            </a:r>
            <a:r>
              <a:rPr sz="1550" b="0" i="0" dirty="0" err="1">
                <a:solidFill>
                  <a:srgbClr val="475569"/>
                </a:solidFill>
                <a:latin typeface="Lato"/>
              </a:rPr>
              <a:t>resaltado</a:t>
            </a:r>
            <a:r>
              <a:rPr sz="1550" b="0" i="0" dirty="0">
                <a:solidFill>
                  <a:srgbClr val="475569"/>
                </a:solidFill>
                <a:latin typeface="Lato"/>
              </a:rPr>
              <a:t> de </a:t>
            </a:r>
            <a:r>
              <a:rPr sz="1550" b="0" i="0" dirty="0" err="1">
                <a:solidFill>
                  <a:srgbClr val="475569"/>
                </a:solidFill>
                <a:latin typeface="Lato"/>
              </a:rPr>
              <a:t>sintaxis</a:t>
            </a:r>
            <a:r>
              <a:rPr sz="1550" b="0" i="0" dirty="0">
                <a:solidFill>
                  <a:srgbClr val="475569"/>
                </a:solidFill>
                <a:latin typeface="Lato"/>
              </a:rPr>
              <a:t>.</a:t>
            </a:r>
          </a:p>
          <a:p>
            <a:pPr>
              <a:lnSpc>
                <a:spcPct val="108000"/>
              </a:lnSpc>
              <a:spcAft>
                <a:spcPts val="1400"/>
              </a:spcAft>
            </a:pPr>
            <a:r>
              <a:rPr sz="1550" b="1" i="0" dirty="0">
                <a:solidFill>
                  <a:srgbClr val="0EA5E9"/>
                </a:solidFill>
                <a:latin typeface="Lato"/>
              </a:rPr>
              <a:t>—  Agent Manager  </a:t>
            </a:r>
            <a:r>
              <a:rPr sz="1550" b="0" i="0" dirty="0">
                <a:solidFill>
                  <a:srgbClr val="475569"/>
                </a:solidFill>
                <a:latin typeface="Lato"/>
              </a:rPr>
              <a:t>panel </a:t>
            </a:r>
            <a:r>
              <a:rPr sz="1550" b="0" i="0" dirty="0" err="1">
                <a:solidFill>
                  <a:srgbClr val="475569"/>
                </a:solidFill>
                <a:latin typeface="Lato"/>
              </a:rPr>
              <a:t>donde</a:t>
            </a:r>
            <a:r>
              <a:rPr sz="1550" b="0" i="0" dirty="0">
                <a:solidFill>
                  <a:srgbClr val="475569"/>
                </a:solidFill>
                <a:latin typeface="Lato"/>
              </a:rPr>
              <a:t> defines la </a:t>
            </a:r>
            <a:r>
              <a:rPr sz="1550" b="0" i="0" dirty="0" err="1">
                <a:solidFill>
                  <a:srgbClr val="475569"/>
                </a:solidFill>
                <a:latin typeface="Lato"/>
              </a:rPr>
              <a:t>tarea</a:t>
            </a:r>
            <a:r>
              <a:rPr sz="1550" b="0" i="0" dirty="0">
                <a:solidFill>
                  <a:srgbClr val="475569"/>
                </a:solidFill>
                <a:latin typeface="Lato"/>
              </a:rPr>
              <a:t>, </a:t>
            </a:r>
            <a:r>
              <a:rPr sz="1550" b="0" i="0" dirty="0" err="1">
                <a:solidFill>
                  <a:srgbClr val="475569"/>
                </a:solidFill>
                <a:latin typeface="Lato"/>
              </a:rPr>
              <a:t>eliges</a:t>
            </a:r>
            <a:r>
              <a:rPr sz="1550" b="0" i="0" dirty="0">
                <a:solidFill>
                  <a:srgbClr val="475569"/>
                </a:solidFill>
                <a:latin typeface="Lato"/>
              </a:rPr>
              <a:t> el </a:t>
            </a:r>
            <a:r>
              <a:rPr sz="1550" b="0" i="0" dirty="0" err="1">
                <a:solidFill>
                  <a:srgbClr val="475569"/>
                </a:solidFill>
                <a:latin typeface="Lato"/>
              </a:rPr>
              <a:t>modelo</a:t>
            </a:r>
            <a:r>
              <a:rPr sz="1550" b="0" i="0" dirty="0">
                <a:solidFill>
                  <a:srgbClr val="475569"/>
                </a:solidFill>
                <a:latin typeface="Lato"/>
              </a:rPr>
              <a:t> (Gemini/Claude) y </a:t>
            </a:r>
            <a:r>
              <a:rPr sz="1550" b="0" i="0" dirty="0" err="1">
                <a:solidFill>
                  <a:srgbClr val="475569"/>
                </a:solidFill>
                <a:latin typeface="Lato"/>
              </a:rPr>
              <a:t>sigues</a:t>
            </a:r>
            <a:r>
              <a:rPr sz="1550" b="0" i="0" dirty="0">
                <a:solidFill>
                  <a:srgbClr val="475569"/>
                </a:solidFill>
                <a:latin typeface="Lato"/>
              </a:rPr>
              <a:t> el </a:t>
            </a:r>
            <a:r>
              <a:rPr sz="1550" b="0" i="0" dirty="0" err="1">
                <a:solidFill>
                  <a:srgbClr val="475569"/>
                </a:solidFill>
                <a:latin typeface="Lato"/>
              </a:rPr>
              <a:t>progreso</a:t>
            </a:r>
            <a:r>
              <a:rPr sz="1550" b="0" i="0" dirty="0">
                <a:solidFill>
                  <a:srgbClr val="475569"/>
                </a:solidFill>
                <a:latin typeface="Lato"/>
              </a:rPr>
              <a:t> del </a:t>
            </a:r>
            <a:r>
              <a:rPr sz="1550" b="0" i="0" dirty="0" err="1">
                <a:solidFill>
                  <a:srgbClr val="475569"/>
                </a:solidFill>
                <a:latin typeface="Lato"/>
              </a:rPr>
              <a:t>agente</a:t>
            </a:r>
            <a:r>
              <a:rPr sz="1550" b="0" i="0" dirty="0">
                <a:solidFill>
                  <a:srgbClr val="475569"/>
                </a:solidFill>
                <a:latin typeface="Lato"/>
              </a:rPr>
              <a:t> </a:t>
            </a:r>
            <a:r>
              <a:rPr sz="1550" b="0" i="0" dirty="0" err="1">
                <a:solidFill>
                  <a:srgbClr val="475569"/>
                </a:solidFill>
                <a:latin typeface="Lato"/>
              </a:rPr>
              <a:t>en</a:t>
            </a:r>
            <a:r>
              <a:rPr sz="1550" b="0" i="0" dirty="0">
                <a:solidFill>
                  <a:srgbClr val="475569"/>
                </a:solidFill>
                <a:latin typeface="Lato"/>
              </a:rPr>
              <a:t> </a:t>
            </a:r>
            <a:r>
              <a:rPr sz="1550" b="0" i="0" dirty="0" err="1">
                <a:solidFill>
                  <a:srgbClr val="475569"/>
                </a:solidFill>
                <a:latin typeface="Lato"/>
              </a:rPr>
              <a:t>tiempo</a:t>
            </a:r>
            <a:r>
              <a:rPr sz="1550" b="0" i="0" dirty="0">
                <a:solidFill>
                  <a:srgbClr val="475569"/>
                </a:solidFill>
                <a:latin typeface="Lato"/>
              </a:rPr>
              <a:t> real.</a:t>
            </a:r>
          </a:p>
          <a:p>
            <a:pPr>
              <a:lnSpc>
                <a:spcPct val="108000"/>
              </a:lnSpc>
              <a:spcAft>
                <a:spcPts val="1400"/>
              </a:spcAft>
            </a:pPr>
            <a:r>
              <a:rPr sz="1550" b="1" i="0" dirty="0">
                <a:solidFill>
                  <a:srgbClr val="0EA5E9"/>
                </a:solidFill>
                <a:latin typeface="Lato"/>
              </a:rPr>
              <a:t>—  Terminal y Control</a:t>
            </a:r>
            <a:r>
              <a:rPr lang="es-CO" sz="1550" b="1" i="0" dirty="0">
                <a:solidFill>
                  <a:srgbClr val="0EA5E9"/>
                </a:solidFill>
                <a:latin typeface="Lato"/>
              </a:rPr>
              <a:t>  de fuentes</a:t>
            </a:r>
            <a:r>
              <a:rPr sz="1550" b="1" i="0" dirty="0">
                <a:solidFill>
                  <a:srgbClr val="0EA5E9"/>
                </a:solidFill>
                <a:latin typeface="Lato"/>
              </a:rPr>
              <a:t>  </a:t>
            </a:r>
            <a:r>
              <a:rPr sz="1550" b="0" i="0" dirty="0" err="1">
                <a:solidFill>
                  <a:srgbClr val="475569"/>
                </a:solidFill>
                <a:latin typeface="Lato"/>
              </a:rPr>
              <a:t>consola</a:t>
            </a:r>
            <a:r>
              <a:rPr sz="1550" b="0" i="0" dirty="0">
                <a:solidFill>
                  <a:srgbClr val="475569"/>
                </a:solidFill>
                <a:latin typeface="Lato"/>
              </a:rPr>
              <a:t> </a:t>
            </a:r>
            <a:r>
              <a:rPr sz="1550" b="0" i="0" dirty="0" err="1">
                <a:solidFill>
                  <a:srgbClr val="475569"/>
                </a:solidFill>
                <a:latin typeface="Lato"/>
              </a:rPr>
              <a:t>integrada</a:t>
            </a:r>
            <a:r>
              <a:rPr sz="1550" b="0" i="0" dirty="0">
                <a:solidFill>
                  <a:srgbClr val="475569"/>
                </a:solidFill>
                <a:latin typeface="Lato"/>
              </a:rPr>
              <a:t> y panel de Git para </a:t>
            </a:r>
            <a:r>
              <a:rPr sz="1550" b="0" i="0" dirty="0" err="1">
                <a:solidFill>
                  <a:srgbClr val="475569"/>
                </a:solidFill>
                <a:latin typeface="Lato"/>
              </a:rPr>
              <a:t>revisar</a:t>
            </a:r>
            <a:r>
              <a:rPr sz="1550" b="0" i="0" dirty="0">
                <a:solidFill>
                  <a:srgbClr val="475569"/>
                </a:solidFill>
                <a:latin typeface="Lato"/>
              </a:rPr>
              <a:t> </a:t>
            </a:r>
            <a:r>
              <a:rPr sz="1550" b="0" i="0" dirty="0" err="1">
                <a:solidFill>
                  <a:srgbClr val="475569"/>
                </a:solidFill>
                <a:latin typeface="Lato"/>
              </a:rPr>
              <a:t>cambios</a:t>
            </a:r>
            <a:r>
              <a:rPr sz="1550" b="0" i="0" dirty="0">
                <a:solidFill>
                  <a:srgbClr val="475569"/>
                </a:solidFill>
                <a:latin typeface="Lato"/>
              </a:rPr>
              <a:t> antes de </a:t>
            </a:r>
            <a:r>
              <a:rPr sz="1550" b="0" i="0" dirty="0" err="1">
                <a:solidFill>
                  <a:srgbClr val="475569"/>
                </a:solidFill>
                <a:latin typeface="Lato"/>
              </a:rPr>
              <a:t>confirmarlos</a:t>
            </a:r>
            <a:r>
              <a:rPr sz="1550" b="0" i="0" dirty="0">
                <a:solidFill>
                  <a:srgbClr val="475569"/>
                </a:solidFill>
                <a:latin typeface="Lato"/>
              </a:rPr>
              <a:t>.</a:t>
            </a:r>
          </a:p>
          <a:p>
            <a:pPr>
              <a:lnSpc>
                <a:spcPct val="108000"/>
              </a:lnSpc>
              <a:spcAft>
                <a:spcPts val="1400"/>
              </a:spcAft>
            </a:pPr>
            <a:r>
              <a:rPr sz="1550" b="1" i="0" dirty="0">
                <a:solidFill>
                  <a:srgbClr val="0EA5E9"/>
                </a:solidFill>
                <a:latin typeface="Lato"/>
              </a:rPr>
              <a:t>—  vista previa  </a:t>
            </a:r>
            <a:r>
              <a:rPr sz="1550" b="0" i="0" dirty="0" err="1">
                <a:solidFill>
                  <a:srgbClr val="475569"/>
                </a:solidFill>
                <a:latin typeface="Lato"/>
              </a:rPr>
              <a:t>muestra</a:t>
            </a:r>
            <a:r>
              <a:rPr sz="1550" b="0" i="0" dirty="0">
                <a:solidFill>
                  <a:srgbClr val="475569"/>
                </a:solidFill>
                <a:latin typeface="Lato"/>
              </a:rPr>
              <a:t> </a:t>
            </a:r>
            <a:r>
              <a:rPr sz="1550" b="0" i="0" dirty="0" err="1">
                <a:solidFill>
                  <a:srgbClr val="475569"/>
                </a:solidFill>
                <a:latin typeface="Lato"/>
              </a:rPr>
              <a:t>gráficos</a:t>
            </a:r>
            <a:r>
              <a:rPr sz="1550" b="0" i="0" dirty="0">
                <a:solidFill>
                  <a:srgbClr val="475569"/>
                </a:solidFill>
                <a:latin typeface="Lato"/>
              </a:rPr>
              <a:t>, notebooks o </a:t>
            </a:r>
            <a:r>
              <a:rPr sz="1550" b="0" i="0" dirty="0" err="1">
                <a:solidFill>
                  <a:srgbClr val="475569"/>
                </a:solidFill>
                <a:latin typeface="Lato"/>
              </a:rPr>
              <a:t>páginas</a:t>
            </a:r>
            <a:r>
              <a:rPr sz="1550" b="0" i="0" dirty="0">
                <a:solidFill>
                  <a:srgbClr val="475569"/>
                </a:solidFill>
                <a:latin typeface="Lato"/>
              </a:rPr>
              <a:t> </a:t>
            </a:r>
            <a:r>
              <a:rPr sz="1550" b="0" i="0" dirty="0" err="1">
                <a:solidFill>
                  <a:srgbClr val="475569"/>
                </a:solidFill>
                <a:latin typeface="Lato"/>
              </a:rPr>
              <a:t>generadas</a:t>
            </a:r>
            <a:r>
              <a:rPr sz="1550" b="0" i="0" dirty="0">
                <a:solidFill>
                  <a:srgbClr val="475569"/>
                </a:solidFill>
                <a:latin typeface="Lato"/>
              </a:rPr>
              <a:t> </a:t>
            </a:r>
            <a:r>
              <a:rPr sz="1550" b="0" i="0" dirty="0" err="1">
                <a:solidFill>
                  <a:srgbClr val="475569"/>
                </a:solidFill>
                <a:latin typeface="Lato"/>
              </a:rPr>
              <a:t>por</a:t>
            </a:r>
            <a:r>
              <a:rPr sz="1550" b="0" i="0" dirty="0">
                <a:solidFill>
                  <a:srgbClr val="475569"/>
                </a:solidFill>
                <a:latin typeface="Lato"/>
              </a:rPr>
              <a:t> el </a:t>
            </a:r>
            <a:r>
              <a:rPr sz="1550" b="0" i="0" dirty="0" err="1">
                <a:solidFill>
                  <a:srgbClr val="475569"/>
                </a:solidFill>
                <a:latin typeface="Lato"/>
              </a:rPr>
              <a:t>agente</a:t>
            </a:r>
            <a:r>
              <a:rPr sz="1550" b="0" i="0" dirty="0">
                <a:solidFill>
                  <a:srgbClr val="475569"/>
                </a:solidFill>
                <a:latin typeface="Lato"/>
              </a:rPr>
              <a:t> sin </a:t>
            </a:r>
            <a:r>
              <a:rPr sz="1550" b="0" i="0" dirty="0" err="1">
                <a:solidFill>
                  <a:srgbClr val="475569"/>
                </a:solidFill>
                <a:latin typeface="Lato"/>
              </a:rPr>
              <a:t>salir</a:t>
            </a:r>
            <a:r>
              <a:rPr sz="1550" b="0" i="0" dirty="0">
                <a:solidFill>
                  <a:srgbClr val="475569"/>
                </a:solidFill>
                <a:latin typeface="Lato"/>
              </a:rPr>
              <a:t> del </a:t>
            </a:r>
            <a:r>
              <a:rPr sz="1550" b="0" i="0" dirty="0" err="1">
                <a:solidFill>
                  <a:srgbClr val="475569"/>
                </a:solidFill>
                <a:latin typeface="Lato"/>
              </a:rPr>
              <a:t>entorno</a:t>
            </a:r>
            <a:r>
              <a:rPr sz="1550" b="0" i="0" dirty="0">
                <a:solidFill>
                  <a:srgbClr val="475569"/>
                </a:solidFill>
                <a:latin typeface="Lato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510528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94A3B8"/>
                </a:solidFill>
                <a:latin typeface="Lato"/>
              </a:rPr>
              <a:t>IA en la Investigación Científica  ·  CBATA — TdeA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10528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94A3B8"/>
                </a:solidFill>
                <a:latin typeface="Lato"/>
              </a:rPr>
              <a:t>18</a:t>
            </a:r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9A9F2136-1C5A-5408-FC01-824DA8EFA8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36829" y="3768428"/>
            <a:ext cx="4591549" cy="2586652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2331720"/>
            <a:ext cx="228600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0" b="1" i="0">
                <a:solidFill>
                  <a:srgbClr val="1E293B"/>
                </a:solidFill>
                <a:latin typeface="Poppins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331720"/>
            <a:ext cx="228600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0" b="1" i="0">
                <a:solidFill>
                  <a:srgbClr val="38BDF8"/>
                </a:solidFill>
                <a:latin typeface="Poppins"/>
              </a:rPr>
              <a:t>04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960120" y="3794760"/>
            <a:ext cx="594360" cy="0"/>
          </a:xfrm>
          <a:prstGeom prst="line">
            <a:avLst/>
          </a:prstGeom>
          <a:ln w="38100">
            <a:solidFill>
              <a:srgbClr val="38BDF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14400" y="3977639"/>
            <a:ext cx="98755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 i="0">
                <a:solidFill>
                  <a:srgbClr val="FFFFFF"/>
                </a:solidFill>
                <a:latin typeface="Poppins"/>
              </a:rPr>
              <a:t>Los modelos: Gemini y Claude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709160"/>
            <a:ext cx="89611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E2E8F0"/>
                </a:solidFill>
                <a:latin typeface="Lato"/>
              </a:rPr>
              <a:t>Cómo acceder a cada modelo, cuándo elegirlo y cómo escribirle instrucciones rigurosas.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502920"/>
            <a:ext cx="107899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 spc="150">
                <a:solidFill>
                  <a:srgbClr val="0EA5E9"/>
                </a:solidFill>
                <a:latin typeface="Poppins"/>
              </a:rPr>
              <a:t>PARTE 04  ·  ACCESO E INTEGRACIÓN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32104"/>
            <a:ext cx="1078992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000" b="1" i="0">
                <a:solidFill>
                  <a:srgbClr val="0F172A"/>
                </a:solidFill>
                <a:latin typeface="Poppins"/>
              </a:rPr>
              <a:t>Gemini: conversación y desarrollo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85800" y="1581912"/>
            <a:ext cx="502920" cy="0"/>
          </a:xfrm>
          <a:prstGeom prst="line">
            <a:avLst/>
          </a:prstGeom>
          <a:ln w="38100">
            <a:solidFill>
              <a:srgbClr val="38BDF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Oval 4"/>
          <p:cNvSpPr/>
          <p:nvPr/>
        </p:nvSpPr>
        <p:spPr>
          <a:xfrm>
            <a:off x="685800" y="1801368"/>
            <a:ext cx="384048" cy="384048"/>
          </a:xfrm>
          <a:prstGeom prst="ellipse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500" b="1" i="0">
                <a:solidFill>
                  <a:srgbClr val="0F172A"/>
                </a:solidFill>
                <a:latin typeface="Poppins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52728" y="1783080"/>
            <a:ext cx="1025042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F172A"/>
                </a:solidFill>
                <a:latin typeface="Poppins"/>
              </a:rPr>
              <a:t>Uso conversacional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52728" y="2093976"/>
            <a:ext cx="10250424" cy="1888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80" b="0" i="0" dirty="0">
                <a:solidFill>
                  <a:srgbClr val="475569"/>
                </a:solidFill>
                <a:latin typeface="Lato"/>
              </a:rPr>
              <a:t>gemini.google.com, con </a:t>
            </a:r>
            <a:r>
              <a:rPr sz="1180" b="0" i="0" dirty="0" err="1">
                <a:solidFill>
                  <a:srgbClr val="475569"/>
                </a:solidFill>
                <a:latin typeface="Lato"/>
              </a:rPr>
              <a:t>tu</a:t>
            </a:r>
            <a:r>
              <a:rPr sz="1180" b="0" i="0" dirty="0">
                <a:solidFill>
                  <a:srgbClr val="475569"/>
                </a:solidFill>
                <a:latin typeface="Lato"/>
              </a:rPr>
              <a:t> </a:t>
            </a:r>
            <a:r>
              <a:rPr sz="1180" b="0" i="0" dirty="0" err="1">
                <a:solidFill>
                  <a:srgbClr val="475569"/>
                </a:solidFill>
                <a:latin typeface="Lato"/>
              </a:rPr>
              <a:t>cuenta</a:t>
            </a:r>
            <a:r>
              <a:rPr sz="1180" b="0" i="0" dirty="0">
                <a:solidFill>
                  <a:srgbClr val="475569"/>
                </a:solidFill>
                <a:latin typeface="Lato"/>
              </a:rPr>
              <a:t> de Google — ideal para </a:t>
            </a:r>
            <a:r>
              <a:rPr sz="1180" b="0" i="0" dirty="0" err="1">
                <a:solidFill>
                  <a:srgbClr val="C00000"/>
                </a:solidFill>
                <a:latin typeface="Lato"/>
              </a:rPr>
              <a:t>explorar</a:t>
            </a:r>
            <a:r>
              <a:rPr sz="1180" b="0" i="0" dirty="0">
                <a:solidFill>
                  <a:srgbClr val="C00000"/>
                </a:solidFill>
                <a:latin typeface="Lato"/>
              </a:rPr>
              <a:t> ideas y </a:t>
            </a:r>
            <a:r>
              <a:rPr sz="1180" b="0" i="0" dirty="0" err="1">
                <a:solidFill>
                  <a:srgbClr val="C00000"/>
                </a:solidFill>
                <a:latin typeface="Lato"/>
              </a:rPr>
              <a:t>redactar</a:t>
            </a:r>
            <a:r>
              <a:rPr sz="1180" b="0" i="0" dirty="0">
                <a:solidFill>
                  <a:srgbClr val="C00000"/>
                </a:solidFill>
                <a:latin typeface="Lato"/>
              </a:rPr>
              <a:t> </a:t>
            </a:r>
            <a:r>
              <a:rPr sz="1180" b="0" i="0" dirty="0" err="1">
                <a:solidFill>
                  <a:srgbClr val="C00000"/>
                </a:solidFill>
                <a:latin typeface="Lato"/>
              </a:rPr>
              <a:t>texto</a:t>
            </a:r>
            <a:r>
              <a:rPr sz="1180" b="0" i="0" dirty="0">
                <a:solidFill>
                  <a:srgbClr val="475569"/>
                </a:solidFill>
                <a:latin typeface="Lato"/>
              </a:rPr>
              <a:t>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77824" y="2203704"/>
            <a:ext cx="0" cy="619506"/>
          </a:xfrm>
          <a:prstGeom prst="line">
            <a:avLst/>
          </a:prstGeom>
          <a:ln w="15875">
            <a:solidFill>
              <a:srgbClr val="E2E8F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Oval 8"/>
          <p:cNvSpPr/>
          <p:nvPr/>
        </p:nvSpPr>
        <p:spPr>
          <a:xfrm>
            <a:off x="685800" y="2841498"/>
            <a:ext cx="384048" cy="384048"/>
          </a:xfrm>
          <a:prstGeom prst="ellipse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500" b="1" i="0">
                <a:solidFill>
                  <a:srgbClr val="0F172A"/>
                </a:solidFill>
                <a:latin typeface="Poppins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52728" y="2823210"/>
            <a:ext cx="1025042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F172A"/>
                </a:solidFill>
                <a:latin typeface="Poppins"/>
              </a:rPr>
              <a:t>Google AI Studio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52728" y="3134106"/>
            <a:ext cx="10250424" cy="1888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80" b="0" i="0" dirty="0">
                <a:solidFill>
                  <a:srgbClr val="475569"/>
                </a:solidFill>
                <a:latin typeface="Lato"/>
              </a:rPr>
              <a:t>aistudio.google.com </a:t>
            </a:r>
            <a:r>
              <a:rPr sz="1180" b="0" i="0" dirty="0" err="1">
                <a:solidFill>
                  <a:srgbClr val="475569"/>
                </a:solidFill>
                <a:latin typeface="Lato"/>
              </a:rPr>
              <a:t>permite</a:t>
            </a:r>
            <a:r>
              <a:rPr sz="1180" b="0" i="0" dirty="0">
                <a:solidFill>
                  <a:srgbClr val="475569"/>
                </a:solidFill>
                <a:latin typeface="Lato"/>
              </a:rPr>
              <a:t> </a:t>
            </a:r>
            <a:r>
              <a:rPr sz="1180" b="0" i="0" dirty="0" err="1">
                <a:solidFill>
                  <a:srgbClr val="475569"/>
                </a:solidFill>
                <a:latin typeface="Lato"/>
              </a:rPr>
              <a:t>generar</a:t>
            </a:r>
            <a:r>
              <a:rPr sz="1180" b="0" i="0" dirty="0">
                <a:solidFill>
                  <a:srgbClr val="475569"/>
                </a:solidFill>
                <a:latin typeface="Lato"/>
              </a:rPr>
              <a:t> </a:t>
            </a:r>
            <a:r>
              <a:rPr sz="1180" b="0" i="0" dirty="0" err="1">
                <a:solidFill>
                  <a:srgbClr val="C00000"/>
                </a:solidFill>
                <a:latin typeface="Lato"/>
              </a:rPr>
              <a:t>una</a:t>
            </a:r>
            <a:r>
              <a:rPr sz="1180" b="0" i="0" dirty="0">
                <a:solidFill>
                  <a:srgbClr val="C00000"/>
                </a:solidFill>
                <a:latin typeface="Lato"/>
              </a:rPr>
              <a:t> API key </a:t>
            </a:r>
            <a:r>
              <a:rPr sz="1180" b="0" i="0" dirty="0">
                <a:solidFill>
                  <a:srgbClr val="475569"/>
                </a:solidFill>
                <a:latin typeface="Lato"/>
              </a:rPr>
              <a:t>para </a:t>
            </a:r>
            <a:r>
              <a:rPr sz="1180" b="0" i="0" dirty="0" err="1">
                <a:solidFill>
                  <a:srgbClr val="475569"/>
                </a:solidFill>
                <a:latin typeface="Lato"/>
              </a:rPr>
              <a:t>integraciones</a:t>
            </a:r>
            <a:r>
              <a:rPr sz="1180" b="0" i="0" dirty="0">
                <a:solidFill>
                  <a:srgbClr val="475569"/>
                </a:solidFill>
                <a:latin typeface="Lato"/>
              </a:rPr>
              <a:t> de </a:t>
            </a:r>
            <a:r>
              <a:rPr sz="1180" b="0" i="0" dirty="0" err="1">
                <a:solidFill>
                  <a:srgbClr val="475569"/>
                </a:solidFill>
                <a:latin typeface="Lato"/>
              </a:rPr>
              <a:t>desarrollo</a:t>
            </a:r>
            <a:r>
              <a:rPr sz="1180" b="0" i="0" dirty="0">
                <a:solidFill>
                  <a:srgbClr val="475569"/>
                </a:solidFill>
                <a:latin typeface="Lato"/>
              </a:rPr>
              <a:t>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877824" y="3243834"/>
            <a:ext cx="0" cy="619506"/>
          </a:xfrm>
          <a:prstGeom prst="line">
            <a:avLst/>
          </a:prstGeom>
          <a:ln w="15875">
            <a:solidFill>
              <a:srgbClr val="E2E8F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685800" y="3881628"/>
            <a:ext cx="384048" cy="384048"/>
          </a:xfrm>
          <a:prstGeom prst="ellipse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500" b="1" i="0">
                <a:solidFill>
                  <a:srgbClr val="0F172A"/>
                </a:solidFill>
                <a:latin typeface="Poppins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52728" y="3863340"/>
            <a:ext cx="1025042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F172A"/>
                </a:solidFill>
                <a:latin typeface="Poppins"/>
              </a:rPr>
              <a:t>Dentro de Antigravity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52728" y="4174236"/>
            <a:ext cx="10250424" cy="1888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80" b="0" i="0" dirty="0">
                <a:solidFill>
                  <a:srgbClr val="C00000"/>
                </a:solidFill>
                <a:latin typeface="Lato"/>
              </a:rPr>
              <a:t>Gemini </a:t>
            </a:r>
            <a:r>
              <a:rPr sz="1180" b="0" i="0" dirty="0" err="1">
                <a:solidFill>
                  <a:srgbClr val="C00000"/>
                </a:solidFill>
                <a:latin typeface="Lato"/>
              </a:rPr>
              <a:t>viene</a:t>
            </a:r>
            <a:r>
              <a:rPr sz="1180" b="0" i="0" dirty="0">
                <a:solidFill>
                  <a:srgbClr val="C00000"/>
                </a:solidFill>
                <a:latin typeface="Lato"/>
              </a:rPr>
              <a:t> disponible </a:t>
            </a:r>
            <a:r>
              <a:rPr sz="1180" b="0" i="0" dirty="0" err="1">
                <a:solidFill>
                  <a:srgbClr val="475569"/>
                </a:solidFill>
                <a:latin typeface="Lato"/>
              </a:rPr>
              <a:t>por</a:t>
            </a:r>
            <a:r>
              <a:rPr sz="1180" b="0" i="0" dirty="0">
                <a:solidFill>
                  <a:srgbClr val="475569"/>
                </a:solidFill>
                <a:latin typeface="Lato"/>
              </a:rPr>
              <a:t> </a:t>
            </a:r>
            <a:r>
              <a:rPr sz="1180" b="0" i="0" dirty="0" err="1">
                <a:solidFill>
                  <a:srgbClr val="475569"/>
                </a:solidFill>
                <a:latin typeface="Lato"/>
              </a:rPr>
              <a:t>defecto</a:t>
            </a:r>
            <a:r>
              <a:rPr sz="1180" b="0" i="0" dirty="0">
                <a:solidFill>
                  <a:srgbClr val="475569"/>
                </a:solidFill>
                <a:latin typeface="Lato"/>
              </a:rPr>
              <a:t> </a:t>
            </a:r>
            <a:r>
              <a:rPr sz="1180" b="0" i="0" dirty="0" err="1">
                <a:solidFill>
                  <a:srgbClr val="475569"/>
                </a:solidFill>
                <a:latin typeface="Lato"/>
              </a:rPr>
              <a:t>en</a:t>
            </a:r>
            <a:r>
              <a:rPr sz="1180" b="0" i="0" dirty="0">
                <a:solidFill>
                  <a:srgbClr val="475569"/>
                </a:solidFill>
                <a:latin typeface="Lato"/>
              </a:rPr>
              <a:t> el selector de </a:t>
            </a:r>
            <a:r>
              <a:rPr sz="1180" b="0" i="0" dirty="0" err="1">
                <a:solidFill>
                  <a:srgbClr val="475569"/>
                </a:solidFill>
                <a:latin typeface="Lato"/>
              </a:rPr>
              <a:t>modelos</a:t>
            </a:r>
            <a:r>
              <a:rPr sz="1180" b="0" i="0" dirty="0">
                <a:solidFill>
                  <a:srgbClr val="475569"/>
                </a:solidFill>
                <a:latin typeface="Lato"/>
              </a:rPr>
              <a:t> del Agent Manager.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877824" y="4283964"/>
            <a:ext cx="0" cy="619506"/>
          </a:xfrm>
          <a:prstGeom prst="line">
            <a:avLst/>
          </a:prstGeom>
          <a:ln w="15875">
            <a:solidFill>
              <a:srgbClr val="E2E8F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685800" y="4921758"/>
            <a:ext cx="384048" cy="384048"/>
          </a:xfrm>
          <a:prstGeom prst="ellipse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500" b="1" i="0">
                <a:solidFill>
                  <a:srgbClr val="0F172A"/>
                </a:solidFill>
                <a:latin typeface="Poppins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52728" y="4903470"/>
            <a:ext cx="1025042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F172A"/>
                </a:solidFill>
                <a:latin typeface="Poppins"/>
              </a:rPr>
              <a:t>Fortaleza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52728" y="5214366"/>
            <a:ext cx="10250424" cy="71094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80" b="0" i="0">
                <a:solidFill>
                  <a:srgbClr val="475569"/>
                </a:solidFill>
                <a:latin typeface="Lato"/>
              </a:rPr>
              <a:t>gran ventana de contexto: ideal para analizar datasets extensos o múltiples archivos de código a la vez.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6510528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94A3B8"/>
                </a:solidFill>
                <a:latin typeface="Lato"/>
              </a:rPr>
              <a:t>IA en la Investigación Científica  ·  CBATA — TdeA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789920" y="6510528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94A3B8"/>
                </a:solidFill>
                <a:latin typeface="Lato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502920"/>
            <a:ext cx="107899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 spc="150">
                <a:solidFill>
                  <a:srgbClr val="0EA5E9"/>
                </a:solidFill>
                <a:latin typeface="Poppins"/>
              </a:rPr>
              <a:t>PARTE 04  ·  ACCESO E INTEGRACIÓN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32104"/>
            <a:ext cx="1078992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000" b="1" i="0">
                <a:solidFill>
                  <a:srgbClr val="0F172A"/>
                </a:solidFill>
                <a:latin typeface="Poppins"/>
              </a:rPr>
              <a:t>Claude: razonamiento y rigor en el código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85800" y="1581912"/>
            <a:ext cx="502920" cy="0"/>
          </a:xfrm>
          <a:prstGeom prst="line">
            <a:avLst/>
          </a:prstGeom>
          <a:ln w="38100">
            <a:solidFill>
              <a:srgbClr val="38BDF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Oval 4"/>
          <p:cNvSpPr/>
          <p:nvPr/>
        </p:nvSpPr>
        <p:spPr>
          <a:xfrm>
            <a:off x="685800" y="1801368"/>
            <a:ext cx="384048" cy="384048"/>
          </a:xfrm>
          <a:prstGeom prst="ellipse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500" b="1" i="0">
                <a:solidFill>
                  <a:srgbClr val="0F172A"/>
                </a:solidFill>
                <a:latin typeface="Poppins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52728" y="1783080"/>
            <a:ext cx="1025042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F172A"/>
                </a:solidFill>
                <a:latin typeface="Poppins"/>
              </a:rPr>
              <a:t>Uso conversacional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52728" y="2093976"/>
            <a:ext cx="10250424" cy="1888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80" b="0" i="0" dirty="0">
                <a:solidFill>
                  <a:srgbClr val="475569"/>
                </a:solidFill>
                <a:latin typeface="Lato"/>
              </a:rPr>
              <a:t>claude.ai, con planes Free y Pro — ideal </a:t>
            </a:r>
            <a:r>
              <a:rPr sz="1180" b="0" i="0" dirty="0">
                <a:solidFill>
                  <a:srgbClr val="C00000"/>
                </a:solidFill>
                <a:latin typeface="Lato"/>
              </a:rPr>
              <a:t>para </a:t>
            </a:r>
            <a:r>
              <a:rPr sz="1180" b="0" i="0" dirty="0" err="1">
                <a:solidFill>
                  <a:srgbClr val="C00000"/>
                </a:solidFill>
                <a:latin typeface="Lato"/>
              </a:rPr>
              <a:t>razonamiento</a:t>
            </a:r>
            <a:r>
              <a:rPr sz="1180" b="0" i="0" dirty="0">
                <a:solidFill>
                  <a:srgbClr val="C00000"/>
                </a:solidFill>
                <a:latin typeface="Lato"/>
              </a:rPr>
              <a:t> profundo y </a:t>
            </a:r>
            <a:r>
              <a:rPr sz="1180" b="0" i="0" dirty="0" err="1">
                <a:solidFill>
                  <a:srgbClr val="C00000"/>
                </a:solidFill>
                <a:latin typeface="Lato"/>
              </a:rPr>
              <a:t>redacción</a:t>
            </a:r>
            <a:r>
              <a:rPr sz="1180" b="0" i="0" dirty="0">
                <a:solidFill>
                  <a:srgbClr val="C00000"/>
                </a:solidFill>
                <a:latin typeface="Lato"/>
              </a:rPr>
              <a:t> </a:t>
            </a:r>
            <a:r>
              <a:rPr sz="1180" b="0" i="0" dirty="0" err="1">
                <a:solidFill>
                  <a:srgbClr val="C00000"/>
                </a:solidFill>
                <a:latin typeface="Lato"/>
              </a:rPr>
              <a:t>científica</a:t>
            </a:r>
            <a:r>
              <a:rPr sz="1180" b="0" i="0" dirty="0">
                <a:solidFill>
                  <a:srgbClr val="475569"/>
                </a:solidFill>
                <a:latin typeface="Lato"/>
              </a:rPr>
              <a:t>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77824" y="2203704"/>
            <a:ext cx="0" cy="619506"/>
          </a:xfrm>
          <a:prstGeom prst="line">
            <a:avLst/>
          </a:prstGeom>
          <a:ln w="15875">
            <a:solidFill>
              <a:srgbClr val="E2E8F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Oval 8"/>
          <p:cNvSpPr/>
          <p:nvPr/>
        </p:nvSpPr>
        <p:spPr>
          <a:xfrm>
            <a:off x="685800" y="2841498"/>
            <a:ext cx="384048" cy="384048"/>
          </a:xfrm>
          <a:prstGeom prst="ellipse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500" b="1" i="0">
                <a:solidFill>
                  <a:srgbClr val="0F172A"/>
                </a:solidFill>
                <a:latin typeface="Poppins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52728" y="2823210"/>
            <a:ext cx="1025042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F172A"/>
                </a:solidFill>
                <a:latin typeface="Poppins"/>
              </a:rPr>
              <a:t>Claude Code (CLI)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52728" y="3134106"/>
            <a:ext cx="10250424" cy="1888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80" b="0" i="0" dirty="0">
                <a:solidFill>
                  <a:srgbClr val="475569"/>
                </a:solidFill>
                <a:latin typeface="Lato"/>
              </a:rPr>
              <a:t>se </a:t>
            </a:r>
            <a:r>
              <a:rPr sz="1180" b="0" i="0" dirty="0" err="1">
                <a:solidFill>
                  <a:srgbClr val="475569"/>
                </a:solidFill>
                <a:latin typeface="Lato"/>
              </a:rPr>
              <a:t>instala</a:t>
            </a:r>
            <a:r>
              <a:rPr sz="1180" b="0" i="0" dirty="0">
                <a:solidFill>
                  <a:srgbClr val="475569"/>
                </a:solidFill>
                <a:latin typeface="Lato"/>
              </a:rPr>
              <a:t> con “</a:t>
            </a:r>
            <a:r>
              <a:rPr sz="1180" b="0" i="0" dirty="0" err="1">
                <a:solidFill>
                  <a:srgbClr val="475569"/>
                </a:solidFill>
                <a:latin typeface="Lato"/>
              </a:rPr>
              <a:t>npm</a:t>
            </a:r>
            <a:r>
              <a:rPr sz="1180" b="0" i="0" dirty="0">
                <a:solidFill>
                  <a:srgbClr val="475569"/>
                </a:solidFill>
                <a:latin typeface="Lato"/>
              </a:rPr>
              <a:t> install -g @anthropic-ai/claude-code” (</a:t>
            </a:r>
            <a:r>
              <a:rPr sz="1180" b="0" i="0" dirty="0" err="1">
                <a:solidFill>
                  <a:srgbClr val="475569"/>
                </a:solidFill>
                <a:latin typeface="Lato"/>
              </a:rPr>
              <a:t>requiere</a:t>
            </a:r>
            <a:r>
              <a:rPr sz="1180" b="0" i="0" dirty="0">
                <a:solidFill>
                  <a:srgbClr val="475569"/>
                </a:solidFill>
                <a:latin typeface="Lato"/>
              </a:rPr>
              <a:t> Node.js) y </a:t>
            </a:r>
            <a:r>
              <a:rPr sz="1180" b="0" i="0" dirty="0" err="1">
                <a:solidFill>
                  <a:srgbClr val="C00000"/>
                </a:solidFill>
                <a:latin typeface="Lato"/>
              </a:rPr>
              <a:t>corre</a:t>
            </a:r>
            <a:r>
              <a:rPr sz="1180" b="0" i="0" dirty="0">
                <a:solidFill>
                  <a:srgbClr val="C00000"/>
                </a:solidFill>
                <a:latin typeface="Lato"/>
              </a:rPr>
              <a:t> </a:t>
            </a:r>
            <a:r>
              <a:rPr sz="1180" b="0" i="0" dirty="0" err="1">
                <a:solidFill>
                  <a:srgbClr val="C00000"/>
                </a:solidFill>
                <a:latin typeface="Lato"/>
              </a:rPr>
              <a:t>en</a:t>
            </a:r>
            <a:r>
              <a:rPr sz="1180" b="0" i="0" dirty="0">
                <a:solidFill>
                  <a:srgbClr val="C00000"/>
                </a:solidFill>
                <a:latin typeface="Lato"/>
              </a:rPr>
              <a:t> la terminal del </a:t>
            </a:r>
            <a:r>
              <a:rPr sz="1180" b="0" i="0" dirty="0" err="1">
                <a:solidFill>
                  <a:srgbClr val="C00000"/>
                </a:solidFill>
                <a:latin typeface="Lato"/>
              </a:rPr>
              <a:t>proyecto</a:t>
            </a:r>
            <a:r>
              <a:rPr sz="1180" b="0" i="0" dirty="0">
                <a:solidFill>
                  <a:srgbClr val="475569"/>
                </a:solidFill>
                <a:latin typeface="Lato"/>
              </a:rPr>
              <a:t>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877824" y="3243834"/>
            <a:ext cx="0" cy="619506"/>
          </a:xfrm>
          <a:prstGeom prst="line">
            <a:avLst/>
          </a:prstGeom>
          <a:ln w="15875">
            <a:solidFill>
              <a:srgbClr val="E2E8F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685800" y="3881628"/>
            <a:ext cx="384048" cy="384048"/>
          </a:xfrm>
          <a:prstGeom prst="ellipse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500" b="1" i="0">
                <a:solidFill>
                  <a:srgbClr val="0F172A"/>
                </a:solidFill>
                <a:latin typeface="Poppins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52728" y="3863340"/>
            <a:ext cx="1025042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F172A"/>
                </a:solidFill>
                <a:latin typeface="Poppins"/>
              </a:rPr>
              <a:t>Consola de desarrollador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52728" y="4174236"/>
            <a:ext cx="10250424" cy="1888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80" b="0" i="0" dirty="0">
                <a:solidFill>
                  <a:srgbClr val="475569"/>
                </a:solidFill>
                <a:latin typeface="Lato"/>
              </a:rPr>
              <a:t>console.anthropic.com </a:t>
            </a:r>
            <a:r>
              <a:rPr sz="1180" b="0" i="0" dirty="0" err="1">
                <a:solidFill>
                  <a:srgbClr val="475569"/>
                </a:solidFill>
                <a:latin typeface="Lato"/>
              </a:rPr>
              <a:t>permite</a:t>
            </a:r>
            <a:r>
              <a:rPr sz="1180" b="0" i="0" dirty="0">
                <a:solidFill>
                  <a:srgbClr val="475569"/>
                </a:solidFill>
                <a:latin typeface="Lato"/>
              </a:rPr>
              <a:t> </a:t>
            </a:r>
            <a:r>
              <a:rPr sz="1180" b="0" i="0" dirty="0" err="1">
                <a:solidFill>
                  <a:srgbClr val="475569"/>
                </a:solidFill>
                <a:latin typeface="Lato"/>
              </a:rPr>
              <a:t>generar</a:t>
            </a:r>
            <a:r>
              <a:rPr sz="1180" b="0" i="0" dirty="0">
                <a:solidFill>
                  <a:srgbClr val="475569"/>
                </a:solidFill>
                <a:latin typeface="Lato"/>
              </a:rPr>
              <a:t> </a:t>
            </a:r>
            <a:r>
              <a:rPr sz="1180" b="0" i="0" dirty="0" err="1">
                <a:solidFill>
                  <a:srgbClr val="C00000"/>
                </a:solidFill>
                <a:latin typeface="Lato"/>
              </a:rPr>
              <a:t>una</a:t>
            </a:r>
            <a:r>
              <a:rPr sz="1180" b="0" i="0" dirty="0">
                <a:solidFill>
                  <a:srgbClr val="C00000"/>
                </a:solidFill>
                <a:latin typeface="Lato"/>
              </a:rPr>
              <a:t> API key para </a:t>
            </a:r>
            <a:r>
              <a:rPr sz="1180" b="0" i="0" dirty="0" err="1">
                <a:solidFill>
                  <a:srgbClr val="C00000"/>
                </a:solidFill>
                <a:latin typeface="Lato"/>
              </a:rPr>
              <a:t>integrarlo</a:t>
            </a:r>
            <a:r>
              <a:rPr sz="1180" b="0" i="0" dirty="0">
                <a:solidFill>
                  <a:srgbClr val="C00000"/>
                </a:solidFill>
                <a:latin typeface="Lato"/>
              </a:rPr>
              <a:t> </a:t>
            </a:r>
            <a:r>
              <a:rPr sz="1180" b="0" i="0" dirty="0" err="1">
                <a:solidFill>
                  <a:srgbClr val="C00000"/>
                </a:solidFill>
                <a:latin typeface="Lato"/>
              </a:rPr>
              <a:t>en</a:t>
            </a:r>
            <a:r>
              <a:rPr sz="1180" b="0" i="0" dirty="0">
                <a:solidFill>
                  <a:srgbClr val="C00000"/>
                </a:solidFill>
                <a:latin typeface="Lato"/>
              </a:rPr>
              <a:t> </a:t>
            </a:r>
            <a:r>
              <a:rPr sz="1180" b="0" i="0" dirty="0" err="1">
                <a:solidFill>
                  <a:srgbClr val="C00000"/>
                </a:solidFill>
                <a:latin typeface="Lato"/>
              </a:rPr>
              <a:t>extensiones</a:t>
            </a:r>
            <a:r>
              <a:rPr sz="1180" b="0" i="0" dirty="0">
                <a:solidFill>
                  <a:srgbClr val="C00000"/>
                </a:solidFill>
                <a:latin typeface="Lato"/>
              </a:rPr>
              <a:t> o </a:t>
            </a:r>
            <a:r>
              <a:rPr sz="1180" b="0" i="0" dirty="0" err="1">
                <a:solidFill>
                  <a:srgbClr val="C00000"/>
                </a:solidFill>
                <a:latin typeface="Lato"/>
              </a:rPr>
              <a:t>agentes</a:t>
            </a:r>
            <a:r>
              <a:rPr sz="1180" b="0" i="0" dirty="0">
                <a:solidFill>
                  <a:srgbClr val="475569"/>
                </a:solidFill>
                <a:latin typeface="Lato"/>
              </a:rPr>
              <a:t>.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877824" y="4283964"/>
            <a:ext cx="0" cy="619506"/>
          </a:xfrm>
          <a:prstGeom prst="line">
            <a:avLst/>
          </a:prstGeom>
          <a:ln w="15875">
            <a:solidFill>
              <a:srgbClr val="E2E8F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685800" y="4921758"/>
            <a:ext cx="384048" cy="384048"/>
          </a:xfrm>
          <a:prstGeom prst="ellipse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500" b="1" i="0">
                <a:solidFill>
                  <a:srgbClr val="0F172A"/>
                </a:solidFill>
                <a:latin typeface="Poppins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52728" y="4903470"/>
            <a:ext cx="1025042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F172A"/>
                </a:solidFill>
                <a:latin typeface="Poppins"/>
              </a:rPr>
              <a:t>Fortaleza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52728" y="5214366"/>
            <a:ext cx="10250424" cy="71094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80" b="0" i="0">
                <a:solidFill>
                  <a:srgbClr val="475569"/>
                </a:solidFill>
                <a:latin typeface="Lato"/>
              </a:rPr>
              <a:t>seguimiento cuidadoso de instrucciones complejas y explicaciones didácticas del código que genera.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6510528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94A3B8"/>
                </a:solidFill>
                <a:latin typeface="Lato"/>
              </a:rPr>
              <a:t>IA en la Investigación Científica  ·  CBATA — TdeA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789920" y="6510528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94A3B8"/>
                </a:solidFill>
                <a:latin typeface="Lato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502920"/>
            <a:ext cx="107899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 spc="150">
                <a:solidFill>
                  <a:srgbClr val="0EA5E9"/>
                </a:solidFill>
                <a:latin typeface="Poppins"/>
              </a:rPr>
              <a:t>PARTE 04  ·  COMPARATIVA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32104"/>
            <a:ext cx="1078992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000" b="1" i="0">
                <a:solidFill>
                  <a:srgbClr val="0F172A"/>
                </a:solidFill>
                <a:latin typeface="Poppins"/>
              </a:rPr>
              <a:t>¿Cuándo usar cada modelo?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85800" y="1581912"/>
            <a:ext cx="502920" cy="0"/>
          </a:xfrm>
          <a:prstGeom prst="line">
            <a:avLst/>
          </a:prstGeom>
          <a:ln w="38100">
            <a:solidFill>
              <a:srgbClr val="38BDF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828800"/>
          <a:ext cx="10817352" cy="3401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62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75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755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Poppins"/>
                        </a:rPr>
                        <a:t>Tarea científica</a:t>
                      </a:r>
                    </a:p>
                  </a:txBody>
                  <a:tcPr marL="127000" marT="76200" marB="76200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Poppins"/>
                        </a:rPr>
                        <a:t>Gemini</a:t>
                      </a:r>
                    </a:p>
                  </a:txBody>
                  <a:tcPr marL="127000" marT="76200" marB="76200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Poppins"/>
                        </a:rPr>
                        <a:t>Claude</a:t>
                      </a:r>
                    </a:p>
                  </a:txBody>
                  <a:tcPr marL="127000" marT="76200" marB="76200"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0F172A"/>
                          </a:solidFill>
                          <a:latin typeface="Lato"/>
                        </a:rPr>
                        <a:t>Analizar datasets extensos</a:t>
                      </a:r>
                    </a:p>
                  </a:txBody>
                  <a:tcPr marL="127000" marT="76200" marB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475569"/>
                          </a:solidFill>
                          <a:latin typeface="Lato"/>
                        </a:rPr>
                        <a:t>Excelente (contexto amplio)</a:t>
                      </a:r>
                    </a:p>
                  </a:txBody>
                  <a:tcPr marL="127000" marT="76200" marB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475569"/>
                          </a:solidFill>
                          <a:latin typeface="Lato"/>
                        </a:rPr>
                        <a:t>Muy bueno</a:t>
                      </a:r>
                    </a:p>
                  </a:txBody>
                  <a:tcPr marL="127000" marT="76200" marB="762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0F172A"/>
                          </a:solidFill>
                          <a:latin typeface="Lato"/>
                        </a:rPr>
                        <a:t>Escribir/depurar código complejo</a:t>
                      </a:r>
                    </a:p>
                  </a:txBody>
                  <a:tcPr marL="127000" marT="76200" marB="7620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475569"/>
                          </a:solidFill>
                          <a:latin typeface="Lato"/>
                        </a:rPr>
                        <a:t>Muy bueno</a:t>
                      </a:r>
                    </a:p>
                  </a:txBody>
                  <a:tcPr marL="127000" marT="76200" marB="7620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475569"/>
                          </a:solidFill>
                          <a:latin typeface="Lato"/>
                        </a:rPr>
                        <a:t>Excelente</a:t>
                      </a:r>
                    </a:p>
                  </a:txBody>
                  <a:tcPr marL="127000" marT="76200" marB="76200"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0F172A"/>
                          </a:solidFill>
                          <a:latin typeface="Lato"/>
                        </a:rPr>
                        <a:t>Redactar manuscritos y métodos</a:t>
                      </a:r>
                    </a:p>
                  </a:txBody>
                  <a:tcPr marL="127000" marT="76200" marB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475569"/>
                          </a:solidFill>
                          <a:latin typeface="Lato"/>
                        </a:rPr>
                        <a:t>Bueno</a:t>
                      </a:r>
                    </a:p>
                  </a:txBody>
                  <a:tcPr marL="127000" marT="76200" marB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475569"/>
                          </a:solidFill>
                          <a:latin typeface="Lato"/>
                        </a:rPr>
                        <a:t>Excelente</a:t>
                      </a:r>
                    </a:p>
                  </a:txBody>
                  <a:tcPr marL="127000" marT="76200" marB="762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0F172A"/>
                          </a:solidFill>
                          <a:latin typeface="Lato"/>
                        </a:rPr>
                        <a:t>Integración nativa en Antigravity</a:t>
                      </a:r>
                    </a:p>
                  </a:txBody>
                  <a:tcPr marL="127000" marT="76200" marB="7620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475569"/>
                          </a:solidFill>
                          <a:latin typeface="Lato"/>
                        </a:rPr>
                        <a:t>Nativa</a:t>
                      </a:r>
                    </a:p>
                  </a:txBody>
                  <a:tcPr marL="127000" marT="76200" marB="7620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475569"/>
                          </a:solidFill>
                          <a:latin typeface="Lato"/>
                        </a:rPr>
                        <a:t>Vía extensión / CLI</a:t>
                      </a:r>
                    </a:p>
                  </a:txBody>
                  <a:tcPr marL="127000" marT="76200" marB="76200"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0F172A"/>
                          </a:solidFill>
                          <a:latin typeface="Lato"/>
                        </a:rPr>
                        <a:t>Explicar el razonamiento paso a paso</a:t>
                      </a:r>
                    </a:p>
                  </a:txBody>
                  <a:tcPr marL="127000" marT="76200" marB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475569"/>
                          </a:solidFill>
                          <a:latin typeface="Lato"/>
                        </a:rPr>
                        <a:t>Bueno</a:t>
                      </a:r>
                    </a:p>
                  </a:txBody>
                  <a:tcPr marL="127000" marT="76200" marB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475569"/>
                          </a:solidFill>
                          <a:latin typeface="Lato"/>
                        </a:rPr>
                        <a:t>Excelente</a:t>
                      </a:r>
                    </a:p>
                  </a:txBody>
                  <a:tcPr marL="127000" marT="76200" marB="762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85800" y="6510528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94A3B8"/>
                </a:solidFill>
                <a:latin typeface="Lato"/>
              </a:rPr>
              <a:t>IA en la Investigación Científica  ·  CBATA — TdeA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10528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94A3B8"/>
                </a:solidFill>
                <a:latin typeface="Lato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502920"/>
            <a:ext cx="107899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 spc="150">
                <a:solidFill>
                  <a:srgbClr val="0EA5E9"/>
                </a:solidFill>
                <a:latin typeface="Poppins"/>
              </a:rPr>
              <a:t>PARTE 04  ·  PROMPTS RIGUROSOS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32104"/>
            <a:ext cx="1078992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000" b="1" i="0">
                <a:solidFill>
                  <a:srgbClr val="0F172A"/>
                </a:solidFill>
                <a:latin typeface="Poppins"/>
              </a:rPr>
              <a:t>La estructura Rol – Contexto – Tarea (R-C-T)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85800" y="1581912"/>
            <a:ext cx="502920" cy="0"/>
          </a:xfrm>
          <a:prstGeom prst="line">
            <a:avLst/>
          </a:prstGeom>
          <a:ln w="38100">
            <a:solidFill>
              <a:srgbClr val="38BDF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85800" y="1783080"/>
            <a:ext cx="106070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 i="1">
                <a:solidFill>
                  <a:srgbClr val="475569"/>
                </a:solidFill>
                <a:latin typeface="Lato"/>
              </a:rPr>
              <a:t>Un buen prompt científico reduce ambigüedad y errores de la IA: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350008"/>
            <a:ext cx="10607040" cy="3840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1400"/>
              </a:spcAft>
            </a:pPr>
            <a:r>
              <a:rPr sz="1550" b="1" i="0">
                <a:solidFill>
                  <a:srgbClr val="0EA5E9"/>
                </a:solidFill>
                <a:latin typeface="Lato"/>
              </a:rPr>
              <a:t>—  Rol  </a:t>
            </a:r>
            <a:r>
              <a:rPr sz="1550" b="0" i="0">
                <a:solidFill>
                  <a:srgbClr val="475569"/>
                </a:solidFill>
                <a:latin typeface="Lato"/>
              </a:rPr>
              <a:t>“Actúa como un científico atmosférico experto en Python y modelos de calidad del aire.”</a:t>
            </a:r>
          </a:p>
          <a:p>
            <a:pPr>
              <a:lnSpc>
                <a:spcPct val="108000"/>
              </a:lnSpc>
              <a:spcAft>
                <a:spcPts val="1400"/>
              </a:spcAft>
            </a:pPr>
            <a:r>
              <a:rPr sz="1550" b="1" i="0">
                <a:solidFill>
                  <a:srgbClr val="0EA5E9"/>
                </a:solidFill>
                <a:latin typeface="Lato"/>
              </a:rPr>
              <a:t>—  Contexto  </a:t>
            </a:r>
            <a:r>
              <a:rPr sz="1550" b="0" i="0">
                <a:solidFill>
                  <a:srgbClr val="475569"/>
                </a:solidFill>
                <a:latin typeface="Lato"/>
              </a:rPr>
              <a:t>“Tengo un dataset de PBLH y PM2.5 con errores de sensor en la estación X.”</a:t>
            </a:r>
          </a:p>
          <a:p>
            <a:pPr>
              <a:lnSpc>
                <a:spcPct val="108000"/>
              </a:lnSpc>
              <a:spcAft>
                <a:spcPts val="1400"/>
              </a:spcAft>
            </a:pPr>
            <a:r>
              <a:rPr sz="1550" b="1" i="0">
                <a:solidFill>
                  <a:srgbClr val="0EA5E9"/>
                </a:solidFill>
                <a:latin typeface="Lato"/>
              </a:rPr>
              <a:t>—  Tarea  </a:t>
            </a:r>
            <a:r>
              <a:rPr sz="1550" b="0" i="0">
                <a:solidFill>
                  <a:srgbClr val="475569"/>
                </a:solidFill>
                <a:latin typeface="Lato"/>
              </a:rPr>
              <a:t>“Escribe un script para imputar los datos faltantes con un promedio móvil ponderado.”</a:t>
            </a:r>
          </a:p>
          <a:p>
            <a:pPr>
              <a:lnSpc>
                <a:spcPct val="108000"/>
              </a:lnSpc>
              <a:spcAft>
                <a:spcPts val="1400"/>
              </a:spcAft>
            </a:pPr>
            <a:r>
              <a:rPr sz="1550" b="1" i="0">
                <a:solidFill>
                  <a:srgbClr val="0EA5E9"/>
                </a:solidFill>
                <a:latin typeface="Lato"/>
              </a:rPr>
              <a:t>—  Resultado esperado  </a:t>
            </a:r>
            <a:r>
              <a:rPr sz="1550" b="0" i="0">
                <a:solidFill>
                  <a:srgbClr val="475569"/>
                </a:solidFill>
                <a:latin typeface="Lato"/>
              </a:rPr>
              <a:t>código funcional, comentado y con supuestos explícitos — nunca una “caja negra”.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510528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94A3B8"/>
                </a:solidFill>
                <a:latin typeface="Lato"/>
              </a:rPr>
              <a:t>IA en la Investigación Científica  ·  CBATA — TdeA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510528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94A3B8"/>
                </a:solidFill>
                <a:latin typeface="Lato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685800" y="594360"/>
            <a:ext cx="2834640" cy="384048"/>
          </a:xfrm>
          <a:prstGeom prst="roundRect">
            <a:avLst>
              <a:gd name="adj" fmla="val 50000"/>
            </a:avLst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200" b="1" i="0">
                <a:solidFill>
                  <a:srgbClr val="0F172A"/>
                </a:solidFill>
                <a:latin typeface="Poppins"/>
              </a:rPr>
              <a:t>MOMENTO PRÁCTICO II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234440"/>
            <a:ext cx="105156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Poppins"/>
              </a:rPr>
              <a:t>Pídele a la IA que razone como científico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2240280"/>
            <a:ext cx="10817352" cy="141732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60120" y="2657770"/>
            <a:ext cx="10241280" cy="58233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1" dirty="0">
                <a:solidFill>
                  <a:srgbClr val="38BDF8"/>
                </a:solidFill>
                <a:latin typeface="Lato"/>
              </a:rPr>
              <a:t>“</a:t>
            </a:r>
            <a:r>
              <a:rPr sz="1600" b="0" i="1" dirty="0" err="1">
                <a:solidFill>
                  <a:srgbClr val="38BDF8"/>
                </a:solidFill>
                <a:latin typeface="Lato"/>
              </a:rPr>
              <a:t>Actúa</a:t>
            </a:r>
            <a:r>
              <a:rPr sz="1600" b="0" i="1" dirty="0">
                <a:solidFill>
                  <a:srgbClr val="38BDF8"/>
                </a:solidFill>
                <a:latin typeface="Lato"/>
              </a:rPr>
              <a:t> </a:t>
            </a:r>
            <a:r>
              <a:rPr sz="1600" b="0" i="1" dirty="0" err="1">
                <a:solidFill>
                  <a:srgbClr val="38BDF8"/>
                </a:solidFill>
                <a:latin typeface="Lato"/>
              </a:rPr>
              <a:t>como</a:t>
            </a:r>
            <a:r>
              <a:rPr sz="1600" b="0" i="1" dirty="0">
                <a:solidFill>
                  <a:srgbClr val="38BDF8"/>
                </a:solidFill>
                <a:latin typeface="Lato"/>
              </a:rPr>
              <a:t> </a:t>
            </a:r>
            <a:r>
              <a:rPr sz="1600" b="0" i="1" dirty="0" err="1">
                <a:solidFill>
                  <a:srgbClr val="38BDF8"/>
                </a:solidFill>
                <a:latin typeface="Lato"/>
              </a:rPr>
              <a:t>investigador</a:t>
            </a:r>
            <a:r>
              <a:rPr sz="1600" b="0" i="1" dirty="0">
                <a:solidFill>
                  <a:srgbClr val="38BDF8"/>
                </a:solidFill>
                <a:latin typeface="Lato"/>
              </a:rPr>
              <a:t> </a:t>
            </a:r>
            <a:r>
              <a:rPr sz="1600" b="0" i="1" dirty="0" err="1">
                <a:solidFill>
                  <a:srgbClr val="38BDF8"/>
                </a:solidFill>
                <a:latin typeface="Lato"/>
              </a:rPr>
              <a:t>en</a:t>
            </a:r>
            <a:r>
              <a:rPr sz="1600" b="0" i="1" dirty="0">
                <a:solidFill>
                  <a:srgbClr val="38BDF8"/>
                </a:solidFill>
                <a:latin typeface="Lato"/>
              </a:rPr>
              <a:t> </a:t>
            </a:r>
            <a:r>
              <a:rPr lang="es-CO" sz="1600" i="1" dirty="0">
                <a:solidFill>
                  <a:srgbClr val="38BDF8"/>
                </a:solidFill>
                <a:latin typeface="Lato"/>
              </a:rPr>
              <a:t>capa limite atmosférica (CLA) en zonas urbanas</a:t>
            </a:r>
            <a:r>
              <a:rPr sz="1600" b="0" i="1" dirty="0">
                <a:solidFill>
                  <a:srgbClr val="38BDF8"/>
                </a:solidFill>
                <a:latin typeface="Lato"/>
              </a:rPr>
              <a:t>. </a:t>
            </a:r>
            <a:r>
              <a:rPr sz="1600" b="0" i="1" dirty="0" err="1">
                <a:solidFill>
                  <a:srgbClr val="38BDF8"/>
                </a:solidFill>
                <a:latin typeface="Lato"/>
              </a:rPr>
              <a:t>Aquí</a:t>
            </a:r>
            <a:r>
              <a:rPr sz="1600" b="0" i="1" dirty="0">
                <a:solidFill>
                  <a:srgbClr val="38BDF8"/>
                </a:solidFill>
                <a:latin typeface="Lato"/>
              </a:rPr>
              <a:t> </a:t>
            </a:r>
            <a:r>
              <a:rPr sz="1600" b="0" i="1" dirty="0" err="1">
                <a:solidFill>
                  <a:srgbClr val="38BDF8"/>
                </a:solidFill>
                <a:latin typeface="Lato"/>
              </a:rPr>
              <a:t>está</a:t>
            </a:r>
            <a:r>
              <a:rPr sz="1600" b="0" i="1" dirty="0">
                <a:solidFill>
                  <a:srgbClr val="38BDF8"/>
                </a:solidFill>
                <a:latin typeface="Lato"/>
              </a:rPr>
              <a:t> mi dataset. </a:t>
            </a:r>
            <a:r>
              <a:rPr sz="1600" b="0" i="1" dirty="0" err="1">
                <a:solidFill>
                  <a:srgbClr val="38BDF8"/>
                </a:solidFill>
                <a:latin typeface="Lato"/>
              </a:rPr>
              <a:t>Explica</a:t>
            </a:r>
            <a:r>
              <a:rPr sz="1600" b="0" i="1" dirty="0">
                <a:solidFill>
                  <a:srgbClr val="38BDF8"/>
                </a:solidFill>
                <a:latin typeface="Lato"/>
              </a:rPr>
              <a:t> </a:t>
            </a:r>
            <a:r>
              <a:rPr sz="1600" b="0" i="1" dirty="0" err="1">
                <a:solidFill>
                  <a:srgbClr val="38BDF8"/>
                </a:solidFill>
                <a:latin typeface="Lato"/>
              </a:rPr>
              <a:t>qué</a:t>
            </a:r>
            <a:r>
              <a:rPr sz="1600" b="0" i="1" dirty="0">
                <a:solidFill>
                  <a:srgbClr val="38BDF8"/>
                </a:solidFill>
                <a:latin typeface="Lato"/>
              </a:rPr>
              <a:t> </a:t>
            </a:r>
            <a:r>
              <a:rPr sz="1600" b="0" i="1" dirty="0" err="1">
                <a:solidFill>
                  <a:srgbClr val="38BDF8"/>
                </a:solidFill>
                <a:latin typeface="Lato"/>
              </a:rPr>
              <a:t>hace</a:t>
            </a:r>
            <a:r>
              <a:rPr sz="1600" b="0" i="1" dirty="0">
                <a:solidFill>
                  <a:srgbClr val="38BDF8"/>
                </a:solidFill>
                <a:latin typeface="Lato"/>
              </a:rPr>
              <a:t>, </a:t>
            </a:r>
            <a:r>
              <a:rPr sz="1600" b="0" i="1" dirty="0" err="1">
                <a:solidFill>
                  <a:srgbClr val="38BDF8"/>
                </a:solidFill>
                <a:latin typeface="Lato"/>
              </a:rPr>
              <a:t>detecta</a:t>
            </a:r>
            <a:r>
              <a:rPr sz="1600" b="0" i="1" dirty="0">
                <a:solidFill>
                  <a:srgbClr val="38BDF8"/>
                </a:solidFill>
                <a:latin typeface="Lato"/>
              </a:rPr>
              <a:t> </a:t>
            </a:r>
            <a:r>
              <a:rPr sz="1600" b="0" i="1" dirty="0" err="1">
                <a:solidFill>
                  <a:srgbClr val="38BDF8"/>
                </a:solidFill>
                <a:latin typeface="Lato"/>
              </a:rPr>
              <a:t>posibles</a:t>
            </a:r>
            <a:r>
              <a:rPr sz="1600" b="0" i="1" dirty="0">
                <a:solidFill>
                  <a:srgbClr val="38BDF8"/>
                </a:solidFill>
                <a:latin typeface="Lato"/>
              </a:rPr>
              <a:t> </a:t>
            </a:r>
            <a:r>
              <a:rPr sz="1600" b="0" i="1" dirty="0" err="1">
                <a:solidFill>
                  <a:srgbClr val="38BDF8"/>
                </a:solidFill>
                <a:latin typeface="Lato"/>
              </a:rPr>
              <a:t>errores</a:t>
            </a:r>
            <a:r>
              <a:rPr sz="1600" b="0" i="1" dirty="0">
                <a:solidFill>
                  <a:srgbClr val="38BDF8"/>
                </a:solidFill>
                <a:latin typeface="Lato"/>
              </a:rPr>
              <a:t> y </a:t>
            </a:r>
            <a:r>
              <a:rPr sz="1600" b="0" i="1" dirty="0" err="1">
                <a:solidFill>
                  <a:srgbClr val="38BDF8"/>
                </a:solidFill>
                <a:latin typeface="Lato"/>
              </a:rPr>
              <a:t>sugiere</a:t>
            </a:r>
            <a:r>
              <a:rPr sz="1600" b="0" i="1" dirty="0">
                <a:solidFill>
                  <a:srgbClr val="38BDF8"/>
                </a:solidFill>
                <a:latin typeface="Lato"/>
              </a:rPr>
              <a:t> </a:t>
            </a:r>
            <a:r>
              <a:rPr sz="1600" b="0" i="1" dirty="0" err="1">
                <a:solidFill>
                  <a:srgbClr val="38BDF8"/>
                </a:solidFill>
                <a:latin typeface="Lato"/>
              </a:rPr>
              <a:t>una</a:t>
            </a:r>
            <a:r>
              <a:rPr sz="1600" b="0" i="1" dirty="0">
                <a:solidFill>
                  <a:srgbClr val="38BDF8"/>
                </a:solidFill>
                <a:latin typeface="Lato"/>
              </a:rPr>
              <a:t> </a:t>
            </a:r>
            <a:r>
              <a:rPr sz="1600" b="0" i="1" dirty="0" err="1">
                <a:solidFill>
                  <a:srgbClr val="38BDF8"/>
                </a:solidFill>
                <a:latin typeface="Lato"/>
              </a:rPr>
              <a:t>prueba</a:t>
            </a:r>
            <a:r>
              <a:rPr sz="1600" b="0" i="1" dirty="0">
                <a:solidFill>
                  <a:srgbClr val="38BDF8"/>
                </a:solidFill>
                <a:latin typeface="Lato"/>
              </a:rPr>
              <a:t> de </a:t>
            </a:r>
            <a:r>
              <a:rPr sz="1600" b="0" i="1" dirty="0" err="1">
                <a:solidFill>
                  <a:srgbClr val="38BDF8"/>
                </a:solidFill>
                <a:latin typeface="Lato"/>
              </a:rPr>
              <a:t>validación</a:t>
            </a:r>
            <a:r>
              <a:rPr sz="1600" b="0" i="1" dirty="0">
                <a:solidFill>
                  <a:srgbClr val="38BDF8"/>
                </a:solidFill>
                <a:latin typeface="Lato"/>
              </a:rPr>
              <a:t>.”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977639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 spc="100">
                <a:solidFill>
                  <a:srgbClr val="94A3B8"/>
                </a:solidFill>
                <a:latin typeface="Poppins"/>
              </a:rPr>
              <a:t>EN ESTE EJERCICIO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4352026"/>
            <a:ext cx="10607040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350" b="1" i="0">
                <a:solidFill>
                  <a:srgbClr val="38BDF8"/>
                </a:solidFill>
                <a:latin typeface="Lato"/>
              </a:rPr>
              <a:t>›  </a:t>
            </a:r>
            <a:r>
              <a:rPr sz="1350" b="0" i="0">
                <a:solidFill>
                  <a:srgbClr val="E2E8F0"/>
                </a:solidFill>
                <a:latin typeface="Lato"/>
              </a:rPr>
              <a:t>Cada participante trae un fragmento de código o una ecuación de su propio proyecto.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350" b="1" i="0">
                <a:solidFill>
                  <a:srgbClr val="38BDF8"/>
                </a:solidFill>
                <a:latin typeface="Lato"/>
              </a:rPr>
              <a:t>›  </a:t>
            </a:r>
            <a:r>
              <a:rPr sz="1350" b="0" i="0">
                <a:solidFill>
                  <a:srgbClr val="E2E8F0"/>
                </a:solidFill>
                <a:latin typeface="Lato"/>
              </a:rPr>
              <a:t>Aplicamos la estructura R-C-T para pedírselo a Gemini y a Claude.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350" b="1" i="0">
                <a:solidFill>
                  <a:srgbClr val="38BDF8"/>
                </a:solidFill>
                <a:latin typeface="Lato"/>
              </a:rPr>
              <a:t>›  </a:t>
            </a:r>
            <a:r>
              <a:rPr sz="1350" b="0" i="0">
                <a:solidFill>
                  <a:srgbClr val="E2E8F0"/>
                </a:solidFill>
                <a:latin typeface="Lato"/>
              </a:rPr>
              <a:t>Comparamos ambas respuestas: claridad, precisión y supuestos declarados.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510528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94A3B8"/>
                </a:solidFill>
                <a:latin typeface="Lato"/>
              </a:rPr>
              <a:t>IA en la Investigación Científica  ·  CBATA — TdeA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0" y="6510528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94A3B8"/>
                </a:solidFill>
                <a:latin typeface="Lato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2331720"/>
            <a:ext cx="228600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0" b="1" i="0">
                <a:solidFill>
                  <a:srgbClr val="1E293B"/>
                </a:solidFill>
                <a:latin typeface="Poppins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331720"/>
            <a:ext cx="228600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0" b="1" i="0">
                <a:solidFill>
                  <a:srgbClr val="38BDF8"/>
                </a:solidFill>
                <a:latin typeface="Poppins"/>
              </a:rPr>
              <a:t>05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960120" y="3794760"/>
            <a:ext cx="594360" cy="0"/>
          </a:xfrm>
          <a:prstGeom prst="line">
            <a:avLst/>
          </a:prstGeom>
          <a:ln w="38100">
            <a:solidFill>
              <a:srgbClr val="38BDF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14400" y="3977639"/>
            <a:ext cx="98755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 i="0">
                <a:solidFill>
                  <a:srgbClr val="FFFFFF"/>
                </a:solidFill>
                <a:latin typeface="Poppins"/>
              </a:rPr>
              <a:t>Trazabilidad y colaboración: GitHub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709160"/>
            <a:ext cx="89611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E2E8F0"/>
                </a:solidFill>
                <a:latin typeface="Lato"/>
              </a:rPr>
              <a:t>Por qué el control de versiones es innegociable en la ciencia reproducible.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502920"/>
            <a:ext cx="107899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 spc="150">
                <a:solidFill>
                  <a:srgbClr val="0EA5E9"/>
                </a:solidFill>
                <a:latin typeface="Poppins"/>
              </a:rPr>
              <a:t>PARTE 05  ·  POR QUÉ VERSIONAR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32104"/>
            <a:ext cx="1078992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000" b="1" i="0">
                <a:solidFill>
                  <a:srgbClr val="0F172A"/>
                </a:solidFill>
                <a:latin typeface="Poppins"/>
              </a:rPr>
              <a:t>Git y GitHub: la memoria del proyecto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85800" y="1581912"/>
            <a:ext cx="502920" cy="0"/>
          </a:xfrm>
          <a:prstGeom prst="line">
            <a:avLst/>
          </a:prstGeom>
          <a:ln w="38100">
            <a:solidFill>
              <a:srgbClr val="38BDF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85800" y="1783080"/>
            <a:ext cx="10607040" cy="3840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1400"/>
              </a:spcAft>
            </a:pPr>
            <a:r>
              <a:rPr sz="1550" b="1" i="0">
                <a:solidFill>
                  <a:srgbClr val="0EA5E9"/>
                </a:solidFill>
                <a:latin typeface="Lato"/>
              </a:rPr>
              <a:t>—  Reproducibilidad  </a:t>
            </a:r>
            <a:r>
              <a:rPr sz="1550" b="0" i="0">
                <a:solidFill>
                  <a:srgbClr val="475569"/>
                </a:solidFill>
                <a:latin typeface="Lato"/>
              </a:rPr>
              <a:t>cualquier resultado puede rastrearse hasta la versión exacta del código que lo produjo.</a:t>
            </a:r>
          </a:p>
          <a:p>
            <a:pPr>
              <a:lnSpc>
                <a:spcPct val="108000"/>
              </a:lnSpc>
              <a:spcAft>
                <a:spcPts val="1400"/>
              </a:spcAft>
            </a:pPr>
            <a:r>
              <a:rPr sz="1550" b="1" i="0">
                <a:solidFill>
                  <a:srgbClr val="0EA5E9"/>
                </a:solidFill>
                <a:latin typeface="Lato"/>
              </a:rPr>
              <a:t>—  Historial completo  </a:t>
            </a:r>
            <a:r>
              <a:rPr sz="1550" b="0" i="0">
                <a:solidFill>
                  <a:srgbClr val="475569"/>
                </a:solidFill>
                <a:latin typeface="Lato"/>
              </a:rPr>
              <a:t>cada cambio queda registrado con autor, fecha y motivo — nunca se pierde una versión anterior.</a:t>
            </a:r>
          </a:p>
          <a:p>
            <a:pPr>
              <a:lnSpc>
                <a:spcPct val="108000"/>
              </a:lnSpc>
              <a:spcAft>
                <a:spcPts val="1400"/>
              </a:spcAft>
            </a:pPr>
            <a:r>
              <a:rPr sz="1550" b="1" i="0">
                <a:solidFill>
                  <a:srgbClr val="0EA5E9"/>
                </a:solidFill>
                <a:latin typeface="Lato"/>
              </a:rPr>
              <a:t>—  Colaboración segura  </a:t>
            </a:r>
            <a:r>
              <a:rPr sz="1550" b="0" i="0">
                <a:solidFill>
                  <a:srgbClr val="475569"/>
                </a:solidFill>
                <a:latin typeface="Lato"/>
              </a:rPr>
              <a:t>varios investigadores trabajan en paralelo sin sobrescribir el trabajo de los demás.</a:t>
            </a:r>
          </a:p>
          <a:p>
            <a:pPr>
              <a:lnSpc>
                <a:spcPct val="108000"/>
              </a:lnSpc>
              <a:spcAft>
                <a:spcPts val="1400"/>
              </a:spcAft>
            </a:pPr>
            <a:r>
              <a:rPr sz="1550" b="1" i="0">
                <a:solidFill>
                  <a:srgbClr val="0EA5E9"/>
                </a:solidFill>
                <a:latin typeface="Lato"/>
              </a:rPr>
              <a:t>—  Respaldo en la nube  </a:t>
            </a:r>
            <a:r>
              <a:rPr sz="1550" b="0" i="0">
                <a:solidFill>
                  <a:srgbClr val="475569"/>
                </a:solidFill>
                <a:latin typeface="Lato"/>
              </a:rPr>
              <a:t>GitHub aloja el proyecto de forma segura, accesible desde cualquier equipo.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510528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94A3B8"/>
                </a:solidFill>
                <a:latin typeface="Lato"/>
              </a:rPr>
              <a:t>IA en la Investigación Científica  ·  CBATA — TdeA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10528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94A3B8"/>
                </a:solidFill>
                <a:latin typeface="Lato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502920"/>
            <a:ext cx="107899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 spc="150">
                <a:solidFill>
                  <a:srgbClr val="0EA5E9"/>
                </a:solidFill>
                <a:latin typeface="Poppins"/>
              </a:rPr>
              <a:t>PARTE 05  ·  INSTALACIÓN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32104"/>
            <a:ext cx="1078992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000" b="1" i="0">
                <a:solidFill>
                  <a:srgbClr val="0F172A"/>
                </a:solidFill>
                <a:latin typeface="Poppins"/>
              </a:rPr>
              <a:t>Instalar Git y crear tu cuenta de GitHub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85800" y="1581912"/>
            <a:ext cx="502920" cy="0"/>
          </a:xfrm>
          <a:prstGeom prst="line">
            <a:avLst/>
          </a:prstGeom>
          <a:ln w="38100">
            <a:solidFill>
              <a:srgbClr val="38BDF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Oval 4"/>
          <p:cNvSpPr/>
          <p:nvPr/>
        </p:nvSpPr>
        <p:spPr>
          <a:xfrm>
            <a:off x="685800" y="1801368"/>
            <a:ext cx="384048" cy="384048"/>
          </a:xfrm>
          <a:prstGeom prst="ellipse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500" b="1" i="0">
                <a:solidFill>
                  <a:srgbClr val="0F172A"/>
                </a:solidFill>
                <a:latin typeface="Poppins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52728" y="1783080"/>
            <a:ext cx="1025042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F172A"/>
                </a:solidFill>
                <a:latin typeface="Poppins"/>
              </a:rPr>
              <a:t>Crear cuenta en GitHub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52728" y="2093976"/>
            <a:ext cx="10250424" cy="71094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80" b="0" i="0">
                <a:solidFill>
                  <a:srgbClr val="475569"/>
                </a:solidFill>
                <a:latin typeface="Lato"/>
              </a:rPr>
              <a:t>Ve a github.com y regístrate gratis con tu correo institucional.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77824" y="2203704"/>
            <a:ext cx="0" cy="619506"/>
          </a:xfrm>
          <a:prstGeom prst="line">
            <a:avLst/>
          </a:prstGeom>
          <a:ln w="15875">
            <a:solidFill>
              <a:srgbClr val="E2E8F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Oval 8"/>
          <p:cNvSpPr/>
          <p:nvPr/>
        </p:nvSpPr>
        <p:spPr>
          <a:xfrm>
            <a:off x="685800" y="2841498"/>
            <a:ext cx="384048" cy="384048"/>
          </a:xfrm>
          <a:prstGeom prst="ellipse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500" b="1" i="0">
                <a:solidFill>
                  <a:srgbClr val="0F172A"/>
                </a:solidFill>
                <a:latin typeface="Poppins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52728" y="2823210"/>
            <a:ext cx="1025042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F172A"/>
                </a:solidFill>
                <a:latin typeface="Poppins"/>
              </a:rPr>
              <a:t>Instalar Git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52728" y="3134106"/>
            <a:ext cx="10250424" cy="71094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80" b="0" i="0">
                <a:solidFill>
                  <a:srgbClr val="475569"/>
                </a:solidFill>
                <a:latin typeface="Lato"/>
              </a:rPr>
              <a:t>Windows: instalador en git-scm.com. macOS: “xcode-select --install” o “brew install git”. Linux: “sudo apt install git”.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877824" y="3243834"/>
            <a:ext cx="0" cy="619506"/>
          </a:xfrm>
          <a:prstGeom prst="line">
            <a:avLst/>
          </a:prstGeom>
          <a:ln w="15875">
            <a:solidFill>
              <a:srgbClr val="E2E8F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685800" y="3881628"/>
            <a:ext cx="384048" cy="384048"/>
          </a:xfrm>
          <a:prstGeom prst="ellipse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500" b="1" i="0">
                <a:solidFill>
                  <a:srgbClr val="0F172A"/>
                </a:solidFill>
                <a:latin typeface="Poppins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52728" y="3863340"/>
            <a:ext cx="1025042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F172A"/>
                </a:solidFill>
                <a:latin typeface="Poppins"/>
              </a:rPr>
              <a:t>Verificar instalación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52728" y="4174236"/>
            <a:ext cx="10250424" cy="71094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80" b="0" i="0">
                <a:solidFill>
                  <a:srgbClr val="475569"/>
                </a:solidFill>
                <a:latin typeface="Lato"/>
              </a:rPr>
              <a:t>En la terminal, ejecuta “git --version” para confirmar que quedó instalado.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877824" y="4283964"/>
            <a:ext cx="0" cy="619506"/>
          </a:xfrm>
          <a:prstGeom prst="line">
            <a:avLst/>
          </a:prstGeom>
          <a:ln w="15875">
            <a:solidFill>
              <a:srgbClr val="E2E8F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685800" y="4921758"/>
            <a:ext cx="384048" cy="384048"/>
          </a:xfrm>
          <a:prstGeom prst="ellipse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500" b="1" i="0">
                <a:solidFill>
                  <a:srgbClr val="0F172A"/>
                </a:solidFill>
                <a:latin typeface="Poppins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52728" y="4903470"/>
            <a:ext cx="1025042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F172A"/>
                </a:solidFill>
                <a:latin typeface="Poppins"/>
              </a:rPr>
              <a:t>Iniciar sesión en el editor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52728" y="5214366"/>
            <a:ext cx="10250424" cy="71094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80" b="0" i="0">
                <a:solidFill>
                  <a:srgbClr val="475569"/>
                </a:solidFill>
                <a:latin typeface="Lato"/>
              </a:rPr>
              <a:t>En VS Code/Antigravity, el panel de Source Control te pedirá autenticarte con tu cuenta de GitHub.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6510528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94A3B8"/>
                </a:solidFill>
                <a:latin typeface="Lato"/>
              </a:rPr>
              <a:t>IA en la Investigación Científica  ·  CBATA — TdeA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789920" y="6510528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94A3B8"/>
                </a:solidFill>
                <a:latin typeface="Lato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502920"/>
            <a:ext cx="107899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 spc="150">
                <a:solidFill>
                  <a:srgbClr val="0EA5E9"/>
                </a:solidFill>
                <a:latin typeface="Poppins"/>
              </a:rPr>
              <a:t>PARTE 05  ·  CONFIGURACIÓN INICIAL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32104"/>
            <a:ext cx="1078992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000" b="1" i="0">
                <a:solidFill>
                  <a:srgbClr val="0F172A"/>
                </a:solidFill>
                <a:latin typeface="Poppins"/>
              </a:rPr>
              <a:t>Identidad y autenticación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85800" y="1581912"/>
            <a:ext cx="502920" cy="0"/>
          </a:xfrm>
          <a:prstGeom prst="line">
            <a:avLst/>
          </a:prstGeom>
          <a:ln w="38100">
            <a:solidFill>
              <a:srgbClr val="38BDF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Oval 4"/>
          <p:cNvSpPr/>
          <p:nvPr/>
        </p:nvSpPr>
        <p:spPr>
          <a:xfrm>
            <a:off x="685800" y="1801368"/>
            <a:ext cx="384048" cy="384048"/>
          </a:xfrm>
          <a:prstGeom prst="ellipse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500" b="1" i="0">
                <a:solidFill>
                  <a:srgbClr val="0F172A"/>
                </a:solidFill>
                <a:latin typeface="Poppins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52728" y="1783080"/>
            <a:ext cx="1025042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F172A"/>
                </a:solidFill>
                <a:latin typeface="Poppins"/>
              </a:rPr>
              <a:t>Configurar tu identidad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52728" y="2093976"/>
            <a:ext cx="10250424" cy="71094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80" b="0" i="0">
                <a:solidFill>
                  <a:srgbClr val="475569"/>
                </a:solidFill>
                <a:latin typeface="Lato"/>
              </a:rPr>
              <a:t>“git config --global user.name ‘Tu Nombre’” y “git config --global user.email ‘tu@correo.com’”.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77824" y="2203704"/>
            <a:ext cx="0" cy="619506"/>
          </a:xfrm>
          <a:prstGeom prst="line">
            <a:avLst/>
          </a:prstGeom>
          <a:ln w="15875">
            <a:solidFill>
              <a:srgbClr val="E2E8F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Oval 8"/>
          <p:cNvSpPr/>
          <p:nvPr/>
        </p:nvSpPr>
        <p:spPr>
          <a:xfrm>
            <a:off x="685800" y="2841498"/>
            <a:ext cx="384048" cy="384048"/>
          </a:xfrm>
          <a:prstGeom prst="ellipse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500" b="1" i="0">
                <a:solidFill>
                  <a:srgbClr val="0F172A"/>
                </a:solidFill>
                <a:latin typeface="Poppins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52728" y="2823210"/>
            <a:ext cx="1025042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F172A"/>
                </a:solidFill>
                <a:latin typeface="Poppins"/>
              </a:rPr>
              <a:t>Elegir método de autenticación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52728" y="3134106"/>
            <a:ext cx="10250424" cy="71094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80" b="0" i="0">
                <a:solidFill>
                  <a:srgbClr val="475569"/>
                </a:solidFill>
                <a:latin typeface="Lato"/>
              </a:rPr>
              <a:t>Token de acceso personal (Settings › Developer settings › Personal access tokens) o llave SSH (“ssh-keygen”).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877824" y="3243834"/>
            <a:ext cx="0" cy="619506"/>
          </a:xfrm>
          <a:prstGeom prst="line">
            <a:avLst/>
          </a:prstGeom>
          <a:ln w="15875">
            <a:solidFill>
              <a:srgbClr val="E2E8F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685800" y="3881628"/>
            <a:ext cx="384048" cy="384048"/>
          </a:xfrm>
          <a:prstGeom prst="ellipse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500" b="1" i="0">
                <a:solidFill>
                  <a:srgbClr val="0F172A"/>
                </a:solidFill>
                <a:latin typeface="Poppins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52728" y="3863340"/>
            <a:ext cx="1025042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F172A"/>
                </a:solidFill>
                <a:latin typeface="Poppins"/>
              </a:rPr>
              <a:t>Registrar la llave SSH (si aplica)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52728" y="4174236"/>
            <a:ext cx="10250424" cy="71094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80" b="0" i="0">
                <a:solidFill>
                  <a:srgbClr val="475569"/>
                </a:solidFill>
                <a:latin typeface="Lato"/>
              </a:rPr>
              <a:t>Copia la llave pública y pégala en GitHub › Settings › SSH and GPG keys.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877824" y="4283964"/>
            <a:ext cx="0" cy="619506"/>
          </a:xfrm>
          <a:prstGeom prst="line">
            <a:avLst/>
          </a:prstGeom>
          <a:ln w="15875">
            <a:solidFill>
              <a:srgbClr val="E2E8F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685800" y="4921758"/>
            <a:ext cx="384048" cy="384048"/>
          </a:xfrm>
          <a:prstGeom prst="ellipse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500" b="1" i="0">
                <a:solidFill>
                  <a:srgbClr val="0F172A"/>
                </a:solidFill>
                <a:latin typeface="Poppins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52728" y="4903470"/>
            <a:ext cx="1025042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F172A"/>
                </a:solidFill>
                <a:latin typeface="Poppins"/>
              </a:rPr>
              <a:t>Probar la conexión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52728" y="5214366"/>
            <a:ext cx="10250424" cy="71094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80" b="0" i="0">
                <a:solidFill>
                  <a:srgbClr val="475569"/>
                </a:solidFill>
                <a:latin typeface="Lato"/>
              </a:rPr>
              <a:t>“ssh -T git@github.com” debe confirmar tu usuario correctamente.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6510528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94A3B8"/>
                </a:solidFill>
                <a:latin typeface="Lato"/>
              </a:rPr>
              <a:t>IA en la Investigación Científica  ·  CBATA — TdeA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789920" y="6510528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94A3B8"/>
                </a:solidFill>
                <a:latin typeface="Lato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502920"/>
            <a:ext cx="107899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 spc="150">
                <a:solidFill>
                  <a:srgbClr val="0EA5E9"/>
                </a:solidFill>
                <a:latin typeface="Poppins"/>
              </a:rPr>
              <a:t>PARTE 05  ·  FLUJO BÁSICO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32104"/>
            <a:ext cx="1078992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000" b="1" i="0">
                <a:solidFill>
                  <a:srgbClr val="0F172A"/>
                </a:solidFill>
                <a:latin typeface="Poppins"/>
              </a:rPr>
              <a:t>El ciclo diario de trabajo con Git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85800" y="1581912"/>
            <a:ext cx="502920" cy="0"/>
          </a:xfrm>
          <a:prstGeom prst="line">
            <a:avLst/>
          </a:prstGeom>
          <a:ln w="38100">
            <a:solidFill>
              <a:srgbClr val="38BDF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685800" y="2148840"/>
            <a:ext cx="1856232" cy="1828800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1394460" y="1929384"/>
            <a:ext cx="438912" cy="438912"/>
          </a:xfrm>
          <a:prstGeom prst="ellipse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500" b="1" i="0">
                <a:solidFill>
                  <a:srgbClr val="0F172A"/>
                </a:solidFill>
                <a:latin typeface="Poppins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" y="2496312"/>
            <a:ext cx="1527048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0F172A"/>
                </a:solidFill>
                <a:latin typeface="Poppins"/>
              </a:rPr>
              <a:t>Crear repositorio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" y="3191255"/>
            <a:ext cx="1527048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0">
                <a:solidFill>
                  <a:srgbClr val="475569"/>
                </a:solidFill>
                <a:latin typeface="Lato"/>
              </a:rPr>
              <a:t>Botón “New” en GitHub, o “git init” en local.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542032" y="3063240"/>
            <a:ext cx="384048" cy="0"/>
          </a:xfrm>
          <a:prstGeom prst="line">
            <a:avLst/>
          </a:prstGeom>
          <a:ln w="25400">
            <a:solidFill>
              <a:srgbClr val="0EA5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2926080" y="2148840"/>
            <a:ext cx="1856232" cy="1828800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3634740" y="1929384"/>
            <a:ext cx="438912" cy="438912"/>
          </a:xfrm>
          <a:prstGeom prst="ellipse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500" b="1" i="0">
                <a:solidFill>
                  <a:srgbClr val="0F172A"/>
                </a:solidFill>
                <a:latin typeface="Poppins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90672" y="2496312"/>
            <a:ext cx="1527048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0F172A"/>
                </a:solidFill>
                <a:latin typeface="Poppins"/>
              </a:rPr>
              <a:t>Clonar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90672" y="3191255"/>
            <a:ext cx="1527048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0">
                <a:solidFill>
                  <a:srgbClr val="475569"/>
                </a:solidFill>
                <a:latin typeface="Lato"/>
              </a:rPr>
              <a:t>“git clone &lt;url&gt;” desde la terminal o el panel de Source Control.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4782312" y="3063240"/>
            <a:ext cx="384048" cy="0"/>
          </a:xfrm>
          <a:prstGeom prst="line">
            <a:avLst/>
          </a:prstGeom>
          <a:ln w="25400">
            <a:solidFill>
              <a:srgbClr val="0EA5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5166360" y="2148840"/>
            <a:ext cx="1856232" cy="1828800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5875020" y="1929384"/>
            <a:ext cx="438912" cy="438912"/>
          </a:xfrm>
          <a:prstGeom prst="ellipse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500" b="1" i="0">
                <a:solidFill>
                  <a:srgbClr val="0F172A"/>
                </a:solidFill>
                <a:latin typeface="Poppin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30952" y="2496312"/>
            <a:ext cx="1527048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0F172A"/>
                </a:solidFill>
                <a:latin typeface="Poppins"/>
              </a:rPr>
              <a:t>Editar y guardar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30952" y="3191255"/>
            <a:ext cx="1527048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0">
                <a:solidFill>
                  <a:srgbClr val="475569"/>
                </a:solidFill>
                <a:latin typeface="Lato"/>
              </a:rPr>
              <a:t>trabajas en el código con ayuda de Gemini/Claude dentro del editor.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022592" y="3063240"/>
            <a:ext cx="384048" cy="0"/>
          </a:xfrm>
          <a:prstGeom prst="line">
            <a:avLst/>
          </a:prstGeom>
          <a:ln w="25400">
            <a:solidFill>
              <a:srgbClr val="0EA5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7406640" y="2148840"/>
            <a:ext cx="1856232" cy="1828800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8115300" y="1929384"/>
            <a:ext cx="438912" cy="438912"/>
          </a:xfrm>
          <a:prstGeom prst="ellipse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500" b="1" i="0">
                <a:solidFill>
                  <a:srgbClr val="0F172A"/>
                </a:solidFill>
                <a:latin typeface="Poppins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71232" y="2496312"/>
            <a:ext cx="1527048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0F172A"/>
                </a:solidFill>
                <a:latin typeface="Poppins"/>
              </a:rPr>
              <a:t>Confirmar cambios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71232" y="3191255"/>
            <a:ext cx="1527048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0">
                <a:solidFill>
                  <a:srgbClr val="475569"/>
                </a:solidFill>
                <a:latin typeface="Lato"/>
              </a:rPr>
              <a:t>“git add .” + “git commit -m ‘mensaje’”.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9262872" y="3063240"/>
            <a:ext cx="384048" cy="0"/>
          </a:xfrm>
          <a:prstGeom prst="line">
            <a:avLst/>
          </a:prstGeom>
          <a:ln w="25400">
            <a:solidFill>
              <a:srgbClr val="0EA5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9646920" y="2148840"/>
            <a:ext cx="1856232" cy="1828800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10355580" y="1929384"/>
            <a:ext cx="438912" cy="438912"/>
          </a:xfrm>
          <a:prstGeom prst="ellipse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500" b="1" i="0">
                <a:solidFill>
                  <a:srgbClr val="0F172A"/>
                </a:solidFill>
                <a:latin typeface="Poppins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811512" y="2496312"/>
            <a:ext cx="1527048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0F172A"/>
                </a:solidFill>
                <a:latin typeface="Poppins"/>
              </a:rPr>
              <a:t>Subir a GitHub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11512" y="3191255"/>
            <a:ext cx="1527048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0">
                <a:solidFill>
                  <a:srgbClr val="475569"/>
                </a:solidFill>
                <a:latin typeface="Lato"/>
              </a:rPr>
              <a:t>“git push” — y “git pull” para traer cambios de otros.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" y="4526280"/>
            <a:ext cx="1060704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85800" y="6510528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94A3B8"/>
                </a:solidFill>
                <a:latin typeface="Lato"/>
              </a:rPr>
              <a:t>IA en la Investigación Científica  ·  CBATA — TdeA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789920" y="6510528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94A3B8"/>
                </a:solidFill>
                <a:latin typeface="Lato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502920"/>
            <a:ext cx="107899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 spc="150">
                <a:solidFill>
                  <a:srgbClr val="0EA5E9"/>
                </a:solidFill>
                <a:latin typeface="Poppins"/>
              </a:rPr>
              <a:t>PARTE 05  ·  TODO EN UN SOLO LUGAR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32104"/>
            <a:ext cx="1078992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000" b="1" i="0">
                <a:solidFill>
                  <a:srgbClr val="0F172A"/>
                </a:solidFill>
                <a:latin typeface="Poppins"/>
              </a:rPr>
              <a:t>GitHub dentro de Antigravity/VS Code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85800" y="1581912"/>
            <a:ext cx="502920" cy="0"/>
          </a:xfrm>
          <a:prstGeom prst="line">
            <a:avLst/>
          </a:prstGeom>
          <a:ln w="38100">
            <a:solidFill>
              <a:srgbClr val="38BDF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85800" y="1783080"/>
            <a:ext cx="10607040" cy="37329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1400"/>
              </a:spcAft>
            </a:pPr>
            <a:r>
              <a:rPr sz="1550" b="1" i="0" dirty="0">
                <a:solidFill>
                  <a:srgbClr val="0EA5E9"/>
                </a:solidFill>
                <a:latin typeface="Lato"/>
              </a:rPr>
              <a:t>—  Panel de Source Control  </a:t>
            </a:r>
            <a:r>
              <a:rPr sz="1550" b="0" i="0" dirty="0" err="1">
                <a:solidFill>
                  <a:srgbClr val="475569"/>
                </a:solidFill>
                <a:latin typeface="Lato"/>
              </a:rPr>
              <a:t>muestra</a:t>
            </a:r>
            <a:r>
              <a:rPr sz="1550" b="0" i="0" dirty="0">
                <a:solidFill>
                  <a:srgbClr val="475569"/>
                </a:solidFill>
                <a:latin typeface="Lato"/>
              </a:rPr>
              <a:t> </a:t>
            </a:r>
            <a:r>
              <a:rPr sz="1550" b="0" i="0" dirty="0" err="1">
                <a:solidFill>
                  <a:srgbClr val="475569"/>
                </a:solidFill>
                <a:latin typeface="Lato"/>
              </a:rPr>
              <a:t>los</a:t>
            </a:r>
            <a:r>
              <a:rPr sz="1550" b="0" i="0" dirty="0">
                <a:solidFill>
                  <a:srgbClr val="475569"/>
                </a:solidFill>
                <a:latin typeface="Lato"/>
              </a:rPr>
              <a:t> </a:t>
            </a:r>
            <a:r>
              <a:rPr sz="1550" b="0" i="0" dirty="0" err="1">
                <a:solidFill>
                  <a:srgbClr val="475569"/>
                </a:solidFill>
                <a:latin typeface="Lato"/>
              </a:rPr>
              <a:t>archivos</a:t>
            </a:r>
            <a:r>
              <a:rPr sz="1550" b="0" i="0" dirty="0">
                <a:solidFill>
                  <a:srgbClr val="475569"/>
                </a:solidFill>
                <a:latin typeface="Lato"/>
              </a:rPr>
              <a:t> </a:t>
            </a:r>
            <a:r>
              <a:rPr sz="1550" b="0" i="0" dirty="0" err="1">
                <a:solidFill>
                  <a:srgbClr val="475569"/>
                </a:solidFill>
                <a:latin typeface="Lato"/>
              </a:rPr>
              <a:t>modificados</a:t>
            </a:r>
            <a:r>
              <a:rPr sz="1550" b="0" i="0" dirty="0">
                <a:solidFill>
                  <a:srgbClr val="475569"/>
                </a:solidFill>
                <a:latin typeface="Lato"/>
              </a:rPr>
              <a:t> y </a:t>
            </a:r>
            <a:r>
              <a:rPr sz="1550" b="0" i="0" dirty="0" err="1">
                <a:solidFill>
                  <a:srgbClr val="475569"/>
                </a:solidFill>
                <a:latin typeface="Lato"/>
              </a:rPr>
              <a:t>permite</a:t>
            </a:r>
            <a:r>
              <a:rPr sz="1550" b="0" i="0" dirty="0">
                <a:solidFill>
                  <a:srgbClr val="475569"/>
                </a:solidFill>
                <a:latin typeface="Lato"/>
              </a:rPr>
              <a:t> </a:t>
            </a:r>
            <a:r>
              <a:rPr sz="1550" b="0" i="0" dirty="0" err="1">
                <a:solidFill>
                  <a:srgbClr val="475569"/>
                </a:solidFill>
                <a:latin typeface="Lato"/>
              </a:rPr>
              <a:t>confirmar</a:t>
            </a:r>
            <a:r>
              <a:rPr sz="1550" b="0" i="0" dirty="0">
                <a:solidFill>
                  <a:srgbClr val="475569"/>
                </a:solidFill>
                <a:latin typeface="Lato"/>
              </a:rPr>
              <a:t> </a:t>
            </a:r>
            <a:r>
              <a:rPr sz="1550" b="0" i="0" dirty="0" err="1">
                <a:solidFill>
                  <a:srgbClr val="475569"/>
                </a:solidFill>
                <a:latin typeface="Lato"/>
              </a:rPr>
              <a:t>cambios</a:t>
            </a:r>
            <a:r>
              <a:rPr sz="1550" b="0" i="0" dirty="0">
                <a:solidFill>
                  <a:srgbClr val="475569"/>
                </a:solidFill>
                <a:latin typeface="Lato"/>
              </a:rPr>
              <a:t> sin </a:t>
            </a:r>
            <a:r>
              <a:rPr sz="1550" b="0" i="0" dirty="0" err="1">
                <a:solidFill>
                  <a:srgbClr val="475569"/>
                </a:solidFill>
                <a:latin typeface="Lato"/>
              </a:rPr>
              <a:t>salir</a:t>
            </a:r>
            <a:r>
              <a:rPr sz="1550" b="0" i="0" dirty="0">
                <a:solidFill>
                  <a:srgbClr val="475569"/>
                </a:solidFill>
                <a:latin typeface="Lato"/>
              </a:rPr>
              <a:t> del editor.</a:t>
            </a:r>
          </a:p>
          <a:p>
            <a:pPr>
              <a:lnSpc>
                <a:spcPct val="108000"/>
              </a:lnSpc>
              <a:spcAft>
                <a:spcPts val="1400"/>
              </a:spcAft>
            </a:pPr>
            <a:r>
              <a:rPr sz="1550" b="1" i="0" dirty="0">
                <a:solidFill>
                  <a:srgbClr val="0EA5E9"/>
                </a:solidFill>
                <a:latin typeface="Lato"/>
              </a:rPr>
              <a:t>—  </a:t>
            </a:r>
            <a:r>
              <a:rPr sz="1550" b="1" i="0" dirty="0" err="1">
                <a:solidFill>
                  <a:srgbClr val="0EA5E9"/>
                </a:solidFill>
                <a:latin typeface="Lato"/>
              </a:rPr>
              <a:t>Historial</a:t>
            </a:r>
            <a:r>
              <a:rPr sz="1550" b="1" i="0" dirty="0">
                <a:solidFill>
                  <a:srgbClr val="0EA5E9"/>
                </a:solidFill>
                <a:latin typeface="Lato"/>
              </a:rPr>
              <a:t> visual  </a:t>
            </a:r>
            <a:r>
              <a:rPr sz="1550" b="0" i="0" dirty="0" err="1">
                <a:solidFill>
                  <a:srgbClr val="475569"/>
                </a:solidFill>
                <a:latin typeface="Lato"/>
              </a:rPr>
              <a:t>extensiones</a:t>
            </a:r>
            <a:r>
              <a:rPr sz="1550" b="0" i="0" dirty="0">
                <a:solidFill>
                  <a:srgbClr val="475569"/>
                </a:solidFill>
                <a:latin typeface="Lato"/>
              </a:rPr>
              <a:t> </a:t>
            </a:r>
            <a:r>
              <a:rPr sz="1550" b="0" i="0" dirty="0" err="1">
                <a:solidFill>
                  <a:srgbClr val="475569"/>
                </a:solidFill>
                <a:latin typeface="Lato"/>
              </a:rPr>
              <a:t>como</a:t>
            </a:r>
            <a:r>
              <a:rPr sz="1550" b="0" i="0" dirty="0">
                <a:solidFill>
                  <a:srgbClr val="475569"/>
                </a:solidFill>
                <a:latin typeface="Lato"/>
              </a:rPr>
              <a:t> </a:t>
            </a:r>
            <a:r>
              <a:rPr sz="1550" b="0" i="0" dirty="0" err="1">
                <a:solidFill>
                  <a:srgbClr val="475569"/>
                </a:solidFill>
                <a:latin typeface="Lato"/>
              </a:rPr>
              <a:t>GitLens</a:t>
            </a:r>
            <a:r>
              <a:rPr sz="1550" b="0" i="0" dirty="0">
                <a:solidFill>
                  <a:srgbClr val="475569"/>
                </a:solidFill>
                <a:latin typeface="Lato"/>
              </a:rPr>
              <a:t> </a:t>
            </a:r>
            <a:r>
              <a:rPr sz="1550" b="0" i="0" dirty="0" err="1">
                <a:solidFill>
                  <a:srgbClr val="475569"/>
                </a:solidFill>
                <a:latin typeface="Lato"/>
              </a:rPr>
              <a:t>muestran</a:t>
            </a:r>
            <a:r>
              <a:rPr sz="1550" b="0" i="0" dirty="0">
                <a:solidFill>
                  <a:srgbClr val="475569"/>
                </a:solidFill>
                <a:latin typeface="Lato"/>
              </a:rPr>
              <a:t> </a:t>
            </a:r>
            <a:r>
              <a:rPr sz="1550" b="0" i="0" dirty="0" err="1">
                <a:solidFill>
                  <a:srgbClr val="475569"/>
                </a:solidFill>
                <a:latin typeface="Lato"/>
              </a:rPr>
              <a:t>quién</a:t>
            </a:r>
            <a:r>
              <a:rPr sz="1550" b="0" i="0" dirty="0">
                <a:solidFill>
                  <a:srgbClr val="475569"/>
                </a:solidFill>
                <a:latin typeface="Lato"/>
              </a:rPr>
              <a:t> y </a:t>
            </a:r>
            <a:r>
              <a:rPr sz="1550" b="0" i="0" dirty="0" err="1">
                <a:solidFill>
                  <a:srgbClr val="475569"/>
                </a:solidFill>
                <a:latin typeface="Lato"/>
              </a:rPr>
              <a:t>cuándo</a:t>
            </a:r>
            <a:r>
              <a:rPr sz="1550" b="0" i="0" dirty="0">
                <a:solidFill>
                  <a:srgbClr val="475569"/>
                </a:solidFill>
                <a:latin typeface="Lato"/>
              </a:rPr>
              <a:t> </a:t>
            </a:r>
            <a:r>
              <a:rPr sz="1550" b="0" i="0" dirty="0" err="1">
                <a:solidFill>
                  <a:srgbClr val="475569"/>
                </a:solidFill>
                <a:latin typeface="Lato"/>
              </a:rPr>
              <a:t>cambió</a:t>
            </a:r>
            <a:r>
              <a:rPr sz="1550" b="0" i="0" dirty="0">
                <a:solidFill>
                  <a:srgbClr val="475569"/>
                </a:solidFill>
                <a:latin typeface="Lato"/>
              </a:rPr>
              <a:t> </a:t>
            </a:r>
            <a:r>
              <a:rPr sz="1550" b="0" i="0" dirty="0" err="1">
                <a:solidFill>
                  <a:srgbClr val="475569"/>
                </a:solidFill>
                <a:latin typeface="Lato"/>
              </a:rPr>
              <a:t>cada</a:t>
            </a:r>
            <a:r>
              <a:rPr sz="1550" b="0" i="0" dirty="0">
                <a:solidFill>
                  <a:srgbClr val="475569"/>
                </a:solidFill>
                <a:latin typeface="Lato"/>
              </a:rPr>
              <a:t> </a:t>
            </a:r>
            <a:r>
              <a:rPr sz="1550" b="0" i="0" dirty="0" err="1">
                <a:solidFill>
                  <a:srgbClr val="475569"/>
                </a:solidFill>
                <a:latin typeface="Lato"/>
              </a:rPr>
              <a:t>línea</a:t>
            </a:r>
            <a:r>
              <a:rPr sz="1550" b="0" i="0" dirty="0">
                <a:solidFill>
                  <a:srgbClr val="475569"/>
                </a:solidFill>
                <a:latin typeface="Lato"/>
              </a:rPr>
              <a:t> de </a:t>
            </a:r>
            <a:r>
              <a:rPr sz="1550" b="0" i="0" dirty="0" err="1">
                <a:solidFill>
                  <a:srgbClr val="475569"/>
                </a:solidFill>
                <a:latin typeface="Lato"/>
              </a:rPr>
              <a:t>código</a:t>
            </a:r>
            <a:r>
              <a:rPr sz="1550" b="0" i="0" dirty="0">
                <a:solidFill>
                  <a:srgbClr val="475569"/>
                </a:solidFill>
                <a:latin typeface="Lato"/>
              </a:rPr>
              <a:t>.</a:t>
            </a:r>
          </a:p>
          <a:p>
            <a:pPr>
              <a:lnSpc>
                <a:spcPct val="108000"/>
              </a:lnSpc>
              <a:spcAft>
                <a:spcPts val="1400"/>
              </a:spcAft>
            </a:pPr>
            <a:r>
              <a:rPr sz="1550" b="1" i="0" dirty="0">
                <a:solidFill>
                  <a:srgbClr val="0EA5E9"/>
                </a:solidFill>
                <a:latin typeface="Lato"/>
              </a:rPr>
              <a:t>—  Branches (</a:t>
            </a:r>
            <a:r>
              <a:rPr sz="1550" b="1" i="0" dirty="0" err="1">
                <a:solidFill>
                  <a:srgbClr val="0EA5E9"/>
                </a:solidFill>
                <a:latin typeface="Lato"/>
              </a:rPr>
              <a:t>ramas</a:t>
            </a:r>
            <a:r>
              <a:rPr sz="1550" b="1" i="0" dirty="0">
                <a:solidFill>
                  <a:srgbClr val="0EA5E9"/>
                </a:solidFill>
                <a:latin typeface="Lato"/>
              </a:rPr>
              <a:t>)  </a:t>
            </a:r>
            <a:r>
              <a:rPr sz="1550" b="0" i="0" dirty="0" err="1">
                <a:solidFill>
                  <a:srgbClr val="475569"/>
                </a:solidFill>
                <a:latin typeface="Lato"/>
              </a:rPr>
              <a:t>permiten</a:t>
            </a:r>
            <a:r>
              <a:rPr sz="1550" b="0" i="0" dirty="0">
                <a:solidFill>
                  <a:srgbClr val="475569"/>
                </a:solidFill>
                <a:latin typeface="Lato"/>
              </a:rPr>
              <a:t> </a:t>
            </a:r>
            <a:r>
              <a:rPr sz="1550" b="0" i="0" dirty="0" err="1">
                <a:solidFill>
                  <a:srgbClr val="475569"/>
                </a:solidFill>
                <a:latin typeface="Lato"/>
              </a:rPr>
              <a:t>probar</a:t>
            </a:r>
            <a:r>
              <a:rPr sz="1550" b="0" i="0" dirty="0">
                <a:solidFill>
                  <a:srgbClr val="475569"/>
                </a:solidFill>
                <a:latin typeface="Lato"/>
              </a:rPr>
              <a:t> ideas </a:t>
            </a:r>
            <a:r>
              <a:rPr sz="1550" b="0" i="0" dirty="0" err="1">
                <a:solidFill>
                  <a:srgbClr val="475569"/>
                </a:solidFill>
                <a:latin typeface="Lato"/>
              </a:rPr>
              <a:t>nuevas</a:t>
            </a:r>
            <a:r>
              <a:rPr sz="1550" b="0" i="0" dirty="0">
                <a:solidFill>
                  <a:srgbClr val="475569"/>
                </a:solidFill>
                <a:latin typeface="Lato"/>
              </a:rPr>
              <a:t> sin </a:t>
            </a:r>
            <a:r>
              <a:rPr sz="1550" b="0" i="0" dirty="0" err="1">
                <a:solidFill>
                  <a:srgbClr val="475569"/>
                </a:solidFill>
                <a:latin typeface="Lato"/>
              </a:rPr>
              <a:t>arriesgar</a:t>
            </a:r>
            <a:r>
              <a:rPr sz="1550" b="0" i="0" dirty="0">
                <a:solidFill>
                  <a:srgbClr val="475569"/>
                </a:solidFill>
                <a:latin typeface="Lato"/>
              </a:rPr>
              <a:t> la </a:t>
            </a:r>
            <a:r>
              <a:rPr sz="1550" b="0" i="0" dirty="0" err="1">
                <a:solidFill>
                  <a:srgbClr val="475569"/>
                </a:solidFill>
                <a:latin typeface="Lato"/>
              </a:rPr>
              <a:t>versión</a:t>
            </a:r>
            <a:r>
              <a:rPr sz="1550" b="0" i="0" dirty="0">
                <a:solidFill>
                  <a:srgbClr val="475569"/>
                </a:solidFill>
                <a:latin typeface="Lato"/>
              </a:rPr>
              <a:t> </a:t>
            </a:r>
            <a:r>
              <a:rPr sz="1550" b="0" i="0" dirty="0" err="1">
                <a:solidFill>
                  <a:srgbClr val="475569"/>
                </a:solidFill>
                <a:latin typeface="Lato"/>
              </a:rPr>
              <a:t>estable</a:t>
            </a:r>
            <a:r>
              <a:rPr sz="1550" b="0" i="0" dirty="0">
                <a:solidFill>
                  <a:srgbClr val="475569"/>
                </a:solidFill>
                <a:latin typeface="Lato"/>
              </a:rPr>
              <a:t> del </a:t>
            </a:r>
            <a:r>
              <a:rPr sz="1550" b="0" i="0" dirty="0" err="1">
                <a:solidFill>
                  <a:srgbClr val="475569"/>
                </a:solidFill>
                <a:latin typeface="Lato"/>
              </a:rPr>
              <a:t>proyecto</a:t>
            </a:r>
            <a:r>
              <a:rPr sz="1550" b="0" i="0" dirty="0">
                <a:solidFill>
                  <a:srgbClr val="475569"/>
                </a:solidFill>
                <a:latin typeface="Lato"/>
              </a:rPr>
              <a:t>.</a:t>
            </a:r>
          </a:p>
          <a:p>
            <a:pPr>
              <a:lnSpc>
                <a:spcPct val="108000"/>
              </a:lnSpc>
              <a:spcAft>
                <a:spcPts val="1400"/>
              </a:spcAft>
            </a:pPr>
            <a:r>
              <a:rPr sz="1550" b="1" i="0" dirty="0">
                <a:solidFill>
                  <a:srgbClr val="0EA5E9"/>
                </a:solidFill>
                <a:latin typeface="Lato"/>
              </a:rPr>
              <a:t>—  </a:t>
            </a:r>
            <a:r>
              <a:rPr sz="1550" b="1" i="0" dirty="0" err="1">
                <a:solidFill>
                  <a:srgbClr val="0EA5E9"/>
                </a:solidFill>
                <a:latin typeface="Lato"/>
              </a:rPr>
              <a:t>Agentes</a:t>
            </a:r>
            <a:r>
              <a:rPr sz="1550" b="1" i="0" dirty="0">
                <a:solidFill>
                  <a:srgbClr val="0EA5E9"/>
                </a:solidFill>
                <a:latin typeface="Lato"/>
              </a:rPr>
              <a:t> + Git  </a:t>
            </a:r>
            <a:r>
              <a:rPr sz="1550" b="0" i="0" dirty="0">
                <a:solidFill>
                  <a:srgbClr val="475569"/>
                </a:solidFill>
                <a:latin typeface="Lato"/>
              </a:rPr>
              <a:t>el </a:t>
            </a:r>
            <a:r>
              <a:rPr sz="1550" b="0" i="0" dirty="0" err="1">
                <a:solidFill>
                  <a:srgbClr val="475569"/>
                </a:solidFill>
                <a:latin typeface="Lato"/>
              </a:rPr>
              <a:t>agente</a:t>
            </a:r>
            <a:r>
              <a:rPr sz="1550" b="0" i="0" dirty="0">
                <a:solidFill>
                  <a:srgbClr val="475569"/>
                </a:solidFill>
                <a:latin typeface="Lato"/>
              </a:rPr>
              <a:t> de IA </a:t>
            </a:r>
            <a:r>
              <a:rPr sz="1550" b="0" i="0" dirty="0" err="1">
                <a:solidFill>
                  <a:srgbClr val="475569"/>
                </a:solidFill>
                <a:latin typeface="Lato"/>
              </a:rPr>
              <a:t>puede</a:t>
            </a:r>
            <a:r>
              <a:rPr sz="1550" b="0" i="0" dirty="0">
                <a:solidFill>
                  <a:srgbClr val="475569"/>
                </a:solidFill>
                <a:latin typeface="Lato"/>
              </a:rPr>
              <a:t> </a:t>
            </a:r>
            <a:r>
              <a:rPr sz="1550" b="0" i="0" dirty="0" err="1">
                <a:solidFill>
                  <a:srgbClr val="475569"/>
                </a:solidFill>
                <a:latin typeface="Lato"/>
              </a:rPr>
              <a:t>proponer</a:t>
            </a:r>
            <a:r>
              <a:rPr sz="1550" b="0" i="0" dirty="0">
                <a:solidFill>
                  <a:srgbClr val="475569"/>
                </a:solidFill>
                <a:latin typeface="Lato"/>
              </a:rPr>
              <a:t> commits </a:t>
            </a:r>
            <a:r>
              <a:rPr sz="1550" b="0" i="0" dirty="0" err="1">
                <a:solidFill>
                  <a:srgbClr val="475569"/>
                </a:solidFill>
                <a:latin typeface="Lato"/>
              </a:rPr>
              <a:t>descriptivos</a:t>
            </a:r>
            <a:r>
              <a:rPr sz="1550" b="0" i="0" dirty="0">
                <a:solidFill>
                  <a:srgbClr val="475569"/>
                </a:solidFill>
                <a:latin typeface="Lato"/>
              </a:rPr>
              <a:t> </a:t>
            </a:r>
            <a:r>
              <a:rPr sz="1550" b="0" i="0" dirty="0" err="1">
                <a:solidFill>
                  <a:srgbClr val="475569"/>
                </a:solidFill>
                <a:latin typeface="Lato"/>
              </a:rPr>
              <a:t>automáticamente</a:t>
            </a:r>
            <a:r>
              <a:rPr sz="1550" b="0" i="0" dirty="0">
                <a:solidFill>
                  <a:srgbClr val="475569"/>
                </a:solidFill>
                <a:latin typeface="Lato"/>
              </a:rPr>
              <a:t> al </a:t>
            </a:r>
            <a:r>
              <a:rPr sz="1550" b="0" i="0" dirty="0" err="1">
                <a:solidFill>
                  <a:srgbClr val="475569"/>
                </a:solidFill>
                <a:latin typeface="Lato"/>
              </a:rPr>
              <a:t>finalizar</a:t>
            </a:r>
            <a:r>
              <a:rPr sz="1550" b="0" i="0" dirty="0">
                <a:solidFill>
                  <a:srgbClr val="475569"/>
                </a:solidFill>
                <a:latin typeface="Lato"/>
              </a:rPr>
              <a:t> </a:t>
            </a:r>
            <a:r>
              <a:rPr sz="1550" b="0" i="0" dirty="0" err="1">
                <a:solidFill>
                  <a:srgbClr val="475569"/>
                </a:solidFill>
                <a:latin typeface="Lato"/>
              </a:rPr>
              <a:t>una</a:t>
            </a:r>
            <a:r>
              <a:rPr sz="1550" b="0" i="0" dirty="0">
                <a:solidFill>
                  <a:srgbClr val="475569"/>
                </a:solidFill>
                <a:latin typeface="Lato"/>
              </a:rPr>
              <a:t> </a:t>
            </a:r>
            <a:r>
              <a:rPr sz="1550" b="0" i="0" dirty="0" err="1">
                <a:solidFill>
                  <a:srgbClr val="475569"/>
                </a:solidFill>
                <a:latin typeface="Lato"/>
              </a:rPr>
              <a:t>tarea</a:t>
            </a:r>
            <a:r>
              <a:rPr sz="1550" b="0" i="0" dirty="0">
                <a:solidFill>
                  <a:srgbClr val="475569"/>
                </a:solidFill>
                <a:latin typeface="Lato"/>
              </a:rPr>
              <a:t>.</a:t>
            </a:r>
            <a:endParaRPr lang="es-CO" sz="1550" b="0" i="0" dirty="0">
              <a:solidFill>
                <a:srgbClr val="475569"/>
              </a:solidFill>
              <a:latin typeface="Lato"/>
            </a:endParaRPr>
          </a:p>
          <a:p>
            <a:pPr>
              <a:lnSpc>
                <a:spcPct val="108000"/>
              </a:lnSpc>
              <a:spcAft>
                <a:spcPts val="1400"/>
              </a:spcAft>
            </a:pPr>
            <a:endParaRPr lang="es-CO" sz="1550" b="0" i="0" dirty="0">
              <a:solidFill>
                <a:srgbClr val="475569"/>
              </a:solidFill>
              <a:latin typeface="Lato"/>
            </a:endParaRPr>
          </a:p>
          <a:p>
            <a:pPr>
              <a:lnSpc>
                <a:spcPct val="108000"/>
              </a:lnSpc>
              <a:spcAft>
                <a:spcPts val="1400"/>
              </a:spcAft>
            </a:pPr>
            <a:endParaRPr lang="es-CO" sz="1550" dirty="0">
              <a:solidFill>
                <a:srgbClr val="475569"/>
              </a:solidFill>
              <a:latin typeface="Lato"/>
            </a:endParaRPr>
          </a:p>
          <a:p>
            <a:pPr>
              <a:lnSpc>
                <a:spcPct val="108000"/>
              </a:lnSpc>
              <a:spcAft>
                <a:spcPts val="1400"/>
              </a:spcAft>
            </a:pPr>
            <a:r>
              <a:rPr lang="es-CO" sz="1550" b="1" i="0" dirty="0">
                <a:solidFill>
                  <a:schemeClr val="tx2">
                    <a:lumMod val="60000"/>
                    <a:lumOff val="40000"/>
                  </a:schemeClr>
                </a:solidFill>
                <a:latin typeface="Lato"/>
              </a:rPr>
              <a:t>MEMORIAS DE ESTE ESTE CURSO EN PDF.</a:t>
            </a:r>
          </a:p>
          <a:p>
            <a:pPr>
              <a:lnSpc>
                <a:spcPct val="108000"/>
              </a:lnSpc>
              <a:spcAft>
                <a:spcPts val="1400"/>
              </a:spcAft>
            </a:pPr>
            <a:r>
              <a:rPr lang="es-CO" sz="1550" dirty="0">
                <a:solidFill>
                  <a:srgbClr val="FF0000"/>
                </a:solidFill>
                <a:latin typeface="Lato"/>
              </a:rPr>
              <a:t>https://github.com/magarridot/Investigacion_Aumentada</a:t>
            </a:r>
          </a:p>
          <a:p>
            <a:pPr>
              <a:lnSpc>
                <a:spcPct val="108000"/>
              </a:lnSpc>
              <a:spcAft>
                <a:spcPts val="1400"/>
              </a:spcAft>
            </a:pPr>
            <a:endParaRPr sz="1550" b="0" i="0" dirty="0">
              <a:solidFill>
                <a:srgbClr val="475569"/>
              </a:solidFill>
              <a:latin typeface="Lato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85800" y="6510528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94A3B8"/>
                </a:solidFill>
                <a:latin typeface="Lato"/>
              </a:rPr>
              <a:t>IA en la Investigación Científica  ·  CBATA — TdeA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10528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94A3B8"/>
                </a:solidFill>
                <a:latin typeface="Lato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685800" y="594360"/>
            <a:ext cx="2834640" cy="384048"/>
          </a:xfrm>
          <a:prstGeom prst="roundRect">
            <a:avLst>
              <a:gd name="adj" fmla="val 50000"/>
            </a:avLst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200" b="1" i="0">
                <a:solidFill>
                  <a:srgbClr val="0F172A"/>
                </a:solidFill>
                <a:latin typeface="Poppins"/>
              </a:rPr>
              <a:t>MOMENTO PRÁCTICO III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234440"/>
            <a:ext cx="105156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Poppins"/>
              </a:rPr>
              <a:t>Tu primer commit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2240280"/>
            <a:ext cx="10817352" cy="141732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60120" y="2240280"/>
            <a:ext cx="10241280" cy="1417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1">
                <a:solidFill>
                  <a:srgbClr val="38BDF8"/>
                </a:solidFill>
                <a:latin typeface="Lato"/>
              </a:rPr>
              <a:t>“Crea un repositorio para mi proyecto, agrega un archivo README que describa el objetivo de la investigación, y súbelo a GitHub con un mensaje de commit claro.”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977639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 spc="100">
                <a:solidFill>
                  <a:srgbClr val="94A3B8"/>
                </a:solidFill>
                <a:latin typeface="Poppins"/>
              </a:rPr>
              <a:t>EN ESTE EJERCICIO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4343400"/>
            <a:ext cx="10607040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350" b="1" i="0">
                <a:solidFill>
                  <a:srgbClr val="38BDF8"/>
                </a:solidFill>
                <a:latin typeface="Lato"/>
              </a:rPr>
              <a:t>›  </a:t>
            </a:r>
            <a:r>
              <a:rPr sz="1350" b="0" i="0">
                <a:solidFill>
                  <a:srgbClr val="E2E8F0"/>
                </a:solidFill>
                <a:latin typeface="Lato"/>
              </a:rPr>
              <a:t>Cada participante crea un repositorio nuevo en su cuenta de GitHub.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350" b="1" i="0">
                <a:solidFill>
                  <a:srgbClr val="38BDF8"/>
                </a:solidFill>
                <a:latin typeface="Lato"/>
              </a:rPr>
              <a:t>›  </a:t>
            </a:r>
            <a:r>
              <a:rPr sz="1350" b="0" i="0">
                <a:solidFill>
                  <a:srgbClr val="E2E8F0"/>
                </a:solidFill>
                <a:latin typeface="Lato"/>
              </a:rPr>
              <a:t>Lo clona en Antigravity o VS Code y agrega un README.md.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350" b="1" i="0">
                <a:solidFill>
                  <a:srgbClr val="38BDF8"/>
                </a:solidFill>
                <a:latin typeface="Lato"/>
              </a:rPr>
              <a:t>›  </a:t>
            </a:r>
            <a:r>
              <a:rPr sz="1350" b="0" i="0">
                <a:solidFill>
                  <a:srgbClr val="E2E8F0"/>
                </a:solidFill>
                <a:latin typeface="Lato"/>
              </a:rPr>
              <a:t>Ejecuta el ciclo completo: add → commit → push, y verifica el resultado en GitHub.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510528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94A3B8"/>
                </a:solidFill>
                <a:latin typeface="Lato"/>
              </a:rPr>
              <a:t>IA en la Investigación Científica  ·  CBATA — TdeA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0" y="6510528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94A3B8"/>
                </a:solidFill>
                <a:latin typeface="Lato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2331720"/>
            <a:ext cx="228600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0" b="1" i="0">
                <a:solidFill>
                  <a:srgbClr val="1E293B"/>
                </a:solidFill>
                <a:latin typeface="Poppins"/>
              </a:rP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331720"/>
            <a:ext cx="228600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0" b="1" i="0">
                <a:solidFill>
                  <a:srgbClr val="38BDF8"/>
                </a:solidFill>
                <a:latin typeface="Poppins"/>
              </a:rPr>
              <a:t>06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960120" y="3794760"/>
            <a:ext cx="594360" cy="0"/>
          </a:xfrm>
          <a:prstGeom prst="line">
            <a:avLst/>
          </a:prstGeom>
          <a:ln w="38100">
            <a:solidFill>
              <a:srgbClr val="38BDF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14400" y="3977639"/>
            <a:ext cx="98755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 i="0">
                <a:solidFill>
                  <a:srgbClr val="FFFFFF"/>
                </a:solidFill>
                <a:latin typeface="Poppins"/>
              </a:rPr>
              <a:t>Integración total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709160"/>
            <a:ext cx="89611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E2E8F0"/>
                </a:solidFill>
                <a:latin typeface="Lato"/>
              </a:rPr>
              <a:t>El recorrido completo de un proyecto científico riguroso, de principio a fin.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502920"/>
            <a:ext cx="107899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 spc="150">
                <a:solidFill>
                  <a:srgbClr val="0EA5E9"/>
                </a:solidFill>
                <a:latin typeface="Poppins"/>
              </a:rPr>
              <a:t>PARTE 06  ·  CASO INTEGRADO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32104"/>
            <a:ext cx="1078992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000" b="1" i="0" dirty="0">
                <a:solidFill>
                  <a:srgbClr val="0F172A"/>
                </a:solidFill>
                <a:latin typeface="Poppins"/>
              </a:rPr>
              <a:t>Un </a:t>
            </a:r>
            <a:r>
              <a:rPr sz="3000" b="1" i="0" dirty="0" err="1">
                <a:solidFill>
                  <a:srgbClr val="0F172A"/>
                </a:solidFill>
                <a:latin typeface="Poppins"/>
              </a:rPr>
              <a:t>proyecto</a:t>
            </a:r>
            <a:r>
              <a:rPr sz="3000" b="1" i="0" dirty="0">
                <a:solidFill>
                  <a:srgbClr val="0F172A"/>
                </a:solidFill>
                <a:latin typeface="Poppins"/>
              </a:rPr>
              <a:t> real, de la </a:t>
            </a:r>
            <a:r>
              <a:rPr sz="3000" b="1" i="0" dirty="0" err="1">
                <a:solidFill>
                  <a:srgbClr val="0F172A"/>
                </a:solidFill>
                <a:latin typeface="Poppins"/>
              </a:rPr>
              <a:t>pregunta</a:t>
            </a:r>
            <a:r>
              <a:rPr sz="3000" b="1" i="0" dirty="0">
                <a:solidFill>
                  <a:srgbClr val="0F172A"/>
                </a:solidFill>
                <a:latin typeface="Poppins"/>
              </a:rPr>
              <a:t> al </a:t>
            </a:r>
            <a:r>
              <a:rPr sz="3000" b="1" i="0" dirty="0" err="1">
                <a:solidFill>
                  <a:srgbClr val="0F172A"/>
                </a:solidFill>
                <a:latin typeface="Poppins"/>
              </a:rPr>
              <a:t>manuscrito</a:t>
            </a:r>
            <a:endParaRPr sz="3000" b="1" i="0" dirty="0">
              <a:solidFill>
                <a:srgbClr val="0F172A"/>
              </a:solidFill>
              <a:latin typeface="Poppins"/>
            </a:endParaRPr>
          </a:p>
        </p:txBody>
      </p:sp>
      <p:cxnSp>
        <p:nvCxnSpPr>
          <p:cNvPr id="4" name="Connector 3"/>
          <p:cNvCxnSpPr/>
          <p:nvPr/>
        </p:nvCxnSpPr>
        <p:spPr>
          <a:xfrm>
            <a:off x="685800" y="1581912"/>
            <a:ext cx="502920" cy="0"/>
          </a:xfrm>
          <a:prstGeom prst="line">
            <a:avLst/>
          </a:prstGeom>
          <a:ln w="38100">
            <a:solidFill>
              <a:srgbClr val="38BDF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85800" y="1783080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1">
                <a:solidFill>
                  <a:srgbClr val="475569"/>
                </a:solidFill>
                <a:latin typeface="Lato"/>
              </a:rPr>
              <a:t>Así se ve el flujo completo aplicado a un proyecto de monitoreo atmosférico: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3166754"/>
            <a:ext cx="1856232" cy="1828800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1394460" y="2947298"/>
            <a:ext cx="438912" cy="438912"/>
          </a:xfrm>
          <a:prstGeom prst="ellipse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500" b="1" i="0">
                <a:solidFill>
                  <a:srgbClr val="0F172A"/>
                </a:solidFill>
                <a:latin typeface="Poppins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" y="3514226"/>
            <a:ext cx="1527048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0F172A"/>
                </a:solidFill>
                <a:latin typeface="Poppins"/>
              </a:rPr>
              <a:t>Consensus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" y="4209169"/>
            <a:ext cx="1527048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0">
                <a:solidFill>
                  <a:srgbClr val="475569"/>
                </a:solidFill>
                <a:latin typeface="Lato"/>
              </a:rPr>
              <a:t>Estado del arte sobre PBLH y dispersión de contaminantes.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42032" y="4081154"/>
            <a:ext cx="384048" cy="0"/>
          </a:xfrm>
          <a:prstGeom prst="line">
            <a:avLst/>
          </a:prstGeom>
          <a:ln w="25400">
            <a:solidFill>
              <a:srgbClr val="0EA5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2926080" y="3166754"/>
            <a:ext cx="1856232" cy="1828800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3634740" y="2947298"/>
            <a:ext cx="438912" cy="438912"/>
          </a:xfrm>
          <a:prstGeom prst="ellipse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500" b="1" i="0">
                <a:solidFill>
                  <a:srgbClr val="0F172A"/>
                </a:solidFill>
                <a:latin typeface="Poppins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90672" y="3514226"/>
            <a:ext cx="1527048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0F172A"/>
                </a:solidFill>
                <a:latin typeface="Poppins"/>
              </a:rPr>
              <a:t>Antigravity + Claude/Gemini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90672" y="4209169"/>
            <a:ext cx="1527048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0">
                <a:solidFill>
                  <a:srgbClr val="475569"/>
                </a:solidFill>
                <a:latin typeface="Lato"/>
              </a:rPr>
              <a:t>Procesamiento de imágenes y modelos estadísticos en Python.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782312" y="4081154"/>
            <a:ext cx="384048" cy="0"/>
          </a:xfrm>
          <a:prstGeom prst="line">
            <a:avLst/>
          </a:prstGeom>
          <a:ln w="25400">
            <a:solidFill>
              <a:srgbClr val="0EA5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5166360" y="3166754"/>
            <a:ext cx="1856232" cy="1828800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5875020" y="2947298"/>
            <a:ext cx="438912" cy="438912"/>
          </a:xfrm>
          <a:prstGeom prst="ellipse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500" b="1" i="0">
                <a:solidFill>
                  <a:srgbClr val="0F172A"/>
                </a:solidFill>
                <a:latin typeface="Poppin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30952" y="3514226"/>
            <a:ext cx="1527048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0F172A"/>
                </a:solidFill>
                <a:latin typeface="Poppins"/>
              </a:rPr>
              <a:t>GitHub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30952" y="4209169"/>
            <a:ext cx="1527048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0">
                <a:solidFill>
                  <a:srgbClr val="475569"/>
                </a:solidFill>
                <a:latin typeface="Lato"/>
              </a:rPr>
              <a:t>Cada script y notebook versionado con commits descriptivos.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7022592" y="4081154"/>
            <a:ext cx="384048" cy="0"/>
          </a:xfrm>
          <a:prstGeom prst="line">
            <a:avLst/>
          </a:prstGeom>
          <a:ln w="25400">
            <a:solidFill>
              <a:srgbClr val="0EA5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7406640" y="3166754"/>
            <a:ext cx="1856232" cy="1828800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8115300" y="2947298"/>
            <a:ext cx="438912" cy="438912"/>
          </a:xfrm>
          <a:prstGeom prst="ellipse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500" b="1" i="0">
                <a:solidFill>
                  <a:srgbClr val="0F172A"/>
                </a:solidFill>
                <a:latin typeface="Poppins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71232" y="3514226"/>
            <a:ext cx="1527048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0F172A"/>
                </a:solidFill>
                <a:latin typeface="Poppins"/>
              </a:rPr>
              <a:t>Resultados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71232" y="4209169"/>
            <a:ext cx="1527048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0">
                <a:solidFill>
                  <a:srgbClr val="475569"/>
                </a:solidFill>
                <a:latin typeface="Lato"/>
              </a:rPr>
              <a:t>Figuras, métricas de desempeño y validación del modelo.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9262872" y="4081154"/>
            <a:ext cx="384048" cy="0"/>
          </a:xfrm>
          <a:prstGeom prst="line">
            <a:avLst/>
          </a:prstGeom>
          <a:ln w="25400">
            <a:solidFill>
              <a:srgbClr val="0EA5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9646920" y="3166754"/>
            <a:ext cx="1856232" cy="1828800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Oval 26"/>
          <p:cNvSpPr/>
          <p:nvPr/>
        </p:nvSpPr>
        <p:spPr>
          <a:xfrm>
            <a:off x="10355580" y="2947298"/>
            <a:ext cx="438912" cy="438912"/>
          </a:xfrm>
          <a:prstGeom prst="ellipse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500" b="1" i="0">
                <a:solidFill>
                  <a:srgbClr val="0F172A"/>
                </a:solidFill>
                <a:latin typeface="Poppins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11512" y="3514226"/>
            <a:ext cx="1527048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0F172A"/>
                </a:solidFill>
                <a:latin typeface="Poppins"/>
              </a:rPr>
              <a:t>Manuscrito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811512" y="4209169"/>
            <a:ext cx="1527048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0">
                <a:solidFill>
                  <a:srgbClr val="475569"/>
                </a:solidFill>
                <a:latin typeface="Lato"/>
              </a:rPr>
              <a:t>Redacción asistida, siempre revisada y firmada por el equipo.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5800" y="4526280"/>
            <a:ext cx="1060704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85800" y="6510528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94A3B8"/>
                </a:solidFill>
                <a:latin typeface="Lato"/>
              </a:rPr>
              <a:t>IA en la Investigación Científica  ·  CBATA — TdeA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9920" y="6510528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94A3B8"/>
                </a:solidFill>
                <a:latin typeface="Lato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502920"/>
            <a:ext cx="107899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 spc="150">
                <a:solidFill>
                  <a:srgbClr val="0EA5E9"/>
                </a:solidFill>
                <a:latin typeface="Poppins"/>
              </a:rPr>
              <a:t>PARTE 06  ·  COMPARATIVA DE USO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32104"/>
            <a:ext cx="1078992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000" b="1" i="0">
                <a:solidFill>
                  <a:srgbClr val="0F172A"/>
                </a:solidFill>
                <a:latin typeface="Poppins"/>
              </a:rPr>
              <a:t>¿Qué herramienta para cada tarea?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85800" y="1581912"/>
            <a:ext cx="502920" cy="0"/>
          </a:xfrm>
          <a:prstGeom prst="line">
            <a:avLst/>
          </a:prstGeom>
          <a:ln w="38100">
            <a:solidFill>
              <a:srgbClr val="38BDF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828800"/>
          <a:ext cx="10817351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17351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8675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05707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Poppins"/>
                        </a:rPr>
                        <a:t>Tarea científica</a:t>
                      </a:r>
                    </a:p>
                  </a:txBody>
                  <a:tcPr marL="127000" marT="76200" marB="76200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Poppins"/>
                        </a:rPr>
                        <a:t>Sin IA</a:t>
                      </a:r>
                    </a:p>
                  </a:txBody>
                  <a:tcPr marL="127000" marT="76200" marB="76200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Poppins"/>
                        </a:rPr>
                        <a:t>Con el stack de hoy</a:t>
                      </a:r>
                    </a:p>
                  </a:txBody>
                  <a:tcPr marL="127000" marT="76200" marB="76200"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0F172A"/>
                          </a:solidFill>
                          <a:latin typeface="Lato"/>
                        </a:rPr>
                        <a:t>Estado del arte (20+ papers)</a:t>
                      </a:r>
                    </a:p>
                  </a:txBody>
                  <a:tcPr marL="127000" marT="76200" marB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475569"/>
                          </a:solidFill>
                          <a:latin typeface="Lato"/>
                        </a:rPr>
                        <a:t>3–5 días</a:t>
                      </a:r>
                    </a:p>
                  </a:txBody>
                  <a:tcPr marL="127000" marT="76200" marB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475569"/>
                          </a:solidFill>
                          <a:latin typeface="Lato"/>
                        </a:rPr>
                        <a:t>2–3 horas</a:t>
                      </a:r>
                    </a:p>
                  </a:txBody>
                  <a:tcPr marL="127000" marT="76200" marB="762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0F172A"/>
                          </a:solidFill>
                          <a:latin typeface="Lato"/>
                        </a:rPr>
                        <a:t>Script de limpieza de datos</a:t>
                      </a:r>
                    </a:p>
                  </a:txBody>
                  <a:tcPr marL="127000" marT="76200" marB="7620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475569"/>
                          </a:solidFill>
                          <a:latin typeface="Lato"/>
                        </a:rPr>
                        <a:t>Medio día</a:t>
                      </a:r>
                    </a:p>
                  </a:txBody>
                  <a:tcPr marL="127000" marT="76200" marB="7620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475569"/>
                          </a:solidFill>
                          <a:latin typeface="Lato"/>
                        </a:rPr>
                        <a:t>15–30 minutos</a:t>
                      </a:r>
                    </a:p>
                  </a:txBody>
                  <a:tcPr marL="127000" marT="76200" marB="76200"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0F172A"/>
                          </a:solidFill>
                          <a:latin typeface="Lato"/>
                        </a:rPr>
                        <a:t>Documentar código y metodología</a:t>
                      </a:r>
                    </a:p>
                  </a:txBody>
                  <a:tcPr marL="127000" marT="76200" marB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475569"/>
                          </a:solidFill>
                          <a:latin typeface="Lato"/>
                        </a:rPr>
                        <a:t>Frecuentemente pospuesto</a:t>
                      </a:r>
                    </a:p>
                  </a:txBody>
                  <a:tcPr marL="127000" marT="76200" marB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475569"/>
                          </a:solidFill>
                          <a:latin typeface="Lato"/>
                        </a:rPr>
                        <a:t>Generado junto con el código</a:t>
                      </a:r>
                    </a:p>
                  </a:txBody>
                  <a:tcPr marL="127000" marT="76200" marB="762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0F172A"/>
                          </a:solidFill>
                          <a:latin typeface="Lato"/>
                        </a:rPr>
                        <a:t>Recuperar una versión anterior</a:t>
                      </a:r>
                    </a:p>
                  </a:txBody>
                  <a:tcPr marL="127000" marT="76200" marB="7620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475569"/>
                          </a:solidFill>
                          <a:latin typeface="Lato"/>
                        </a:rPr>
                        <a:t>Copias manuales, riesgo de error</a:t>
                      </a:r>
                    </a:p>
                  </a:txBody>
                  <a:tcPr marL="127000" marT="76200" marB="7620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475569"/>
                          </a:solidFill>
                          <a:latin typeface="Lato"/>
                        </a:rPr>
                        <a:t>Un clic en el historial de Git</a:t>
                      </a:r>
                    </a:p>
                  </a:txBody>
                  <a:tcPr marL="127000" marT="76200" marB="76200"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85800" y="6510528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94A3B8"/>
                </a:solidFill>
                <a:latin typeface="Lato"/>
              </a:rPr>
              <a:t>IA en la Investigación Científica  ·  CBATA — TdeA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10528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94A3B8"/>
                </a:solidFill>
                <a:latin typeface="Lato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502920"/>
            <a:ext cx="107899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 spc="150">
                <a:solidFill>
                  <a:srgbClr val="0EA5E9"/>
                </a:solidFill>
                <a:latin typeface="Poppins"/>
              </a:rPr>
              <a:t>PARTE 06  ·  LÍMITES Y RESPONSABILIDAD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32104"/>
            <a:ext cx="1078992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000" b="1" i="0">
                <a:solidFill>
                  <a:srgbClr val="0F172A"/>
                </a:solidFill>
                <a:latin typeface="Poppins"/>
              </a:rPr>
              <a:t>Buenas prácticas y ética del uso de IA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85800" y="1581912"/>
            <a:ext cx="502920" cy="0"/>
          </a:xfrm>
          <a:prstGeom prst="line">
            <a:avLst/>
          </a:prstGeom>
          <a:ln w="38100">
            <a:solidFill>
              <a:srgbClr val="38BDF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85800" y="1783080"/>
            <a:ext cx="10607040" cy="3840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1400"/>
              </a:spcAft>
            </a:pPr>
            <a:r>
              <a:rPr sz="1550" b="1" i="0">
                <a:solidFill>
                  <a:srgbClr val="0EA5E9"/>
                </a:solidFill>
                <a:latin typeface="Lato"/>
              </a:rPr>
              <a:t>—  Verifica siempre  </a:t>
            </a:r>
            <a:r>
              <a:rPr sz="1550" b="0" i="0">
                <a:solidFill>
                  <a:srgbClr val="475569"/>
                </a:solidFill>
                <a:latin typeface="Lato"/>
              </a:rPr>
              <a:t>ninguna cifra, cita o resultado se publica sin revisión humana directa.</a:t>
            </a:r>
          </a:p>
          <a:p>
            <a:pPr>
              <a:lnSpc>
                <a:spcPct val="108000"/>
              </a:lnSpc>
              <a:spcAft>
                <a:spcPts val="1400"/>
              </a:spcAft>
            </a:pPr>
            <a:r>
              <a:rPr sz="1550" b="1" i="0">
                <a:solidFill>
                  <a:srgbClr val="0EA5E9"/>
                </a:solidFill>
                <a:latin typeface="Lato"/>
              </a:rPr>
              <a:t>—  Declara el uso de IA  </a:t>
            </a:r>
            <a:r>
              <a:rPr sz="1550" b="0" i="0">
                <a:solidFill>
                  <a:srgbClr val="475569"/>
                </a:solidFill>
                <a:latin typeface="Lato"/>
              </a:rPr>
              <a:t>sigue la política de tu revista/institución para reportar el uso de herramientas generativas.</a:t>
            </a:r>
          </a:p>
          <a:p>
            <a:pPr>
              <a:lnSpc>
                <a:spcPct val="108000"/>
              </a:lnSpc>
              <a:spcAft>
                <a:spcPts val="1400"/>
              </a:spcAft>
            </a:pPr>
            <a:r>
              <a:rPr sz="1550" b="1" i="0">
                <a:solidFill>
                  <a:srgbClr val="0EA5E9"/>
                </a:solidFill>
                <a:latin typeface="Lato"/>
              </a:rPr>
              <a:t>—  Cuida los datos sensibles  </a:t>
            </a:r>
            <a:r>
              <a:rPr sz="1550" b="0" i="0">
                <a:solidFill>
                  <a:srgbClr val="475569"/>
                </a:solidFill>
                <a:latin typeface="Lato"/>
              </a:rPr>
              <a:t>no subas datos confidenciales o no publicados a herramientas sin garantías de privacidad.</a:t>
            </a:r>
          </a:p>
          <a:p>
            <a:pPr>
              <a:lnSpc>
                <a:spcPct val="108000"/>
              </a:lnSpc>
              <a:spcAft>
                <a:spcPts val="1400"/>
              </a:spcAft>
            </a:pPr>
            <a:r>
              <a:rPr sz="1550" b="1" i="0">
                <a:solidFill>
                  <a:srgbClr val="0EA5E9"/>
                </a:solidFill>
                <a:latin typeface="Lato"/>
              </a:rPr>
              <a:t>—  Prioriza la reproducibilidad  </a:t>
            </a:r>
            <a:r>
              <a:rPr sz="1550" b="0" i="0">
                <a:solidFill>
                  <a:srgbClr val="475569"/>
                </a:solidFill>
                <a:latin typeface="Lato"/>
              </a:rPr>
              <a:t>todo prompt relevante y su resultado deben poder rastrearse igual que el código.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510528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94A3B8"/>
                </a:solidFill>
                <a:latin typeface="Lato"/>
              </a:rPr>
              <a:t>IA en la Investigación Científica  ·  CBATA — TdeA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10528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94A3B8"/>
                </a:solidFill>
                <a:latin typeface="Lato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502920"/>
            <a:ext cx="107899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 spc="150">
                <a:solidFill>
                  <a:srgbClr val="0EA5E9"/>
                </a:solidFill>
                <a:latin typeface="Poppins"/>
              </a:rPr>
              <a:t>PARTE 06  ·  RESUMEN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32104"/>
            <a:ext cx="1078992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000" b="1" i="0">
                <a:solidFill>
                  <a:srgbClr val="0F172A"/>
                </a:solidFill>
                <a:latin typeface="Poppins"/>
              </a:rPr>
              <a:t>Checklist de instalación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85800" y="1581912"/>
            <a:ext cx="502920" cy="0"/>
          </a:xfrm>
          <a:prstGeom prst="line">
            <a:avLst/>
          </a:prstGeom>
          <a:ln w="38100">
            <a:solidFill>
              <a:srgbClr val="38BDF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685800" y="1828800"/>
            <a:ext cx="5166360" cy="416052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60120" y="2084832"/>
            <a:ext cx="4617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0EA5E9"/>
                </a:solidFill>
                <a:latin typeface="Poppins"/>
              </a:rPr>
              <a:t>Cuentas y accesos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560320"/>
            <a:ext cx="4617720" cy="3291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1100"/>
              </a:spcAft>
            </a:pPr>
            <a:r>
              <a:rPr sz="1250" b="1" i="0">
                <a:solidFill>
                  <a:srgbClr val="0EA5E9"/>
                </a:solidFill>
                <a:latin typeface="Lato"/>
              </a:rPr>
              <a:t>☐  </a:t>
            </a:r>
            <a:r>
              <a:rPr sz="1250" b="0" i="0">
                <a:solidFill>
                  <a:srgbClr val="475569"/>
                </a:solidFill>
                <a:latin typeface="Lato"/>
              </a:rPr>
              <a:t>Cuenta de Google (Gemini / Antigravity)</a:t>
            </a:r>
          </a:p>
          <a:p>
            <a:pPr>
              <a:lnSpc>
                <a:spcPct val="108000"/>
              </a:lnSpc>
              <a:spcAft>
                <a:spcPts val="1100"/>
              </a:spcAft>
            </a:pPr>
            <a:r>
              <a:rPr sz="1250" b="1" i="0">
                <a:solidFill>
                  <a:srgbClr val="0EA5E9"/>
                </a:solidFill>
                <a:latin typeface="Lato"/>
              </a:rPr>
              <a:t>☐  </a:t>
            </a:r>
            <a:r>
              <a:rPr sz="1250" b="0" i="0">
                <a:solidFill>
                  <a:srgbClr val="475569"/>
                </a:solidFill>
                <a:latin typeface="Lato"/>
              </a:rPr>
              <a:t>Cuenta en claude.ai o console.anthropic.com</a:t>
            </a:r>
          </a:p>
          <a:p>
            <a:pPr>
              <a:lnSpc>
                <a:spcPct val="108000"/>
              </a:lnSpc>
              <a:spcAft>
                <a:spcPts val="1100"/>
              </a:spcAft>
            </a:pPr>
            <a:r>
              <a:rPr sz="1250" b="1" i="0">
                <a:solidFill>
                  <a:srgbClr val="0EA5E9"/>
                </a:solidFill>
                <a:latin typeface="Lato"/>
              </a:rPr>
              <a:t>☐  </a:t>
            </a:r>
            <a:r>
              <a:rPr sz="1250" b="0" i="0">
                <a:solidFill>
                  <a:srgbClr val="475569"/>
                </a:solidFill>
                <a:latin typeface="Lato"/>
              </a:rPr>
              <a:t>Cuenta gratuita en consensus.app</a:t>
            </a:r>
          </a:p>
          <a:p>
            <a:pPr>
              <a:lnSpc>
                <a:spcPct val="108000"/>
              </a:lnSpc>
              <a:spcAft>
                <a:spcPts val="1100"/>
              </a:spcAft>
            </a:pPr>
            <a:r>
              <a:rPr sz="1250" b="1" i="0">
                <a:solidFill>
                  <a:srgbClr val="0EA5E9"/>
                </a:solidFill>
                <a:latin typeface="Lato"/>
              </a:rPr>
              <a:t>☐  </a:t>
            </a:r>
            <a:r>
              <a:rPr sz="1250" b="0" i="0">
                <a:solidFill>
                  <a:srgbClr val="475569"/>
                </a:solidFill>
                <a:latin typeface="Lato"/>
              </a:rPr>
              <a:t>Cuenta en github.com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36792" y="1828800"/>
            <a:ext cx="5166360" cy="416052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611112" y="2084832"/>
            <a:ext cx="4617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0EA5E9"/>
                </a:solidFill>
                <a:latin typeface="Poppins"/>
              </a:rPr>
              <a:t>Software local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11112" y="2560320"/>
            <a:ext cx="4617720" cy="3291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1100"/>
              </a:spcAft>
            </a:pPr>
            <a:r>
              <a:rPr sz="1250" b="1" i="0">
                <a:solidFill>
                  <a:srgbClr val="0EA5E9"/>
                </a:solidFill>
                <a:latin typeface="Lato"/>
              </a:rPr>
              <a:t>☐  </a:t>
            </a:r>
            <a:r>
              <a:rPr sz="1250" b="0" i="0">
                <a:solidFill>
                  <a:srgbClr val="475569"/>
                </a:solidFill>
                <a:latin typeface="Lato"/>
              </a:rPr>
              <a:t>Visual Studio Code instalado</a:t>
            </a:r>
          </a:p>
          <a:p>
            <a:pPr>
              <a:lnSpc>
                <a:spcPct val="108000"/>
              </a:lnSpc>
              <a:spcAft>
                <a:spcPts val="1100"/>
              </a:spcAft>
            </a:pPr>
            <a:r>
              <a:rPr sz="1250" b="1" i="0">
                <a:solidFill>
                  <a:srgbClr val="0EA5E9"/>
                </a:solidFill>
                <a:latin typeface="Lato"/>
              </a:rPr>
              <a:t>☐  </a:t>
            </a:r>
            <a:r>
              <a:rPr sz="1250" b="0" i="0">
                <a:solidFill>
                  <a:srgbClr val="475569"/>
                </a:solidFill>
                <a:latin typeface="Lato"/>
              </a:rPr>
              <a:t>Antigravity instalado y con sesión iniciada</a:t>
            </a:r>
          </a:p>
          <a:p>
            <a:pPr>
              <a:lnSpc>
                <a:spcPct val="108000"/>
              </a:lnSpc>
              <a:spcAft>
                <a:spcPts val="1100"/>
              </a:spcAft>
            </a:pPr>
            <a:r>
              <a:rPr sz="1250" b="1" i="0">
                <a:solidFill>
                  <a:srgbClr val="0EA5E9"/>
                </a:solidFill>
                <a:latin typeface="Lato"/>
              </a:rPr>
              <a:t>☐  </a:t>
            </a:r>
            <a:r>
              <a:rPr sz="1250" b="0" i="0">
                <a:solidFill>
                  <a:srgbClr val="475569"/>
                </a:solidFill>
                <a:latin typeface="Lato"/>
              </a:rPr>
              <a:t>Git instalado y configurado (user.name / user.email)</a:t>
            </a:r>
          </a:p>
          <a:p>
            <a:pPr>
              <a:lnSpc>
                <a:spcPct val="108000"/>
              </a:lnSpc>
              <a:spcAft>
                <a:spcPts val="1100"/>
              </a:spcAft>
            </a:pPr>
            <a:r>
              <a:rPr sz="1250" b="1" i="0">
                <a:solidFill>
                  <a:srgbClr val="0EA5E9"/>
                </a:solidFill>
                <a:latin typeface="Lato"/>
              </a:rPr>
              <a:t>☐  </a:t>
            </a:r>
            <a:r>
              <a:rPr sz="1250" b="0" i="0">
                <a:solidFill>
                  <a:srgbClr val="475569"/>
                </a:solidFill>
                <a:latin typeface="Lato"/>
              </a:rPr>
              <a:t>Primer repositorio clonado y probado (push/pull)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6510528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94A3B8"/>
                </a:solidFill>
                <a:latin typeface="Lato"/>
              </a:rPr>
              <a:t>IA en la Investigación Científica  ·  CBATA — TdeA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89920" y="6510528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94A3B8"/>
                </a:solidFill>
                <a:latin typeface="Lato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237744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180">
                <a:solidFill>
                  <a:srgbClr val="38BDF8"/>
                </a:solidFill>
                <a:latin typeface="Poppins"/>
              </a:rPr>
              <a:t>FIN DE LA SESIÓN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788920"/>
            <a:ext cx="100584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 i="0">
                <a:solidFill>
                  <a:srgbClr val="FFFFFF"/>
                </a:solidFill>
                <a:latin typeface="Poppins"/>
              </a:rPr>
              <a:t>¿Preguntas?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611880"/>
            <a:ext cx="96012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E2E8F0"/>
                </a:solidFill>
                <a:latin typeface="Lato"/>
              </a:rPr>
              <a:t>Ahora es tu turno: monta tu propio flujo con tu proyecto de investigación.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914400" y="4251960"/>
            <a:ext cx="594360" cy="0"/>
          </a:xfrm>
          <a:prstGeom prst="line">
            <a:avLst/>
          </a:prstGeom>
          <a:ln w="38100">
            <a:solidFill>
              <a:srgbClr val="38BDF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914400" y="4434840"/>
            <a:ext cx="96012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1">
                <a:solidFill>
                  <a:srgbClr val="94A3B8"/>
                </a:solidFill>
                <a:latin typeface="Lato"/>
              </a:rPr>
              <a:t>Reto final: crea un repositorio, pide a la IA que documente tu último análisis y haz tu primer commit.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502920"/>
            <a:ext cx="107899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 spc="150">
                <a:solidFill>
                  <a:srgbClr val="0EA5E9"/>
                </a:solidFill>
                <a:latin typeface="Poppins"/>
              </a:rPr>
              <a:t>REFERENCIAS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32104"/>
            <a:ext cx="1078992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000" b="1" i="0">
                <a:solidFill>
                  <a:srgbClr val="0F172A"/>
                </a:solidFill>
                <a:latin typeface="Poppins"/>
              </a:rPr>
              <a:t>Fuentes y enlaces de la sesión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85800" y="1581912"/>
            <a:ext cx="502920" cy="0"/>
          </a:xfrm>
          <a:prstGeom prst="line">
            <a:avLst/>
          </a:prstGeom>
          <a:ln w="38100">
            <a:solidFill>
              <a:srgbClr val="38BDF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85800" y="1920240"/>
            <a:ext cx="10607040" cy="3200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1400"/>
              </a:spcAft>
            </a:pPr>
            <a:r>
              <a:rPr sz="1500" b="1" i="0">
                <a:solidFill>
                  <a:srgbClr val="0EA5E9"/>
                </a:solidFill>
                <a:latin typeface="Lato"/>
              </a:rPr>
              <a:t>•  </a:t>
            </a:r>
            <a:r>
              <a:rPr sz="1500" b="0" i="0">
                <a:solidFill>
                  <a:srgbClr val="475569"/>
                </a:solidFill>
                <a:latin typeface="Lato"/>
              </a:rPr>
              <a:t>Antigravity — antigravity.google</a:t>
            </a:r>
          </a:p>
          <a:p>
            <a:pPr>
              <a:lnSpc>
                <a:spcPct val="108000"/>
              </a:lnSpc>
              <a:spcAft>
                <a:spcPts val="1400"/>
              </a:spcAft>
            </a:pPr>
            <a:r>
              <a:rPr sz="1500" b="1" i="0">
                <a:solidFill>
                  <a:srgbClr val="0EA5E9"/>
                </a:solidFill>
                <a:latin typeface="Lato"/>
              </a:rPr>
              <a:t>•  </a:t>
            </a:r>
            <a:r>
              <a:rPr sz="1500" b="0" i="0">
                <a:solidFill>
                  <a:srgbClr val="475569"/>
                </a:solidFill>
                <a:latin typeface="Lato"/>
              </a:rPr>
              <a:t>Visual Studio Code — code.visualstudio.com</a:t>
            </a:r>
          </a:p>
          <a:p>
            <a:pPr>
              <a:lnSpc>
                <a:spcPct val="108000"/>
              </a:lnSpc>
              <a:spcAft>
                <a:spcPts val="1400"/>
              </a:spcAft>
            </a:pPr>
            <a:r>
              <a:rPr sz="1500" b="1" i="0">
                <a:solidFill>
                  <a:srgbClr val="0EA5E9"/>
                </a:solidFill>
                <a:latin typeface="Lato"/>
              </a:rPr>
              <a:t>•  </a:t>
            </a:r>
            <a:r>
              <a:rPr sz="1500" b="0" i="0">
                <a:solidFill>
                  <a:srgbClr val="475569"/>
                </a:solidFill>
                <a:latin typeface="Lato"/>
              </a:rPr>
              <a:t>GitHub — github.com  ·  Git — git-scm.com</a:t>
            </a:r>
          </a:p>
          <a:p>
            <a:pPr>
              <a:lnSpc>
                <a:spcPct val="108000"/>
              </a:lnSpc>
              <a:spcAft>
                <a:spcPts val="1400"/>
              </a:spcAft>
            </a:pPr>
            <a:r>
              <a:rPr sz="1500" b="1" i="0">
                <a:solidFill>
                  <a:srgbClr val="0EA5E9"/>
                </a:solidFill>
                <a:latin typeface="Lato"/>
              </a:rPr>
              <a:t>•  </a:t>
            </a:r>
            <a:r>
              <a:rPr sz="1500" b="0" i="0">
                <a:solidFill>
                  <a:srgbClr val="475569"/>
                </a:solidFill>
                <a:latin typeface="Lato"/>
              </a:rPr>
              <a:t>Gemini — gemini.google.com  ·  Google AI Studio — aistudio.google.com</a:t>
            </a:r>
          </a:p>
          <a:p>
            <a:pPr>
              <a:lnSpc>
                <a:spcPct val="108000"/>
              </a:lnSpc>
              <a:spcAft>
                <a:spcPts val="1400"/>
              </a:spcAft>
            </a:pPr>
            <a:r>
              <a:rPr sz="1500" b="1" i="0">
                <a:solidFill>
                  <a:srgbClr val="0EA5E9"/>
                </a:solidFill>
                <a:latin typeface="Lato"/>
              </a:rPr>
              <a:t>•  </a:t>
            </a:r>
            <a:r>
              <a:rPr sz="1500" b="0" i="0">
                <a:solidFill>
                  <a:srgbClr val="475569"/>
                </a:solidFill>
                <a:latin typeface="Lato"/>
              </a:rPr>
              <a:t>Claude — claude.ai  ·  Claude Code y API — docs.claude.com</a:t>
            </a:r>
          </a:p>
          <a:p>
            <a:pPr>
              <a:lnSpc>
                <a:spcPct val="108000"/>
              </a:lnSpc>
              <a:spcAft>
                <a:spcPts val="1400"/>
              </a:spcAft>
            </a:pPr>
            <a:r>
              <a:rPr sz="1500" b="1" i="0">
                <a:solidFill>
                  <a:srgbClr val="0EA5E9"/>
                </a:solidFill>
                <a:latin typeface="Lato"/>
              </a:rPr>
              <a:t>•  </a:t>
            </a:r>
            <a:r>
              <a:rPr sz="1500" b="0" i="0">
                <a:solidFill>
                  <a:srgbClr val="475569"/>
                </a:solidFill>
                <a:latin typeface="Lato"/>
              </a:rPr>
              <a:t>Consensus — consensus.app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510528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94A3B8"/>
                </a:solidFill>
                <a:latin typeface="Lato"/>
              </a:rPr>
              <a:t>IA en la Investigación Científica  ·  CBATA — TdeA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10528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94A3B8"/>
                </a:solidFill>
                <a:latin typeface="Lato"/>
              </a:rPr>
              <a:t>38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265</TotalTime>
  <Words>3395</Words>
  <Application>Microsoft Office PowerPoint</Application>
  <PresentationFormat>Panorámica</PresentationFormat>
  <Paragraphs>446</Paragraphs>
  <Slides>38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38</vt:i4>
      </vt:variant>
    </vt:vector>
  </HeadingPairs>
  <TitlesOfParts>
    <vt:vector size="43" baseType="lpstr">
      <vt:lpstr>Arial</vt:lpstr>
      <vt:lpstr>Calibri</vt:lpstr>
      <vt:lpstr>Lato</vt:lpstr>
      <vt:lpstr>Poppins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Miguel Ángel Garrido Tamayo</cp:lastModifiedBy>
  <cp:revision>17</cp:revision>
  <dcterms:created xsi:type="dcterms:W3CDTF">2013-01-27T09:14:16Z</dcterms:created>
  <dcterms:modified xsi:type="dcterms:W3CDTF">2026-08-27T17:27:27Z</dcterms:modified>
  <cp:category/>
</cp:coreProperties>
</file>