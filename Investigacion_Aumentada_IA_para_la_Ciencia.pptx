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9659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00">
                <a:solidFill>
                  <a:srgbClr val="38BDF8"/>
                </a:solidFill>
                <a:latin typeface="Poppins"/>
              </a:rPr>
              <a:t>SESIÓN DE FORMACIÓN  ·  2 HORAS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23160"/>
            <a:ext cx="102412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Poppins"/>
              </a:rPr>
              <a:t>Investigación Aumentada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 i="0" dirty="0" err="1">
                <a:solidFill>
                  <a:srgbClr val="E2E8F0"/>
                </a:solidFill>
                <a:latin typeface="Lato"/>
              </a:rPr>
              <a:t>Inteligencia</a:t>
            </a:r>
            <a:r>
              <a:rPr sz="1900" b="0" i="0" dirty="0">
                <a:solidFill>
                  <a:srgbClr val="E2E8F0"/>
                </a:solidFill>
                <a:latin typeface="Lato"/>
              </a:rPr>
              <a:t> artificial para el </a:t>
            </a:r>
            <a:r>
              <a:rPr sz="1900" b="0" i="0" dirty="0" err="1">
                <a:solidFill>
                  <a:srgbClr val="E2E8F0"/>
                </a:solidFill>
                <a:latin typeface="Lato"/>
              </a:rPr>
              <a:t>desarrollo</a:t>
            </a:r>
            <a:r>
              <a:rPr sz="190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900" b="0" i="0" dirty="0" err="1">
                <a:solidFill>
                  <a:srgbClr val="E2E8F0"/>
                </a:solidFill>
                <a:latin typeface="Lato"/>
              </a:rPr>
              <a:t>riguroso</a:t>
            </a:r>
            <a:r>
              <a:rPr sz="1900" b="0" i="0" dirty="0">
                <a:solidFill>
                  <a:srgbClr val="E2E8F0"/>
                </a:solidFill>
                <a:latin typeface="Lato"/>
              </a:rPr>
              <a:t> de </a:t>
            </a:r>
            <a:r>
              <a:rPr sz="1900" b="0" i="0" dirty="0" err="1">
                <a:solidFill>
                  <a:srgbClr val="E2E8F0"/>
                </a:solidFill>
                <a:latin typeface="Lato"/>
              </a:rPr>
              <a:t>proyectos</a:t>
            </a:r>
            <a:r>
              <a:rPr sz="190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900" b="0" i="0" dirty="0" err="1">
                <a:solidFill>
                  <a:srgbClr val="E2E8F0"/>
                </a:solidFill>
                <a:latin typeface="Lato"/>
              </a:rPr>
              <a:t>científicos</a:t>
            </a:r>
            <a:endParaRPr sz="1900" b="0" i="0" dirty="0">
              <a:solidFill>
                <a:srgbClr val="E2E8F0"/>
              </a:solidFill>
              <a:latin typeface="Lato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914400" y="3977639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416052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94A3B8"/>
                </a:solidFill>
                <a:latin typeface="Lato"/>
              </a:rPr>
              <a:t>Antigravity + VS Code   ·   GitHub   ·   Gemini / Claude   ·   Consensus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893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4A3B8"/>
                </a:solidFill>
                <a:latin typeface="Lato"/>
              </a:rPr>
              <a:t>Grupo de Investigación CBATA — Tecnológico de Antioquia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9107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94A3B8"/>
                </a:solidFill>
                <a:latin typeface="Lato"/>
              </a:rPr>
              <a:t>Elaborado por Miguel Ángel Garrido Tamayo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HOJA DE RUTA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Agenda de la sesión (120 minutos)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676121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8408" y="1676121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767561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Fundamentos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060169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La IA como copiloto científico y el mapa del stack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68712" y="1859001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15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80793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480793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72233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Literatura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64841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Búsqueda y síntesis rigurosa con Consensus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68712" y="2663673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15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85465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8408" y="3285465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76905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Entorno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669513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Instalación y uso de VS Code + Antigravity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68712" y="3468345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25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90137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090137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181577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Modelos de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474185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Gemini y Claude: acceso, integración y prompts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68712" y="4273017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20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894809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78408" y="4894809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986249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Control de versiones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278857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Instalación y flujo de trabajo con Git y GitHub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68712" y="5077689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25 min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699481"/>
            <a:ext cx="10817352" cy="713232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78408" y="5699481"/>
            <a:ext cx="8229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0EA5E9"/>
                </a:solidFill>
                <a:latin typeface="Poppins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790921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F172A"/>
                </a:solidFill>
                <a:latin typeface="Poppins"/>
              </a:rPr>
              <a:t>Integración total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6083529"/>
            <a:ext cx="69494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475569"/>
                </a:solidFill>
                <a:latin typeface="Lato"/>
              </a:rPr>
              <a:t>Caso de uso completo, buenas prácticas y cierre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68712" y="5882361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Poppins"/>
              </a:rPr>
              <a:t>20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 dirty="0">
                <a:solidFill>
                  <a:srgbClr val="94A3B8"/>
                </a:solidFill>
                <a:latin typeface="La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Fundamentos: la IA como copiloto científico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Qué cambia, qué no cambia, y el mapa completo del stack de trabajo.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01  ·  EL NUEVO MÉTODO CIENTÍFICO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La IA como copiloto, no como reemplazo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2050496"/>
            <a:ext cx="10607040" cy="2396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 dirty="0">
                <a:solidFill>
                  <a:srgbClr val="475569"/>
                </a:solidFill>
                <a:latin typeface="Lato"/>
              </a:rPr>
              <a:t>No </a:t>
            </a:r>
            <a:r>
              <a:rPr sz="1450" b="0" i="1" dirty="0" err="1">
                <a:solidFill>
                  <a:srgbClr val="475569"/>
                </a:solidFill>
                <a:latin typeface="Lato"/>
              </a:rPr>
              <a:t>buscamos</a:t>
            </a:r>
            <a:r>
              <a:rPr sz="1450" b="0" i="1" dirty="0">
                <a:solidFill>
                  <a:srgbClr val="475569"/>
                </a:solidFill>
                <a:latin typeface="Lato"/>
              </a:rPr>
              <a:t> </a:t>
            </a:r>
            <a:r>
              <a:rPr sz="1450" b="1" i="1" dirty="0" err="1">
                <a:solidFill>
                  <a:srgbClr val="C00000"/>
                </a:solidFill>
                <a:latin typeface="Lato"/>
              </a:rPr>
              <a:t>delegar</a:t>
            </a:r>
            <a:r>
              <a:rPr sz="1450" b="1" i="1" dirty="0">
                <a:solidFill>
                  <a:srgbClr val="C00000"/>
                </a:solidFill>
                <a:latin typeface="Lato"/>
              </a:rPr>
              <a:t> el </a:t>
            </a:r>
            <a:r>
              <a:rPr sz="1450" b="1" i="1" dirty="0" err="1">
                <a:solidFill>
                  <a:srgbClr val="C00000"/>
                </a:solidFill>
                <a:latin typeface="Lato"/>
              </a:rPr>
              <a:t>criterio</a:t>
            </a:r>
            <a:r>
              <a:rPr sz="1450" b="1" i="1" dirty="0">
                <a:solidFill>
                  <a:srgbClr val="C00000"/>
                </a:solidFill>
                <a:latin typeface="Lato"/>
              </a:rPr>
              <a:t> </a:t>
            </a:r>
            <a:r>
              <a:rPr sz="1450" b="1" i="1" dirty="0" err="1">
                <a:solidFill>
                  <a:srgbClr val="C00000"/>
                </a:solidFill>
                <a:latin typeface="Lato"/>
              </a:rPr>
              <a:t>científico</a:t>
            </a:r>
            <a:r>
              <a:rPr sz="1450" b="0" i="1" dirty="0">
                <a:solidFill>
                  <a:srgbClr val="475569"/>
                </a:solidFill>
                <a:latin typeface="Lato"/>
              </a:rPr>
              <a:t>: </a:t>
            </a:r>
            <a:r>
              <a:rPr sz="1450" b="0" i="1" dirty="0" err="1">
                <a:solidFill>
                  <a:srgbClr val="475569"/>
                </a:solidFill>
                <a:latin typeface="Lato"/>
              </a:rPr>
              <a:t>buscamos</a:t>
            </a:r>
            <a:r>
              <a:rPr sz="1450" b="0" i="1" dirty="0">
                <a:solidFill>
                  <a:srgbClr val="475569"/>
                </a:solidFill>
                <a:latin typeface="Lato"/>
              </a:rPr>
              <a:t> </a:t>
            </a:r>
            <a:r>
              <a:rPr sz="1450" b="0" i="1" dirty="0" err="1">
                <a:solidFill>
                  <a:srgbClr val="475569"/>
                </a:solidFill>
                <a:latin typeface="Lato"/>
              </a:rPr>
              <a:t>expandir</a:t>
            </a:r>
            <a:r>
              <a:rPr sz="1450" b="0" i="1" dirty="0">
                <a:solidFill>
                  <a:srgbClr val="475569"/>
                </a:solidFill>
                <a:latin typeface="Lato"/>
              </a:rPr>
              <a:t> la </a:t>
            </a:r>
            <a:r>
              <a:rPr sz="1450" b="0" i="1" dirty="0" err="1">
                <a:solidFill>
                  <a:srgbClr val="475569"/>
                </a:solidFill>
                <a:latin typeface="Lato"/>
              </a:rPr>
              <a:t>capacidad</a:t>
            </a:r>
            <a:r>
              <a:rPr sz="1450" b="0" i="1" dirty="0">
                <a:solidFill>
                  <a:srgbClr val="475569"/>
                </a:solidFill>
                <a:latin typeface="Lato"/>
              </a:rPr>
              <a:t> del </a:t>
            </a:r>
            <a:r>
              <a:rPr sz="1450" b="0" i="1" dirty="0" err="1">
                <a:solidFill>
                  <a:srgbClr val="475569"/>
                </a:solidFill>
                <a:latin typeface="Lato"/>
              </a:rPr>
              <a:t>equipo</a:t>
            </a:r>
            <a:r>
              <a:rPr sz="1450" b="0" i="1" dirty="0">
                <a:solidFill>
                  <a:srgbClr val="475569"/>
                </a:solidFill>
                <a:latin typeface="Lato"/>
              </a:rPr>
              <a:t> para: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17424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Procesar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volumen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grandes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series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datos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literatura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código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minutos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vez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 días.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Traducir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ideas a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código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convertir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un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modelo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teórico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o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una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ecuación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un script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ejecutable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probado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Detectar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patrones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señales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los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datos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o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vacíos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la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literatura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que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ojo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humano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podría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pasar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por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alto.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Documentar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y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comunicar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redactar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métodos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comentarios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código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borradores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con rigor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trazabilidad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01  ·  LO QUE NO NEGOCIA EL RIGOR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Lo que la IA nunca reemplaza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Verificación humana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todo resultado generado por IA se revisa, se contrasta y se referencia.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Reproducibilidad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el código, los datos y las versiones deben quedar trazados (por eso usamos GitHub).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Evidencia científica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las afirmaciones se sustentan en literatura revisada por pares, no en la memoria del modelo.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Criterio disciplinar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la interpretación física, estadística o metodológica la hace el equipo investigador.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5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78DF1BE-F375-2007-3128-F8A5E9765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06" y="4745690"/>
            <a:ext cx="10827434" cy="5303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01  ·  EL STACK DE LA SESIÓN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Cuatro herramientas, un solo flujo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1">
                <a:solidFill>
                  <a:srgbClr val="475569"/>
                </a:solidFill>
                <a:latin typeface="Lato"/>
              </a:rPr>
              <a:t>Cada herramienta cubre una etapa distinta del proyecto científico: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50008"/>
            <a:ext cx="2464308" cy="3977639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2350008"/>
            <a:ext cx="2464308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2642616"/>
            <a:ext cx="19522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0EA5E9"/>
                </a:solidFill>
                <a:latin typeface="Poppins"/>
              </a:rPr>
              <a:t>LITERATURA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916936"/>
            <a:ext cx="19522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172A"/>
                </a:solidFill>
                <a:latin typeface="Poppins"/>
              </a:rPr>
              <a:t>Consensus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520440"/>
            <a:ext cx="195224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475569"/>
                </a:solidFill>
                <a:latin typeface="Lato"/>
              </a:rPr>
              <a:t>Motor de búsqueda basado en evidencia científica: responde preguntas usando solo artículos revisados por pares.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0148" y="2350008"/>
            <a:ext cx="2464308" cy="3977639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70148" y="2350008"/>
            <a:ext cx="2464308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26180" y="2642616"/>
            <a:ext cx="19522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0EA5E9"/>
                </a:solidFill>
                <a:latin typeface="Poppins"/>
              </a:rPr>
              <a:t>ENTORNO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6180" y="2916936"/>
            <a:ext cx="19522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172A"/>
                </a:solidFill>
                <a:latin typeface="Poppins"/>
              </a:rPr>
              <a:t>Antigravity + VS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6180" y="3520440"/>
            <a:ext cx="195224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475569"/>
                </a:solidFill>
                <a:latin typeface="Lato"/>
              </a:rPr>
              <a:t>Editor de código potenciado por agentes de IA para escribir, depurar y documentar el proyecto.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2350008"/>
            <a:ext cx="2464308" cy="3977639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54496" y="2350008"/>
            <a:ext cx="2464308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2642616"/>
            <a:ext cx="19522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0EA5E9"/>
                </a:solidFill>
                <a:latin typeface="Poppins"/>
              </a:rPr>
              <a:t>MODELOS DE 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16936"/>
            <a:ext cx="19522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172A"/>
                </a:solidFill>
                <a:latin typeface="Poppins"/>
              </a:rPr>
              <a:t>Gemini / 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520440"/>
            <a:ext cx="195224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475569"/>
                </a:solidFill>
                <a:latin typeface="Lato"/>
              </a:rPr>
              <a:t>Los "cerebros" que razonan, generan código y redactan texto dentro del entorno de trabajo.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2350008"/>
            <a:ext cx="2464308" cy="3977639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38844" y="2350008"/>
            <a:ext cx="2464308" cy="8229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94876" y="2642616"/>
            <a:ext cx="195224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0EA5E9"/>
                </a:solidFill>
                <a:latin typeface="Poppins"/>
              </a:rPr>
              <a:t>TRAZABILIDAD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4876" y="2916936"/>
            <a:ext cx="19522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172A"/>
                </a:solidFill>
                <a:latin typeface="Poppins"/>
              </a:rPr>
              <a:t>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4876" y="3520440"/>
            <a:ext cx="195224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 i="0">
                <a:solidFill>
                  <a:srgbClr val="475569"/>
                </a:solidFill>
                <a:latin typeface="Lato"/>
              </a:rPr>
              <a:t>Control de versiones: historial, colaboración y respaldo de todo el proyecto.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01  ·  DE LA PREGUNTA AL ARTÍCULO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Cómo se integra todo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475569"/>
                </a:solidFill>
                <a:latin typeface="Lato"/>
              </a:rPr>
              <a:t>Un mismo proyecto recorre estas cinco estaciones de principio a fin: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700928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394460" y="2481472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048400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Pregunta de
investigación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743343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Se define el problema y las hipótesis de trabajo.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42032" y="3615328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26080" y="2700928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634740" y="2481472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3048400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Literatura
(Consensus)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3743343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Estado del arte basado en evidencia revisada por pares.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82312" y="3615328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66360" y="2700928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875020" y="2481472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048400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Código con IA
(Antigravity)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3743343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Gemini/Claude escriben y explican el código dentro del editor.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22592" y="3615328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406640" y="2700928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115300" y="2481472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2" y="3048400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Trazabilidad
(GitHub)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1232" y="3743343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Cada avance queda versionado, respaldado y documentado.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62872" y="3615328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646920" y="2700928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355580" y="2481472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1512" y="3048400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Resultados y
manuscrito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1512" y="3743343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Figuras, hallazgos y redacción, listos para su publicación.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Búsqueda y síntesis de literatura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CO" sz="1500" b="0" i="0" dirty="0">
                <a:solidFill>
                  <a:srgbClr val="E2E8F0"/>
                </a:solidFill>
                <a:latin typeface="Lato"/>
              </a:rPr>
              <a:t>¿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Cómo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construir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 un 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estado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 del 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arte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sólido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en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minutos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, sin </a:t>
            </a:r>
            <a:r>
              <a:rPr sz="1500" b="0" i="0" dirty="0" err="1">
                <a:solidFill>
                  <a:srgbClr val="E2E8F0"/>
                </a:solidFill>
                <a:latin typeface="Lato"/>
              </a:rPr>
              <a:t>sacrificar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 el rigor</a:t>
            </a:r>
            <a:r>
              <a:rPr lang="es-CO" sz="1500" b="0" i="0" dirty="0">
                <a:solidFill>
                  <a:srgbClr val="E2E8F0"/>
                </a:solidFill>
                <a:latin typeface="Lato"/>
              </a:rPr>
              <a:t>?</a:t>
            </a:r>
            <a:r>
              <a:rPr sz="1500" b="0" i="0" dirty="0">
                <a:solidFill>
                  <a:srgbClr val="E2E8F0"/>
                </a:solidFill>
                <a:latin typeface="Lato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02  ·  ECOSISTEMA CIENTÍFICO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Consensus: evidencia, no opiniones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Qué es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un buscador de IA que responde preguntas científicas citando exclusivamente artículos revisados por pares.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Consensus Meter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sintetiza si la evidencia disponible respalda, contradice o es mixta frente a una afirmación.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Copiloto de síntesis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genera resúmenes comparativos entre varios estudios, con enlace directo a la fuente.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Por qué importa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reduce el riesgo de alucinaciones: cada frase generada es trazable a un paper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02  ·  INSTALACIÓN Y ACCESO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Cómo empezar a usar Consensus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475569"/>
                </a:solidFill>
                <a:latin typeface="Lato"/>
              </a:rPr>
              <a:t>Toma menos de 5 minutos dejarlo listo: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3172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313432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Crear cuenta gratuita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624328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Ingresa a consensus.app y regístrate con tu correo institucional o cuenta de Google.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2734056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5800" y="337185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353562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Explorar el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3664458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El plan gratuito permite búsquedas ilimitadas; el plan Premium añade el Copiloto de síntesis y extracción de tablas.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3774186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85800" y="441198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393692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Instalar la extensión (opcional)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4704588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Disponible para Chrome: permite verificar afirmaciones científicas mientras navegas cualquier página.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4814316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85800" y="5452110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433822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Ajustar filtros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" y="5744718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Configura filtros por año, tipo de estudio y campo disciplinar antes de tu primera búsqueda.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02  ·  USO EN LA PRÁCTICA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Cómo formular buenas preguntas en Consensus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475569"/>
                </a:solidFill>
                <a:latin typeface="Lato"/>
              </a:rPr>
              <a:t>La calidad de la respuesta depende directamente de la calidad de la pregunta: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50008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Sé específico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en vez de "contaminación del aire", pregunta "¿la altura de la capa límite influye en la dispersión de PM2.5 en zonas urbanas?".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Usa preguntas cerradas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Consensus responde mejor preguntas que admiten evidencia a favor/en contra.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Cruza con Gemini o Claude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pide al modelo de IA que organice los hallazgos de Consensus en una tabla comparativa o un borrador de estado del arte.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Verifica siempre la fuente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abre el artículo original antes de citarlo en tu manuscrito.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85800" y="59436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 i="0">
                <a:solidFill>
                  <a:srgbClr val="0F172A"/>
                </a:solidFill>
                <a:latin typeface="Poppins"/>
              </a:rPr>
              <a:t>MOMENTO PRÁCTICO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Revisión de literatura en vivo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40280"/>
            <a:ext cx="10817352" cy="1417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41280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dirty="0">
                <a:solidFill>
                  <a:srgbClr val="38BDF8"/>
                </a:solidFill>
                <a:latin typeface="Lato"/>
              </a:rPr>
              <a:t>“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Influencia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de la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altura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de la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capa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límite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planetaria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en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la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dispersión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de PM2.5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en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entornos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urbanos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complejos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94A3B8"/>
                </a:solidFill>
                <a:latin typeface="Poppins"/>
              </a:rPr>
              <a:t>EN ESTE EJERCICIO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10607040" cy="9103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 dirty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Cada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participante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formula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su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propia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pregunta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de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investigación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en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Consensus.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 dirty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Identificamos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y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contrastamos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2–3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fuentes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citadas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 dirty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Pedimos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a Gemini o Claude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que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resuma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los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hallazgos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en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cinco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 </a:t>
            </a:r>
            <a:r>
              <a:rPr sz="1350" b="0" i="0" dirty="0" err="1">
                <a:solidFill>
                  <a:srgbClr val="E2E8F0"/>
                </a:solidFill>
                <a:latin typeface="Lato"/>
              </a:rPr>
              <a:t>líneas</a:t>
            </a:r>
            <a:r>
              <a:rPr sz="1350" b="0" i="0" dirty="0">
                <a:solidFill>
                  <a:srgbClr val="E2E8F0"/>
                </a:solidFill>
                <a:latin typeface="Lato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 dirty="0">
                <a:solidFill>
                  <a:srgbClr val="FFFFFF"/>
                </a:solidFill>
                <a:latin typeface="Poppins"/>
              </a:rPr>
              <a:t>El </a:t>
            </a:r>
            <a:r>
              <a:rPr sz="3200" b="1" i="0" dirty="0" err="1">
                <a:solidFill>
                  <a:srgbClr val="FFFFFF"/>
                </a:solidFill>
                <a:latin typeface="Poppins"/>
              </a:rPr>
              <a:t>entorno</a:t>
            </a:r>
            <a:r>
              <a:rPr sz="3200" b="1" i="0" dirty="0">
                <a:solidFill>
                  <a:srgbClr val="FFFFFF"/>
                </a:solidFill>
                <a:latin typeface="Poppins"/>
              </a:rPr>
              <a:t> de </a:t>
            </a:r>
            <a:r>
              <a:rPr sz="3200" b="1" i="0" dirty="0" err="1">
                <a:solidFill>
                  <a:srgbClr val="FFFFFF"/>
                </a:solidFill>
                <a:latin typeface="Poppins"/>
              </a:rPr>
              <a:t>desarrollo</a:t>
            </a:r>
            <a:r>
              <a:rPr sz="3200" b="1" i="0" dirty="0">
                <a:solidFill>
                  <a:srgbClr val="FFFFFF"/>
                </a:solidFill>
                <a:latin typeface="Poppins"/>
              </a:rPr>
              <a:t> agentic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VS Code como base y Antigravity como agente que escribe, prueba y documenta código.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03  ·  LA BASE DEL ENTORNO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Visual Studio Code: el editor universal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1547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Qué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es  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un editor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código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gratuito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multiplataforma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(Windows, macOS, Linux),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estándar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desarrollo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científico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Por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qué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partir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de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aquí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Antigravity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está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construido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sobre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la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misma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base,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así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que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la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interfaz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los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atajos se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comparten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Extensiones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clave  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Python, Jupyter,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GitLens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control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código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fuente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vienen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integrados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Terminal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integrada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permite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ejecutar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Python, Git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cualquier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comando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sin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salir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del editor.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03  ·  INSTALACIÓN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Cómo instalar Visual Studio Code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Descargar el instalador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Ve a code.visualstudio.com y descarga la versión correspondiente a tu sistema operativo.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Ejecutar la instalación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Windows: ejecuta el .exe y marca “Agregar al PATH”. macOS: arrastra la app a Aplicaciones. Linux: usa el paquete .deb/.rpm o Snap.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Instalar extensión de 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Desde el panel de Extensiones (Ctrl+Shift+X), busca “Python” e instala la oficial de Microsoft.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Verificar instalación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Abre una terminal integrada (Ctrl+ ´) y ejecuta “code --version” y “python --version”.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783080"/>
            <a:ext cx="2953512" cy="41605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48472" y="2039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38BDF8"/>
                </a:solidFill>
                <a:latin typeface="Poppins"/>
              </a:rPr>
              <a:t>CONSEJO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8472" y="2441448"/>
            <a:ext cx="246888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Guarda tu carpeta de proyecto en una ruta sin espacios ni tildes.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Activa el guardado automático (File › Auto Save).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Sincroniza ajustes con tu cuenta de GitHub para no perder configuración.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03  ·  EL AGENTE DE DESARROLLO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Antigravity: de editor a colaborador autónomo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Qué es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la plataforma de desarrollo agentic de Google: un entorno tipo VS Code con agentes de IA integrados que planifican y ejecutan tareas.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Agent Manager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gestiona uno o varios agentes trabajando en paralelo sobre distintas partes del proyecto.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Artifacts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el agente documenta su razonamiento, capturas y resultados en un panel visual verificable, no solo en el código.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Modelo nativo: Gemini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trae integración de fábrica con Gemini, y admite conectar otros modelos como Claude.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03  ·  INSTALACIÓN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470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 dirty="0" err="1">
                <a:solidFill>
                  <a:srgbClr val="0F172A"/>
                </a:solidFill>
                <a:latin typeface="Poppins"/>
              </a:rPr>
              <a:t>Cómo</a:t>
            </a:r>
            <a:r>
              <a:rPr sz="3000" b="1" i="0" dirty="0">
                <a:solidFill>
                  <a:srgbClr val="0F172A"/>
                </a:solidFill>
                <a:latin typeface="Poppins"/>
              </a:rPr>
              <a:t> </a:t>
            </a:r>
            <a:r>
              <a:rPr sz="3000" b="1" i="0" dirty="0" err="1">
                <a:solidFill>
                  <a:srgbClr val="0F172A"/>
                </a:solidFill>
                <a:latin typeface="Poppins"/>
              </a:rPr>
              <a:t>instalar</a:t>
            </a:r>
            <a:r>
              <a:rPr sz="3000" b="1" i="0" dirty="0">
                <a:solidFill>
                  <a:srgbClr val="0F172A"/>
                </a:solidFill>
                <a:latin typeface="Poppins"/>
              </a:rPr>
              <a:t> Antigravity</a:t>
            </a:r>
            <a:r>
              <a:rPr lang="es-CO" sz="3000" b="1" i="0" dirty="0">
                <a:solidFill>
                  <a:srgbClr val="0F172A"/>
                </a:solidFill>
                <a:latin typeface="Poppins"/>
              </a:rPr>
              <a:t> IDE</a:t>
            </a:r>
            <a:endParaRPr sz="3000" b="1" i="0" dirty="0">
              <a:solidFill>
                <a:srgbClr val="0F172A"/>
              </a:solidFill>
              <a:latin typeface="Poppins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Descargar el instalador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6473952" cy="188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 dirty="0" err="1">
                <a:solidFill>
                  <a:srgbClr val="475569"/>
                </a:solidFill>
                <a:latin typeface="Lato"/>
              </a:rPr>
              <a:t>Ingresa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a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antigravity.google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descarga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la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versión</a:t>
            </a:r>
            <a:r>
              <a:rPr lang="es-CO" sz="1180" b="0" i="0" dirty="0">
                <a:solidFill>
                  <a:srgbClr val="475569"/>
                </a:solidFill>
                <a:latin typeface="Lato"/>
              </a:rPr>
              <a:t> IDE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para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tu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sistema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operativo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Instalar como cualquier 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El proceso es idéntico al de VS Code, ya que comparte la misma base tecnológica.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Iniciar sesión con Google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Es obligatorio para autenticar el acceso a los modelos Gemini integrados.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647395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Abrir tu carpeta de proyecto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6473952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File › Open Folder, o clona directamente un repositorio de GitHub desde el asistente inicial.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783080"/>
            <a:ext cx="2953512" cy="41605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48472" y="2039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100">
                <a:solidFill>
                  <a:srgbClr val="38BDF8"/>
                </a:solidFill>
                <a:latin typeface="Poppins"/>
              </a:rPr>
              <a:t>REQUISITOS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8472" y="2441448"/>
            <a:ext cx="2468880" cy="333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Cuenta de Google activa.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Conexión estable a internet (los agentes trabajan en la nube).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100" b="0" i="0">
                <a:solidFill>
                  <a:srgbClr val="E2E8F0"/>
                </a:solidFill>
                <a:latin typeface="Lato"/>
              </a:rPr>
              <a:t>8 GB de RAM recomendados para proyectos con datos pesados.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03  ·  PRIMER RECORRIDO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La interfaz de Antigravity en 4 zonas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1804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Editor de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código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idéntico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a VS Code: árbol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archivos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pestañas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resaltado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sintaxis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Agent Manager  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panel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donde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defines la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tarea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,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eliges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modelo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(Gemini/Claude)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sigues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progreso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agente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tiempo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real.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Terminal y Control</a:t>
            </a:r>
            <a:r>
              <a:rPr lang="es-CO" sz="1550" b="1" i="0" dirty="0">
                <a:solidFill>
                  <a:srgbClr val="0EA5E9"/>
                </a:solidFill>
                <a:latin typeface="Lato"/>
              </a:rPr>
              <a:t>  de fuentes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consola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integrada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panel de Git para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revisar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cambios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antes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confirmarlos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vista previa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muestra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gráficos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, notebooks o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páginas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generadas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por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agente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sin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salir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entorno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18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A9F2136-1C5A-5408-FC01-824DA8EFA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829" y="3768428"/>
            <a:ext cx="4591549" cy="25866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Los modelos: Gemini y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Cómo acceder a cada modelo, cuándo elegirlo y cómo escribirle instrucciones rigurosas.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04  ·  ACCESO E INTEGRACIÓN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Gemini: conversación y desarrollo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Uso conversacional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10250424" cy="188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 dirty="0">
                <a:solidFill>
                  <a:srgbClr val="475569"/>
                </a:solidFill>
                <a:latin typeface="Lato"/>
              </a:rPr>
              <a:t>gemini.google.com, con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tu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cuenta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de Google — ideal para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explorar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ideas y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redactar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texto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Google AI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10250424" cy="188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 dirty="0">
                <a:solidFill>
                  <a:srgbClr val="475569"/>
                </a:solidFill>
                <a:latin typeface="Lato"/>
              </a:rPr>
              <a:t>aistudio.google.com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permite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generar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una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API key 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para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integraciones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de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desarrollo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Dentro de 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10250424" cy="188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 dirty="0">
                <a:solidFill>
                  <a:srgbClr val="C00000"/>
                </a:solidFill>
                <a:latin typeface="Lato"/>
              </a:rPr>
              <a:t>Gemini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viene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disponible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por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defecto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en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el selector de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modelos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del Agent Manager.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Fortaleza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gran ventana de contexto: ideal para analizar datasets extensos o múltiples archivos de código a la vez.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04  ·  ACCESO E INTEGRACIÓN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Claude: razonamiento y rigor en el código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Uso conversacional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10250424" cy="188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 dirty="0">
                <a:solidFill>
                  <a:srgbClr val="475569"/>
                </a:solidFill>
                <a:latin typeface="Lato"/>
              </a:rPr>
              <a:t>claude.ai, con planes Free y Pro — ideal 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para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razonamiento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profundo y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redacción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científica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Claude Code (CLI)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10250424" cy="188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 dirty="0">
                <a:solidFill>
                  <a:srgbClr val="475569"/>
                </a:solidFill>
                <a:latin typeface="Lato"/>
              </a:rPr>
              <a:t>se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instala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con “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npm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install -g @anthropic-ai/claude-code” (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requiere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Node.js) y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corre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en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la terminal del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proyecto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Consola de desarrollador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10250424" cy="1888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 dirty="0">
                <a:solidFill>
                  <a:srgbClr val="475569"/>
                </a:solidFill>
                <a:latin typeface="Lato"/>
              </a:rPr>
              <a:t>console.anthropic.com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permite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475569"/>
                </a:solidFill>
                <a:latin typeface="Lato"/>
              </a:rPr>
              <a:t>generar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una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API key para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integrarlo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en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extensiones</a:t>
            </a:r>
            <a:r>
              <a:rPr sz="1180" b="0" i="0" dirty="0">
                <a:solidFill>
                  <a:srgbClr val="C00000"/>
                </a:solidFill>
                <a:latin typeface="Lato"/>
              </a:rPr>
              <a:t> o </a:t>
            </a:r>
            <a:r>
              <a:rPr sz="1180" b="0" i="0" dirty="0" err="1">
                <a:solidFill>
                  <a:srgbClr val="C00000"/>
                </a:solidFill>
                <a:latin typeface="Lato"/>
              </a:rPr>
              <a:t>agentes</a:t>
            </a:r>
            <a:r>
              <a:rPr sz="1180" b="0" i="0" dirty="0">
                <a:solidFill>
                  <a:srgbClr val="475569"/>
                </a:solidFill>
                <a:latin typeface="Lato"/>
              </a:rPr>
              <a:t>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Fortaleza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seguimiento cuidadoso de instrucciones complejas y explicaciones didácticas del código que genera.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04  ·  COMPARATIVA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¿Cuándo usar cada modelo?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81735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5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75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Tarea científica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Gemini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Claude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Analizar datasets extensos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Excelente (contexto amplio)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Muy bueno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Escribir/depurar código complejo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Muy bueno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Excelente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Redactar manuscritos y métodos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Bueno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Excelente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Integración nativa en Antigravity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Nativa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Vía extensión / CLI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Explicar el razonamiento paso a paso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Bueno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Excelente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04  ·  PROMPTS RIGUROSOS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La estructura Rol – Contexto – Tarea (R-C-T)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475569"/>
                </a:solidFill>
                <a:latin typeface="Lato"/>
              </a:rPr>
              <a:t>Un buen prompt científico reduce ambigüedad y errores de la IA: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50008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Rol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“Actúa como un científico atmosférico experto en Python y modelos de calidad del aire.”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Contexto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“Tengo un dataset de PBLH y PM2.5 con errores de sensor en la estación X.”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Tarea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“Escribe un script para imputar los datos faltantes con un promedio móvil ponderado.”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Resultado esperado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código funcional, comentado y con supuestos explícitos — nunca una “caja negra”.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85800" y="59436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 i="0">
                <a:solidFill>
                  <a:srgbClr val="0F172A"/>
                </a:solidFill>
                <a:latin typeface="Poppins"/>
              </a:rPr>
              <a:t>MOMENTO PRÁCTICO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Pídele a la IA que razone como científico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40280"/>
            <a:ext cx="10817352" cy="1417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657770"/>
            <a:ext cx="10241280" cy="58233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dirty="0">
                <a:solidFill>
                  <a:srgbClr val="38BDF8"/>
                </a:solidFill>
                <a:latin typeface="Lato"/>
              </a:rPr>
              <a:t>“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Actúa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como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investigador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en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lang="es-CO" sz="1600" i="1" dirty="0">
                <a:solidFill>
                  <a:srgbClr val="38BDF8"/>
                </a:solidFill>
                <a:latin typeface="Lato"/>
              </a:rPr>
              <a:t>capa limite atmosférica (CLA) en zonas urbanas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.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Aquí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está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mi dataset.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Explica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qué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hace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,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detecta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posibles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errores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y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sugiere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una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prueba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 de </a:t>
            </a:r>
            <a:r>
              <a:rPr sz="1600" b="0" i="1" dirty="0" err="1">
                <a:solidFill>
                  <a:srgbClr val="38BDF8"/>
                </a:solidFill>
                <a:latin typeface="Lato"/>
              </a:rPr>
              <a:t>validación</a:t>
            </a:r>
            <a:r>
              <a:rPr sz="1600" b="0" i="1" dirty="0">
                <a:solidFill>
                  <a:srgbClr val="38BDF8"/>
                </a:solidFill>
                <a:latin typeface="Lato"/>
              </a:rPr>
              <a:t>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94A3B8"/>
                </a:solidFill>
                <a:latin typeface="Poppins"/>
              </a:rPr>
              <a:t>EN ESTE EJERCICIO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52026"/>
            <a:ext cx="106070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Cada participante trae un fragmento de código o una ecuación de su propio proyecto.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Aplicamos la estructura R-C-T para pedírselo a Gemini y a Claude.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Comparamos ambas respuestas: claridad, precisión y supuestos declarados.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Trazabilidad y colaboración: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Por qué el control de versiones es innegociable en la ciencia reproducible.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05  ·  POR QUÉ VERSIONAR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Git y GitHub: la memoria del proyecto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Reproducibilidad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cualquier resultado puede rastrearse hasta la versión exacta del código que lo produjo.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Historial completo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cada cambio queda registrado con autor, fecha y motivo — nunca se pierde una versión anterior.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Colaboración segura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varios investigadores trabajan en paralelo sin sobrescribir el trabajo de los demás.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Respaldo en la nube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GitHub aloja el proyecto de forma segura, accesible desde cualquier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05  ·  INSTALACIÓN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Instalar Git y crear tu cuenta de GitHub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Crear cuenta en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Ve a github.com y regístrate gratis con tu correo institucional.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Instalar 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Windows: instalador en git-scm.com. macOS: “xcode-select --install” o “brew install git”. Linux: “sudo apt install git”.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Verificar instalación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En la terminal, ejecuta “git --version” para confirmar que quedó instalado.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Iniciar sesión en el editor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En VS Code/Antigravity, el panel de Source Control te pedirá autenticarte con tu cuenta de GitHub.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05  ·  CONFIGURACIÓN INICIAL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Identidad y autenticación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80136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78308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Configurar tu identidad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09397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“git config --global user.name ‘Tu Nombre’” y “git config --global user.email ‘tu@correo.com’”.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77824" y="220370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84149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82321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Elegir método de autenticación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13410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Token de acceso personal (Settings › Developer settings › Personal access tokens) o llave SSH (“ssh-keygen”).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" y="324383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5800" y="388162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86334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Registrar la llave SSH (si aplica)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17423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Copia la llave pública y pégala en GitHub › Settings › SSH and GPG keys.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77824" y="4283964"/>
            <a:ext cx="0" cy="619506"/>
          </a:xfrm>
          <a:prstGeom prst="line">
            <a:avLst/>
          </a:prstGeom>
          <a:ln w="15875">
            <a:solidFill>
              <a:srgbClr val="E2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85800" y="4921758"/>
            <a:ext cx="384048" cy="384048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3470"/>
            <a:ext cx="1025042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Poppins"/>
              </a:rPr>
              <a:t>Probar la conexión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5214366"/>
            <a:ext cx="10250424" cy="710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80" b="0" i="0">
                <a:solidFill>
                  <a:srgbClr val="475569"/>
                </a:solidFill>
                <a:latin typeface="Lato"/>
              </a:rPr>
              <a:t>“ssh -T git@github.com” debe confirmar tu usuario correctamente.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05  ·  FLUJO BÁSICO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El ciclo diario de trabajo con Git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2148840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394460" y="1929384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496312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Crear repositorio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191255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Botón “New” en GitHub, o “git init” en local.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42032" y="3063240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26080" y="2148840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634740" y="1929384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2496312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Clonar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3191255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“git clone &lt;url&gt;” desde la terminal o el panel de Source Control.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82312" y="3063240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66360" y="2148840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875020" y="1929384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2496312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Editar y guardar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191255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trabajas en el código con ayuda de Gemini/Claude dentro del editor.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22592" y="3063240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06640" y="2148840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115300" y="1929384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2" y="2496312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Confirmar cambios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2" y="3191255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“git add .” + “git commit -m ‘mensaje’”.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62872" y="3063240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646920" y="2148840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355580" y="1929384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1512" y="2496312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Subir a GitHub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1512" y="3191255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“git push” — y “git pull” para traer cambios de otros.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526280"/>
            <a:ext cx="10607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05  ·  TODO EN UN SOLO LUGAR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GitHub dentro de Antigravity/VS Code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7329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Panel de Source Control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muestra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los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archivos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modificados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permite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confirmar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cambios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sin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salir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del editor.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Historial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visual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extensiones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como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GitLens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muestran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quién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y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cuándo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cambió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cada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línea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código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Branches (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ramas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) 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permiten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probar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ideas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nuevas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sin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arriesgar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la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versión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estable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proyecto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 dirty="0">
                <a:solidFill>
                  <a:srgbClr val="0EA5E9"/>
                </a:solidFill>
                <a:latin typeface="Lato"/>
              </a:rPr>
              <a:t>—  </a:t>
            </a:r>
            <a:r>
              <a:rPr sz="1550" b="1" i="0" dirty="0" err="1">
                <a:solidFill>
                  <a:srgbClr val="0EA5E9"/>
                </a:solidFill>
                <a:latin typeface="Lato"/>
              </a:rPr>
              <a:t>Agentes</a:t>
            </a:r>
            <a:r>
              <a:rPr sz="1550" b="1" i="0" dirty="0">
                <a:solidFill>
                  <a:srgbClr val="0EA5E9"/>
                </a:solidFill>
                <a:latin typeface="Lato"/>
              </a:rPr>
              <a:t> + Git  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el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agente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de IA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puede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proponer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commits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descriptivos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automáticamente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al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finalizar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una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 </a:t>
            </a:r>
            <a:r>
              <a:rPr sz="1550" b="0" i="0" dirty="0" err="1">
                <a:solidFill>
                  <a:srgbClr val="475569"/>
                </a:solidFill>
                <a:latin typeface="Lato"/>
              </a:rPr>
              <a:t>tarea</a:t>
            </a:r>
            <a:r>
              <a:rPr sz="1550" b="0" i="0" dirty="0">
                <a:solidFill>
                  <a:srgbClr val="475569"/>
                </a:solidFill>
                <a:latin typeface="Lato"/>
              </a:rPr>
              <a:t>.</a:t>
            </a:r>
            <a:endParaRPr lang="es-CO" sz="1550" b="0" i="0" dirty="0">
              <a:solidFill>
                <a:srgbClr val="475569"/>
              </a:solidFill>
              <a:latin typeface="Lato"/>
            </a:endParaRPr>
          </a:p>
          <a:p>
            <a:pPr>
              <a:lnSpc>
                <a:spcPct val="108000"/>
              </a:lnSpc>
              <a:spcAft>
                <a:spcPts val="1400"/>
              </a:spcAft>
            </a:pPr>
            <a:endParaRPr lang="es-CO" sz="1550" b="0" i="0" dirty="0">
              <a:solidFill>
                <a:srgbClr val="475569"/>
              </a:solidFill>
              <a:latin typeface="Lato"/>
            </a:endParaRPr>
          </a:p>
          <a:p>
            <a:pPr>
              <a:lnSpc>
                <a:spcPct val="108000"/>
              </a:lnSpc>
              <a:spcAft>
                <a:spcPts val="1400"/>
              </a:spcAft>
            </a:pPr>
            <a:endParaRPr lang="es-CO" sz="1550" dirty="0">
              <a:solidFill>
                <a:srgbClr val="475569"/>
              </a:solidFill>
              <a:latin typeface="Lato"/>
            </a:endParaRP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lang="es-CO" sz="1550" b="1" i="0" dirty="0">
                <a:solidFill>
                  <a:schemeClr val="tx2">
                    <a:lumMod val="60000"/>
                    <a:lumOff val="40000"/>
                  </a:schemeClr>
                </a:solidFill>
                <a:latin typeface="Lato"/>
              </a:rPr>
              <a:t>MEMORIAS DE ESTE ESTE CURSO EN PDF.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lang="es-CO" sz="1550" dirty="0">
                <a:solidFill>
                  <a:srgbClr val="FF0000"/>
                </a:solidFill>
                <a:latin typeface="Lato"/>
              </a:rPr>
              <a:t>https://github.com/magarridot/Investigacion_Aumentada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endParaRPr sz="1550" b="0" i="0" dirty="0">
              <a:solidFill>
                <a:srgbClr val="475569"/>
              </a:solidFill>
              <a:latin typeface="Lato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85800" y="594360"/>
            <a:ext cx="2834640" cy="384048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 i="0">
                <a:solidFill>
                  <a:srgbClr val="0F172A"/>
                </a:solidFill>
                <a:latin typeface="Poppins"/>
              </a:rPr>
              <a:t>MOMENTO PRÁCTICO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Tu primer commit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40280"/>
            <a:ext cx="10817352" cy="14173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41280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38BDF8"/>
                </a:solidFill>
                <a:latin typeface="Lato"/>
              </a:rPr>
              <a:t>“Crea un repositorio para mi proyecto, agrega un archivo README que describa el objetivo de la investigación, y súbelo a GitHub con un mensaje de commit claro.”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94A3B8"/>
                </a:solidFill>
                <a:latin typeface="Poppins"/>
              </a:rPr>
              <a:t>EN ESTE EJERCICIO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106070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Cada participante crea un repositorio nuevo en su cuenta de GitHub.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Lo clona en Antigravity o VS Code y agrega un README.md.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350" b="1" i="0">
                <a:solidFill>
                  <a:srgbClr val="38BDF8"/>
                </a:solidFill>
                <a:latin typeface="Lato"/>
              </a:rPr>
              <a:t>›  </a:t>
            </a:r>
            <a:r>
              <a:rPr sz="1350" b="0" i="0">
                <a:solidFill>
                  <a:srgbClr val="E2E8F0"/>
                </a:solidFill>
                <a:latin typeface="Lato"/>
              </a:rPr>
              <a:t>Ejecuta el ciclo completo: add → commit → push, y verifica el resultado en GitHub.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1E293B"/>
                </a:solidFill>
                <a:latin typeface="Poppin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286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38BDF8"/>
                </a:solidFill>
                <a:latin typeface="Poppins"/>
              </a:rPr>
              <a:t>06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60120" y="37947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3977639"/>
            <a:ext cx="9875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Poppins"/>
              </a:rPr>
              <a:t>Integración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2E8F0"/>
                </a:solidFill>
                <a:latin typeface="Lato"/>
              </a:rPr>
              <a:t>El recorrido completo de un proyecto científico riguroso, de principio a fin.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06  ·  CASO INTEGRADO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 dirty="0">
                <a:solidFill>
                  <a:srgbClr val="0F172A"/>
                </a:solidFill>
                <a:latin typeface="Poppins"/>
              </a:rPr>
              <a:t>Un </a:t>
            </a:r>
            <a:r>
              <a:rPr sz="3000" b="1" i="0" dirty="0" err="1">
                <a:solidFill>
                  <a:srgbClr val="0F172A"/>
                </a:solidFill>
                <a:latin typeface="Poppins"/>
              </a:rPr>
              <a:t>proyecto</a:t>
            </a:r>
            <a:r>
              <a:rPr sz="3000" b="1" i="0" dirty="0">
                <a:solidFill>
                  <a:srgbClr val="0F172A"/>
                </a:solidFill>
                <a:latin typeface="Poppins"/>
              </a:rPr>
              <a:t> real, de la </a:t>
            </a:r>
            <a:r>
              <a:rPr sz="3000" b="1" i="0" dirty="0" err="1">
                <a:solidFill>
                  <a:srgbClr val="0F172A"/>
                </a:solidFill>
                <a:latin typeface="Poppins"/>
              </a:rPr>
              <a:t>pregunta</a:t>
            </a:r>
            <a:r>
              <a:rPr sz="3000" b="1" i="0" dirty="0">
                <a:solidFill>
                  <a:srgbClr val="0F172A"/>
                </a:solidFill>
                <a:latin typeface="Poppins"/>
              </a:rPr>
              <a:t> al </a:t>
            </a:r>
            <a:r>
              <a:rPr sz="3000" b="1" i="0" dirty="0" err="1">
                <a:solidFill>
                  <a:srgbClr val="0F172A"/>
                </a:solidFill>
                <a:latin typeface="Poppins"/>
              </a:rPr>
              <a:t>manuscrito</a:t>
            </a:r>
            <a:endParaRPr sz="3000" b="1" i="0" dirty="0">
              <a:solidFill>
                <a:srgbClr val="0F172A"/>
              </a:solidFill>
              <a:latin typeface="Poppins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475569"/>
                </a:solidFill>
                <a:latin typeface="Lato"/>
              </a:rPr>
              <a:t>Así se ve el flujo completo aplicado a un proyecto de monitoreo atmosférico: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166754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394460" y="2947298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14226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Consensus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209169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Estado del arte sobre PBLH y dispersión de contaminantes.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42032" y="4081154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26080" y="3166754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634740" y="2947298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3514226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Antigravity + Claude/Gemini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4209169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Procesamiento de imágenes y modelos estadísticos en Python.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82312" y="4081154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66360" y="3166754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875020" y="2947298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514226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4209169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Cada script y notebook versionado con commits descriptivos.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22592" y="4081154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406640" y="3166754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115300" y="2947298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2" y="3514226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Resultados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71232" y="4209169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Figuras, métricas de desempeño y validación del modelo.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62872" y="4081154"/>
            <a:ext cx="384048" cy="0"/>
          </a:xfrm>
          <a:prstGeom prst="line">
            <a:avLst/>
          </a:prstGeom>
          <a:ln w="25400">
            <a:solidFill>
              <a:srgbClr val="0EA5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646920" y="3166754"/>
            <a:ext cx="1856232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355580" y="2947298"/>
            <a:ext cx="438912" cy="438912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 i="0">
                <a:solidFill>
                  <a:srgbClr val="0F172A"/>
                </a:solidFill>
                <a:latin typeface="Poppi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1512" y="3514226"/>
            <a:ext cx="1527048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F172A"/>
                </a:solidFill>
                <a:latin typeface="Poppins"/>
              </a:rPr>
              <a:t>Manuscrito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1512" y="4209169"/>
            <a:ext cx="1527048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475569"/>
                </a:solidFill>
                <a:latin typeface="Lato"/>
              </a:rPr>
              <a:t>Redacción asistida, siempre revisada y firmada por el equipo.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526280"/>
            <a:ext cx="10607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06  ·  COMPARATIVA DE USO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¿Qué herramienta para cada tarea?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828800"/>
          <a:ext cx="10817351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35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6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70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Tarea científica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Sin IA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Poppins"/>
                        </a:rPr>
                        <a:t>Con el stack de hoy</a:t>
                      </a:r>
                    </a:p>
                  </a:txBody>
                  <a:tcPr marL="127000" marT="76200" marB="76200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Estado del arte (20+ papers)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3–5 días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2–3 horas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Script de limpieza de datos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Medio día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15–30 minutos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Documentar código y metodología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Frecuentemente pospuesto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Generado junto con el código</a:t>
                      </a:r>
                    </a:p>
                  </a:txBody>
                  <a:tcPr marL="127000" marT="76200" marB="762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0F172A"/>
                          </a:solidFill>
                          <a:latin typeface="Lato"/>
                        </a:rPr>
                        <a:t>Recuperar una versión anterior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Copias manuales, riesgo de error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475569"/>
                          </a:solidFill>
                          <a:latin typeface="Lato"/>
                        </a:rPr>
                        <a:t>Un clic en el historial de Git</a:t>
                      </a:r>
                    </a:p>
                  </a:txBody>
                  <a:tcPr marL="127000" marT="76200" marB="762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06  ·  LÍMITES Y RESPONSABILIDAD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Buenas prácticas y ética del uso de IA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60704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Verifica siempre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ninguna cifra, cita o resultado se publica sin revisión humana directa.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Declara el uso de IA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sigue la política de tu revista/institución para reportar el uso de herramientas generativas.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Cuida los datos sensibles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no subas datos confidenciales o no publicados a herramientas sin garantías de privacidad.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 b="1" i="0">
                <a:solidFill>
                  <a:srgbClr val="0EA5E9"/>
                </a:solidFill>
                <a:latin typeface="Lato"/>
              </a:rPr>
              <a:t>—  Prioriza la reproducibilidad  </a:t>
            </a:r>
            <a:r>
              <a:rPr sz="1550" b="0" i="0">
                <a:solidFill>
                  <a:srgbClr val="475569"/>
                </a:solidFill>
                <a:latin typeface="Lato"/>
              </a:rPr>
              <a:t>todo prompt relevante y su resultado deben poder rastrearse igual que el código.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PARTE 06  ·  RESUMEN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Checklist de instalación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828800"/>
            <a:ext cx="5166360" cy="41605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084832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A5E9"/>
                </a:solidFill>
                <a:latin typeface="Poppins"/>
              </a:rPr>
              <a:t>Cuentas y accesos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60320"/>
            <a:ext cx="46177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Cuenta de Google (Gemini / Antigravity)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Cuenta en claude.ai o console.anthropic.com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Cuenta gratuita en consensus.app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Cuenta en github.com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6792" y="1828800"/>
            <a:ext cx="5166360" cy="41605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11112" y="2084832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A5E9"/>
                </a:solidFill>
                <a:latin typeface="Poppins"/>
              </a:rPr>
              <a:t>Software 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1112" y="2560320"/>
            <a:ext cx="46177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Visual Studio Code instalado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Antigravity instalado y con sesión iniciada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Git instalado y configurado (user.name / user.email)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250" b="1" i="0">
                <a:solidFill>
                  <a:srgbClr val="0EA5E9"/>
                </a:solidFill>
                <a:latin typeface="Lato"/>
              </a:rPr>
              <a:t>☐  </a:t>
            </a:r>
            <a:r>
              <a:rPr sz="1250" b="0" i="0">
                <a:solidFill>
                  <a:srgbClr val="475569"/>
                </a:solidFill>
                <a:latin typeface="Lato"/>
              </a:rPr>
              <a:t>Primer repositorio clonado y probado (push/pull)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180">
                <a:solidFill>
                  <a:srgbClr val="38BDF8"/>
                </a:solidFill>
                <a:latin typeface="Poppins"/>
              </a:rPr>
              <a:t>FIN DE LA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8892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Poppins"/>
              </a:rP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E2E8F0"/>
                </a:solidFill>
                <a:latin typeface="Lato"/>
              </a:rPr>
              <a:t>Ahora es tu turno: monta tu propio flujo con tu proyecto de investigación.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4251960"/>
            <a:ext cx="59436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443484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94A3B8"/>
                </a:solidFill>
                <a:latin typeface="Lato"/>
              </a:rPr>
              <a:t>Reto final: crea un repositorio, pide a la IA que documente tu último análisis y haz tu primer commit.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 spc="150">
                <a:solidFill>
                  <a:srgbClr val="0EA5E9"/>
                </a:solidFill>
                <a:latin typeface="Poppins"/>
              </a:rPr>
              <a:t>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32104"/>
            <a:ext cx="107899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 i="0">
                <a:solidFill>
                  <a:srgbClr val="0F172A"/>
                </a:solidFill>
                <a:latin typeface="Poppins"/>
              </a:rPr>
              <a:t>Fuentes y enlaces de la sesión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581912"/>
            <a:ext cx="502920" cy="0"/>
          </a:xfrm>
          <a:prstGeom prst="line">
            <a:avLst/>
          </a:prstGeom>
          <a:ln w="38100">
            <a:solidFill>
              <a:srgbClr val="38BDF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20240"/>
            <a:ext cx="106070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Antigravity — antigravity.google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Visual Studio Code — code.visualstudio.com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GitHub — github.com  ·  Git — git-scm.com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Gemini — gemini.google.com  ·  Google AI Studio — aistudio.google.com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Claude — claude.ai  ·  Claude Code y API — docs.claude.com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00" b="1" i="0">
                <a:solidFill>
                  <a:srgbClr val="0EA5E9"/>
                </a:solidFill>
                <a:latin typeface="Lato"/>
              </a:rPr>
              <a:t>•  </a:t>
            </a:r>
            <a:r>
              <a:rPr sz="1500" b="0" i="0">
                <a:solidFill>
                  <a:srgbClr val="475569"/>
                </a:solidFill>
                <a:latin typeface="Lato"/>
              </a:rPr>
              <a:t>Consensus — consensus.app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IA en la Investigación Científica  ·  CBATA — TdeA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94A3B8"/>
                </a:solidFill>
                <a:latin typeface="Lato"/>
              </a:rP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3395</Words>
  <Application>Microsoft Office PowerPoint</Application>
  <PresentationFormat>Panorámica</PresentationFormat>
  <Paragraphs>446</Paragraphs>
  <Slides>38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43" baseType="lpstr">
      <vt:lpstr>Arial</vt:lpstr>
      <vt:lpstr>Calibri</vt:lpstr>
      <vt:lpstr>Lato</vt:lpstr>
      <vt:lpstr>Poppins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Miguel Ángel Garrido Tamayo</cp:lastModifiedBy>
  <cp:revision>16</cp:revision>
  <dcterms:created xsi:type="dcterms:W3CDTF">2013-01-27T09:14:16Z</dcterms:created>
  <dcterms:modified xsi:type="dcterms:W3CDTF">2026-08-27T05:48:42Z</dcterms:modified>
  <cp:category/>
</cp:coreProperties>
</file>